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 name="Shape 27"/>
          <p:cNvSpPr/>
          <p:nvPr>
            <p:ph type="sldImg"/>
          </p:nvPr>
        </p:nvSpPr>
        <p:spPr>
          <a:prstGeom prst="rect">
            <a:avLst/>
          </a:prstGeom>
        </p:spPr>
        <p:txBody>
          <a:bodyPr/>
          <a:lstStyle/>
          <a:p>
            <a:pPr/>
          </a:p>
        </p:txBody>
      </p:sp>
      <p:sp>
        <p:nvSpPr>
          <p:cNvPr id="28" name="Shape 28"/>
          <p:cNvSpPr/>
          <p:nvPr>
            <p:ph type="body" sz="quarter" idx="1"/>
          </p:nvPr>
        </p:nvSpPr>
        <p:spPr>
          <a:prstGeom prst="rect">
            <a:avLst/>
          </a:prstGeom>
        </p:spPr>
        <p:txBody>
          <a:bodyPr/>
          <a:lstStyle/>
          <a:p>
            <a:r>
              <a:t>Name, what I do  (~20s)</a:t>
            </a:r>
          </a:p>
          <a:p>
            <a:r>
              <a:t>Speak: Let's set context. Industry setting. A review occurred vs. what was substantive. From the outside, each appear identical. [SLOW]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 name="Shape 77"/>
          <p:cNvSpPr/>
          <p:nvPr>
            <p:ph type="sldImg"/>
          </p:nvPr>
        </p:nvSpPr>
        <p:spPr>
          <a:prstGeom prst="rect">
            <a:avLst/>
          </a:prstGeom>
        </p:spPr>
        <p:txBody>
          <a:bodyPr/>
          <a:lstStyle/>
          <a:p>
            <a:pPr/>
          </a:p>
        </p:txBody>
      </p:sp>
      <p:sp>
        <p:nvSpPr>
          <p:cNvPr id="78" name="Shape 78"/>
          <p:cNvSpPr/>
          <p:nvPr>
            <p:ph type="body" sz="quarter" idx="1"/>
          </p:nvPr>
        </p:nvSpPr>
        <p:spPr>
          <a:prstGeom prst="rect">
            <a:avLst/>
          </a:prstGeom>
        </p:spPr>
        <p:txBody>
          <a:bodyPr/>
          <a:lstStyle/>
          <a:p>
            <a:r>
              <a:t>Two records, the reveal, the structural point  (~75s)</a:t>
            </a:r>
          </a:p>
          <a:p>
            <a:r>
              <a:t>Speak: Here are two records from the same kind of work, abstractions from my finance experience. Both pass audit, both look clean. But one reviewer engaged for eighteen minutes. The other signed off in six seconds. [PAUSE on the reveal] And the infrastructure can't tell which is which. Part of this is human nature, older than AI. The structural point: we instrument the model and its outputs, not the cognitive work that gives oversight its value. So the two failures compound.</a:t>
            </a:r>
          </a:p>
          <a:p>
            <a:r>
              <a:t>Analogy: a commit message that was just the letter "D". Required, entered, logged compliant, nothing real survived.</a:t>
            </a:r>
          </a:p>
          <a:p>
            <a:r>
              <a:t>If asked (time): time is the crudest proxy and it's gameable. You can leave a doc open eighteen minutes and do nothing. I measure whether reviewers catch problems I've planted instead. Offline after.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1" name="Shape 91"/>
          <p:cNvSpPr/>
          <p:nvPr>
            <p:ph type="sldImg"/>
          </p:nvPr>
        </p:nvSpPr>
        <p:spPr>
          <a:prstGeom prst="rect">
            <a:avLst/>
          </a:prstGeom>
        </p:spPr>
        <p:txBody>
          <a:bodyPr/>
          <a:lstStyle/>
          <a:p>
            <a:pPr/>
          </a:p>
        </p:txBody>
      </p:sp>
      <p:sp>
        <p:nvSpPr>
          <p:cNvPr id="92" name="Shape 92"/>
          <p:cNvSpPr/>
          <p:nvPr>
            <p:ph type="body" sz="quarter" idx="1"/>
          </p:nvPr>
        </p:nvSpPr>
        <p:spPr>
          <a:prstGeom prst="rect">
            <a:avLst/>
          </a:prstGeom>
        </p:spPr>
        <p:txBody>
          <a:bodyPr/>
          <a:lstStyle/>
          <a:p>
            <a:r>
              <a:t>Three claims: not a switch, identical record, wrong layer  (~75s)</a:t>
            </a:r>
          </a:p>
          <a:p>
            <a:r>
              <a:t>Speak: Three claims hold up the paper. First, oversight isn't a switch you flip on. It's a component in a system, and it can quietly stop working while everything still looks connected. Second, when it degrades, the degraded reviewer and the engaged one leave the exact same record. [SLOW] Nothing tells them apart. Third, our big tools, detection, interpretability, governance, all watch the model. None watch the person doing the checking. We instrumented the wrong layer.</a:t>
            </a:r>
          </a:p>
          <a:p>
            <a:r>
              <a:t>Analogy: two students hand in the same filled-out worksheet; the page can't show who copied. Or: every camera on the vault, none on the guard.</a:t>
            </a:r>
          </a:p>
          <a:p>
            <a:r>
              <a:t>If asked (Bainbridge): the human side is old news and I build on it; what's new is that all our tooling watches the model. Trade refs after.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1" name="Shape 191"/>
          <p:cNvSpPr/>
          <p:nvPr>
            <p:ph type="sldImg"/>
          </p:nvPr>
        </p:nvSpPr>
        <p:spPr>
          <a:prstGeom prst="rect">
            <a:avLst/>
          </a:prstGeom>
        </p:spPr>
        <p:txBody>
          <a:bodyPr/>
          <a:lstStyle/>
          <a:p>
            <a:pPr/>
          </a:p>
        </p:txBody>
      </p:sp>
      <p:sp>
        <p:nvSpPr>
          <p:cNvPr id="192" name="Shape 192"/>
          <p:cNvSpPr/>
          <p:nvPr>
            <p:ph type="body" sz="quarter" idx="1"/>
          </p:nvPr>
        </p:nvSpPr>
        <p:spPr>
          <a:prstGeom prst="rect">
            <a:avLst/>
          </a:prstGeom>
        </p:spPr>
        <p:txBody>
          <a:bodyPr/>
          <a:lstStyle/>
          <a:p>
            <a:r>
              <a:t>Three phases, the record stays uniform  (~85s)</a:t>
            </a:r>
          </a:p>
          <a:p>
            <a:r>
              <a:t>Speak: It degrades in three phases. At first the reviewer does real work, reading closely, catching errors, sending things back. Then the corrections fall off and it looks like the AI got better. It didn't. The reviewer's bar dropped. [POINT at the bar, HOLD] By the end they're just confirming. The approval is a reflex. And the part that matters: the record is identical across all three phases. No alarm, no incident.</a:t>
            </a:r>
          </a:p>
          <a:p>
            <a:r>
              <a:t>Analogy: three chest X-rays all stamped healthy when only the first one is. The label never changed; the patient did.</a:t>
            </a:r>
          </a:p>
          <a:p>
            <a:r>
              <a:t>If asked (evidence): the automation literature and Green's review of forty-one policies back the pattern, and my cohort is testing it now. Share after.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7" name="Shape 237"/>
          <p:cNvSpPr/>
          <p:nvPr>
            <p:ph type="sldImg"/>
          </p:nvPr>
        </p:nvSpPr>
        <p:spPr>
          <a:prstGeom prst="rect">
            <a:avLst/>
          </a:prstGeom>
        </p:spPr>
        <p:txBody>
          <a:bodyPr/>
          <a:lstStyle/>
          <a:p>
            <a:pPr/>
          </a:p>
        </p:txBody>
      </p:sp>
      <p:sp>
        <p:nvSpPr>
          <p:cNvPr id="238" name="Shape 238"/>
          <p:cNvSpPr/>
          <p:nvPr>
            <p:ph type="body" sz="quarter" idx="1"/>
          </p:nvPr>
        </p:nvSpPr>
        <p:spPr>
          <a:prstGeom prst="rect">
            <a:avLst/>
          </a:prstGeom>
        </p:spPr>
        <p:txBody>
          <a:bodyPr/>
          <a:lstStyle/>
          <a:p>
            <a:r>
              <a:t>Every fix points at the model; the shift  (~55s)</a:t>
            </a:r>
          </a:p>
          <a:p>
            <a:r>
              <a:t>Speak: Look at what we reach for when something goes wrong. Tools that flag when the AI is off. Tools that crack the model open to see how it reasoned. Policies that require a sign-off. Every one points at the model. None watch the person checking it, so each one widens the same gap. This isn't someone breaking the rules. It's boredom. The light's green because green is what's happening. The shift: stop measuring the model, start measuring whether the review still happens.</a:t>
            </a:r>
          </a:p>
          <a:p>
            <a:r>
              <a:t>Analogy: we keep polishing the gauges; the question is whether anyone's reading them.</a:t>
            </a:r>
          </a:p>
          <a:p>
            <a:r>
              <a:t>If asked (won't better tooling catch it): those tools watch the model; the gap is the person, so they miss it by design. Cases after.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5" name="Shape 265"/>
          <p:cNvSpPr/>
          <p:nvPr>
            <p:ph type="sldImg"/>
          </p:nvPr>
        </p:nvSpPr>
        <p:spPr>
          <a:prstGeom prst="rect">
            <a:avLst/>
          </a:prstGeom>
        </p:spPr>
        <p:txBody>
          <a:bodyPr/>
          <a:lstStyle/>
          <a:p>
            <a:pPr/>
          </a:p>
        </p:txBody>
      </p:sp>
      <p:sp>
        <p:nvSpPr>
          <p:cNvPr id="266" name="Shape 266"/>
          <p:cNvSpPr/>
          <p:nvPr>
            <p:ph type="body" sz="quarter" idx="1"/>
          </p:nvPr>
        </p:nvSpPr>
        <p:spPr>
          <a:prstGeom prst="rect">
            <a:avLst/>
          </a:prstGeom>
        </p:spPr>
        <p:txBody>
          <a:bodyPr/>
          <a:lstStyle/>
          <a:p>
            <a:r>
              <a:t>Sweep three indicators, all on the workflow  (~60s)</a:t>
            </a:r>
          </a:p>
          <a:p>
            <a:r>
              <a:t>Speak: Three things you can actually measure. How often reviewers correct the AI, and whether that's sliding over time, that's your early warning. How many items each reviewer has to clear, because overload is where attention dies. And how much downstream work rides on a single approval. All of it reported on the workflow, never on a person, and built so you can't hit the number without doing the real reviewing.</a:t>
            </a:r>
          </a:p>
          <a:p>
            <a:r>
              <a:t>Analogy: a traffic sensor that counts cars but can't read a plate, by design.</a:t>
            </a:r>
          </a:p>
          <a:p>
            <a:r>
              <a:t>If asked (surveillance): it only ever reports on the workflow, never a named person, and that's built into the data, not just promised. Safeguards after.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0" name="Shape 300"/>
          <p:cNvSpPr/>
          <p:nvPr>
            <p:ph type="sldImg"/>
          </p:nvPr>
        </p:nvSpPr>
        <p:spPr>
          <a:prstGeom prst="rect">
            <a:avLst/>
          </a:prstGeom>
        </p:spPr>
        <p:txBody>
          <a:bodyPr/>
          <a:lstStyle/>
          <a:p>
            <a:pPr/>
          </a:p>
        </p:txBody>
      </p:sp>
      <p:sp>
        <p:nvSpPr>
          <p:cNvPr id="301" name="Shape 301"/>
          <p:cNvSpPr/>
          <p:nvPr>
            <p:ph type="body" sz="quarter" idx="1"/>
          </p:nvPr>
        </p:nvSpPr>
        <p:spPr>
          <a:prstGeom prst="rect">
            <a:avLst/>
          </a:prstGeom>
        </p:spPr>
        <p:txBody>
          <a:bodyPr/>
          <a:lstStyle/>
          <a:p>
            <a:r>
              <a:t>Name five fast, dwell on two  (~75s)</a:t>
            </a:r>
          </a:p>
          <a:p>
            <a:r>
              <a:t>Speak: Five things you can build today with logging you already have. Name them fast: seeded checks, onboarding baselines, stakes shown at decision time, irreversible-action logging, workload caps. Two to dwell on. Seeded checks: plant items you've already reviewed and see who catches them, like a secret shopper who can't be spotted, so everyone gets treated right. And irreversible-action logging: for AI agents, record every irreversible step, not just the final output, because the damage is usually in the steps, an email sent or a record deleted, that the output never shows. None of these are proven yet. They're candidates to deploy, watch, and refine.</a:t>
            </a:r>
          </a:p>
          <a:p>
            <a:r>
              <a:t>If asked (gaming): the seeded checks can't be faked, you have to actually look. The rest report system strain, not a score on anyone. Offline.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334"/>
          <p:cNvSpPr/>
          <p:nvPr>
            <p:ph type="sldImg"/>
          </p:nvPr>
        </p:nvSpPr>
        <p:spPr>
          <a:prstGeom prst="rect">
            <a:avLst/>
          </a:prstGeom>
        </p:spPr>
        <p:txBody>
          <a:bodyPr/>
          <a:lstStyle/>
          <a:p>
            <a:pPr/>
          </a:p>
        </p:txBody>
      </p:sp>
      <p:sp>
        <p:nvSpPr>
          <p:cNvPr id="335" name="Shape 335"/>
          <p:cNvSpPr/>
          <p:nvPr>
            <p:ph type="body" sz="quarter" idx="1"/>
          </p:nvPr>
        </p:nvSpPr>
        <p:spPr>
          <a:prstGeom prst="rect">
            <a:avLst/>
          </a:prstGeom>
        </p:spPr>
        <p:txBody>
          <a:bodyPr/>
          <a:lstStyle/>
          <a:p>
            <a:r>
              <a:t>Three partners, then the close  (~65s)</a:t>
            </a:r>
          </a:p>
          <a:p>
            <a:r>
              <a:t>Speak: I'm looking for three kinds of partner: deployment, regulatory, methodological. [SLOW] And to close: process compliance was the right thing to measure when the risk was non-compliance. It is not the right thing to measure when the process is followed perfectly and the function is gone. The work is the infrastructure that tells those two states apart.</a:t>
            </a:r>
          </a:p>
          <a:p>
            <a:r>
              <a:t>Fallback if you blank: we built the measure for cheating; the risk now is the opposite, perfect compliance with empty function.</a:t>
            </a:r>
          </a:p>
          <a:p>
            <a:r>
              <a:t>If asked (sole-author, no data): the gap I'm naming rests on published work, and the experiment that builds on it is underway. Continue after.</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20" name="Shape 0"/>
          <p:cNvSpPr/>
          <p:nvPr/>
        </p:nvSpPr>
        <p:spPr>
          <a:xfrm>
            <a:off x="0" y="0"/>
            <a:ext cx="18288000" cy="4114800"/>
          </a:xfrm>
          <a:prstGeom prst="rect">
            <a:avLst/>
          </a:prstGeom>
          <a:solidFill>
            <a:srgbClr val="0D2340"/>
          </a:solidFill>
          <a:ln w="12700">
            <a:miter lim="400000"/>
          </a:ln>
        </p:spPr>
        <p:txBody>
          <a:bodyPr lIns="45719" rIns="45719"/>
          <a:lstStyle/>
          <a:p>
            <a:pPr/>
          </a:p>
        </p:txBody>
      </p:sp>
      <p:sp>
        <p:nvSpPr>
          <p:cNvPr id="21" name="Text 1"/>
          <p:cNvSpPr txBox="1"/>
          <p:nvPr/>
        </p:nvSpPr>
        <p:spPr>
          <a:xfrm>
            <a:off x="1142999" y="171450"/>
            <a:ext cx="16089632" cy="2427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86384">
              <a:lnSpc>
                <a:spcPct val="97995"/>
              </a:lnSpc>
              <a:defRPr b="1" spc="-258" sz="8256">
                <a:solidFill>
                  <a:srgbClr val="FDF6E7"/>
                </a:solidFill>
                <a:latin typeface="Arial"/>
                <a:ea typeface="Arial"/>
                <a:cs typeface="Arial"/>
                <a:sym typeface="Arial"/>
              </a:defRPr>
            </a:lvl1pPr>
          </a:lstStyle>
          <a:p>
            <a:pPr/>
            <a:r>
              <a:t>Confirming Process, Missing Function.</a:t>
            </a:r>
          </a:p>
        </p:txBody>
      </p:sp>
      <p:sp>
        <p:nvSpPr>
          <p:cNvPr id="22" name="Text 2"/>
          <p:cNvSpPr txBox="1"/>
          <p:nvPr/>
        </p:nvSpPr>
        <p:spPr>
          <a:xfrm>
            <a:off x="1143000" y="2827654"/>
            <a:ext cx="14716125" cy="115379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22014"/>
              </a:lnSpc>
              <a:defRPr sz="3455">
                <a:solidFill>
                  <a:srgbClr val="FDF6E7">
                    <a:alpha val="78000"/>
                  </a:srgbClr>
                </a:solidFill>
                <a:latin typeface="Arial"/>
                <a:ea typeface="Arial"/>
                <a:cs typeface="Arial"/>
                <a:sym typeface="Arial"/>
              </a:defRPr>
            </a:lvl1pPr>
          </a:lstStyle>
          <a:p>
            <a:pPr/>
            <a:r>
              <a:t>The uninstrumented oversight layer in AI transparency and control research.</a:t>
            </a:r>
          </a:p>
        </p:txBody>
      </p:sp>
      <p:pic>
        <p:nvPicPr>
          <p:cNvPr id="23" name="Image 0" descr="Image 0"/>
          <p:cNvPicPr>
            <a:picLocks noChangeAspect="1"/>
          </p:cNvPicPr>
          <p:nvPr/>
        </p:nvPicPr>
        <p:blipFill>
          <a:blip r:embed="rId3">
            <a:extLst/>
          </a:blip>
          <a:stretch>
            <a:fillRect/>
          </a:stretch>
        </p:blipFill>
        <p:spPr>
          <a:xfrm>
            <a:off x="1143000" y="6324600"/>
            <a:ext cx="2648426" cy="3048000"/>
          </a:xfrm>
          <a:prstGeom prst="rect">
            <a:avLst/>
          </a:prstGeom>
          <a:ln w="12700">
            <a:miter lim="400000"/>
          </a:ln>
        </p:spPr>
      </p:pic>
      <p:sp>
        <p:nvSpPr>
          <p:cNvPr id="24" name="Text 3"/>
          <p:cNvSpPr txBox="1"/>
          <p:nvPr/>
        </p:nvSpPr>
        <p:spPr>
          <a:xfrm>
            <a:off x="4629625" y="7628573"/>
            <a:ext cx="12890835"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04672">
              <a:defRPr b="1" spc="-88" sz="3696">
                <a:solidFill>
                  <a:srgbClr val="11243C"/>
                </a:solidFill>
                <a:latin typeface="Arial"/>
                <a:ea typeface="Arial"/>
                <a:cs typeface="Arial"/>
                <a:sym typeface="Arial"/>
              </a:defRPr>
            </a:lvl1pPr>
          </a:lstStyle>
          <a:p>
            <a:pPr/>
            <a:r>
              <a:t>Brian Moriarty</a:t>
            </a:r>
          </a:p>
        </p:txBody>
      </p:sp>
      <p:sp>
        <p:nvSpPr>
          <p:cNvPr id="25" name="Text 4"/>
          <p:cNvSpPr txBox="1"/>
          <p:nvPr/>
        </p:nvSpPr>
        <p:spPr>
          <a:xfrm>
            <a:off x="4629625" y="8295323"/>
            <a:ext cx="12890835" cy="48672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20000"/>
              </a:lnSpc>
              <a:defRPr b="1" sz="2800">
                <a:solidFill>
                  <a:srgbClr val="A32638"/>
                </a:solidFill>
                <a:latin typeface="Arial"/>
                <a:ea typeface="Arial"/>
                <a:cs typeface="Arial"/>
                <a:sym typeface="Arial"/>
              </a:defRPr>
            </a:pPr>
            <a:r>
              <a:t xml:space="preserve">Stevens </a:t>
            </a:r>
            <a:r>
              <a:rPr b="0">
                <a:solidFill>
                  <a:srgbClr val="3D4659"/>
                </a:solidFill>
              </a:rPr>
              <a:t>Institute of Technology</a:t>
            </a:r>
          </a:p>
        </p:txBody>
      </p:sp>
      <p:sp>
        <p:nvSpPr>
          <p:cNvPr id="26" name="Text 5"/>
          <p:cNvSpPr txBox="1"/>
          <p:nvPr/>
        </p:nvSpPr>
        <p:spPr>
          <a:xfrm>
            <a:off x="4629625" y="8934450"/>
            <a:ext cx="12890835" cy="41910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25000"/>
              </a:lnSpc>
              <a:defRPr sz="2400">
                <a:solidFill>
                  <a:srgbClr val="7A7363"/>
                </a:solidFill>
                <a:latin typeface="Arial"/>
                <a:ea typeface="Arial"/>
                <a:cs typeface="Arial"/>
                <a:sym typeface="Arial"/>
              </a:defRPr>
            </a:lvl1pPr>
          </a:lstStyle>
          <a:p>
            <a:pPr/>
            <a:r>
              <a:t>AITC 2026 · Nuremberg · June 5 and 6</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30"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31" name="Text 1"/>
          <p:cNvSpPr txBox="1"/>
          <p:nvPr/>
        </p:nvSpPr>
        <p:spPr>
          <a:xfrm>
            <a:off x="14431168"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01</a:t>
            </a:r>
          </a:p>
        </p:txBody>
      </p:sp>
      <p:sp>
        <p:nvSpPr>
          <p:cNvPr id="32" name="Text 2"/>
          <p:cNvSpPr txBox="1"/>
          <p:nvPr/>
        </p:nvSpPr>
        <p:spPr>
          <a:xfrm>
            <a:off x="14905513"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33" name="Text 3"/>
          <p:cNvSpPr txBox="1"/>
          <p:nvPr/>
        </p:nvSpPr>
        <p:spPr>
          <a:xfrm>
            <a:off x="15147289" y="233361"/>
            <a:ext cx="2073911"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THE PROBLEM</a:t>
            </a:r>
          </a:p>
        </p:txBody>
      </p:sp>
      <p:sp>
        <p:nvSpPr>
          <p:cNvPr id="34"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B8451E"/>
                </a:solidFill>
                <a:latin typeface="Arial"/>
                <a:ea typeface="Arial"/>
                <a:cs typeface="Arial"/>
                <a:sym typeface="Arial"/>
              </a:defRPr>
            </a:lvl1pPr>
          </a:lstStyle>
          <a:p>
            <a:pPr/>
            <a:r>
              <a:t>Two states, one record.</a:t>
            </a:r>
          </a:p>
        </p:txBody>
      </p:sp>
      <p:sp>
        <p:nvSpPr>
          <p:cNvPr id="35" name="Text 5"/>
          <p:cNvSpPr txBox="1"/>
          <p:nvPr/>
        </p:nvSpPr>
        <p:spPr>
          <a:xfrm>
            <a:off x="1143000" y="2164079"/>
            <a:ext cx="16482061" cy="4543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15000"/>
              </a:lnSpc>
              <a:defRPr sz="2800">
                <a:solidFill>
                  <a:srgbClr val="1D6657"/>
                </a:solidFill>
                <a:latin typeface="Arial"/>
                <a:ea typeface="Arial"/>
                <a:cs typeface="Arial"/>
                <a:sym typeface="Arial"/>
              </a:defRPr>
            </a:lvl1pPr>
          </a:lstStyle>
          <a:p>
            <a:pPr/>
            <a:r>
              <a:t>The contrast that matters is obscured in the audit trail.</a:t>
            </a:r>
          </a:p>
        </p:txBody>
      </p:sp>
      <p:sp>
        <p:nvSpPr>
          <p:cNvPr id="36" name="Shape 6"/>
          <p:cNvSpPr/>
          <p:nvPr/>
        </p:nvSpPr>
        <p:spPr>
          <a:xfrm>
            <a:off x="1143000" y="2923221"/>
            <a:ext cx="7696200" cy="5777867"/>
          </a:xfrm>
          <a:prstGeom prst="rect">
            <a:avLst/>
          </a:prstGeom>
          <a:solidFill>
            <a:srgbClr val="FFFCF0"/>
          </a:solidFill>
          <a:ln>
            <a:solidFill>
              <a:srgbClr val="C8C0A8"/>
            </a:solidFill>
          </a:ln>
        </p:spPr>
        <p:txBody>
          <a:bodyPr lIns="45719" rIns="45719"/>
          <a:lstStyle/>
          <a:p>
            <a:pPr/>
          </a:p>
        </p:txBody>
      </p:sp>
      <p:sp>
        <p:nvSpPr>
          <p:cNvPr id="37" name="Shape 7"/>
          <p:cNvSpPr/>
          <p:nvPr/>
        </p:nvSpPr>
        <p:spPr>
          <a:xfrm>
            <a:off x="1152525" y="2932746"/>
            <a:ext cx="7677150" cy="548641"/>
          </a:xfrm>
          <a:prstGeom prst="rect">
            <a:avLst/>
          </a:prstGeom>
          <a:solidFill>
            <a:srgbClr val="B8451E"/>
          </a:solidFill>
          <a:ln w="12700">
            <a:miter lim="400000"/>
          </a:ln>
        </p:spPr>
        <p:txBody>
          <a:bodyPr lIns="45719" rIns="45719"/>
          <a:lstStyle/>
          <a:p>
            <a:pPr/>
          </a:p>
        </p:txBody>
      </p:sp>
      <p:sp>
        <p:nvSpPr>
          <p:cNvPr id="38" name="Text 8"/>
          <p:cNvSpPr txBox="1"/>
          <p:nvPr/>
        </p:nvSpPr>
        <p:spPr>
          <a:xfrm>
            <a:off x="1381125" y="3047046"/>
            <a:ext cx="7450264"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500">
                <a:solidFill>
                  <a:srgbClr val="FDF6E7"/>
                </a:solidFill>
                <a:latin typeface="Arial"/>
                <a:ea typeface="Arial"/>
                <a:cs typeface="Arial"/>
                <a:sym typeface="Arial"/>
              </a:defRPr>
            </a:lvl1pPr>
          </a:lstStyle>
          <a:p>
            <a:pPr/>
            <a:r>
              <a:t>SAMPLE</a:t>
            </a:r>
          </a:p>
        </p:txBody>
      </p:sp>
      <p:sp>
        <p:nvSpPr>
          <p:cNvPr id="39" name="Text 9"/>
          <p:cNvSpPr txBox="1"/>
          <p:nvPr/>
        </p:nvSpPr>
        <p:spPr>
          <a:xfrm>
            <a:off x="1495424" y="3719512"/>
            <a:ext cx="997269"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140000"/>
              </a:lnSpc>
              <a:defRPr b="1" spc="194" sz="1746">
                <a:solidFill>
                  <a:srgbClr val="7A7363"/>
                </a:solidFill>
                <a:latin typeface="Arial"/>
                <a:ea typeface="Arial"/>
                <a:cs typeface="Arial"/>
                <a:sym typeface="Arial"/>
              </a:defRPr>
            </a:lvl1pPr>
          </a:lstStyle>
          <a:p>
            <a:pPr/>
            <a:r>
              <a:t>LANE A</a:t>
            </a:r>
          </a:p>
        </p:txBody>
      </p:sp>
      <p:sp>
        <p:nvSpPr>
          <p:cNvPr id="40" name="Text 10"/>
          <p:cNvSpPr txBox="1"/>
          <p:nvPr/>
        </p:nvSpPr>
        <p:spPr>
          <a:xfrm>
            <a:off x="5313998" y="3709987"/>
            <a:ext cx="326796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a:solidFill>
                  <a:srgbClr val="3D4659"/>
                </a:solidFill>
                <a:latin typeface="Courier New"/>
                <a:ea typeface="Courier New"/>
                <a:cs typeface="Courier New"/>
                <a:sym typeface="Courier New"/>
              </a:defRPr>
            </a:lvl1pPr>
          </a:lstStyle>
          <a:p>
            <a:pPr/>
            <a:r>
              <a:t>AX-4471 · reviewer #214</a:t>
            </a:r>
          </a:p>
        </p:txBody>
      </p:sp>
      <p:pic>
        <p:nvPicPr>
          <p:cNvPr id="41" name="Image 0" descr="Image 0"/>
          <p:cNvPicPr>
            <a:picLocks noChangeAspect="1"/>
          </p:cNvPicPr>
          <p:nvPr/>
        </p:nvPicPr>
        <p:blipFill>
          <a:blip r:embed="rId3">
            <a:extLst/>
          </a:blip>
          <a:stretch>
            <a:fillRect/>
          </a:stretch>
        </p:blipFill>
        <p:spPr>
          <a:xfrm>
            <a:off x="3914775" y="4268153"/>
            <a:ext cx="1047750" cy="1047751"/>
          </a:xfrm>
          <a:prstGeom prst="rect">
            <a:avLst/>
          </a:prstGeom>
          <a:ln w="12700">
            <a:miter lim="400000"/>
          </a:ln>
        </p:spPr>
      </p:pic>
      <p:sp>
        <p:nvSpPr>
          <p:cNvPr id="42" name="Shape 11"/>
          <p:cNvSpPr/>
          <p:nvPr/>
        </p:nvSpPr>
        <p:spPr>
          <a:xfrm>
            <a:off x="5229225" y="4372928"/>
            <a:ext cx="838200" cy="838201"/>
          </a:xfrm>
          <a:prstGeom prst="ellipse">
            <a:avLst/>
          </a:prstGeom>
          <a:solidFill>
            <a:srgbClr val="1D6657">
              <a:alpha val="12000"/>
            </a:srgbClr>
          </a:solidFill>
          <a:ln w="19050">
            <a:solidFill>
              <a:srgbClr val="1D6657"/>
            </a:solidFill>
          </a:ln>
        </p:spPr>
        <p:txBody>
          <a:bodyPr lIns="45719" rIns="45719"/>
          <a:lstStyle/>
          <a:p>
            <a:pPr/>
          </a:p>
        </p:txBody>
      </p:sp>
      <p:pic>
        <p:nvPicPr>
          <p:cNvPr id="43" name="Image 1" descr="Image 1"/>
          <p:cNvPicPr>
            <a:picLocks noChangeAspect="1"/>
          </p:cNvPicPr>
          <p:nvPr/>
        </p:nvPicPr>
        <p:blipFill>
          <a:blip r:embed="rId4">
            <a:extLst/>
          </a:blip>
          <a:stretch>
            <a:fillRect/>
          </a:stretch>
        </p:blipFill>
        <p:spPr>
          <a:xfrm>
            <a:off x="5429250" y="4572953"/>
            <a:ext cx="438150" cy="438151"/>
          </a:xfrm>
          <a:prstGeom prst="rect">
            <a:avLst/>
          </a:prstGeom>
          <a:ln w="12700">
            <a:miter lim="400000"/>
          </a:ln>
        </p:spPr>
      </p:pic>
      <p:sp>
        <p:nvSpPr>
          <p:cNvPr id="44" name="Text 12"/>
          <p:cNvSpPr txBox="1"/>
          <p:nvPr/>
        </p:nvSpPr>
        <p:spPr>
          <a:xfrm>
            <a:off x="1380268" y="5392101"/>
            <a:ext cx="7221664"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40000"/>
              </a:lnSpc>
              <a:defRPr b="1" spc="200">
                <a:solidFill>
                  <a:srgbClr val="1D6657"/>
                </a:solidFill>
                <a:latin typeface="Arial"/>
                <a:ea typeface="Arial"/>
                <a:cs typeface="Arial"/>
                <a:sym typeface="Arial"/>
              </a:defRPr>
            </a:lvl1pPr>
          </a:lstStyle>
          <a:p>
            <a:pPr/>
            <a:r>
              <a:t>ENGAGED · EXAMINED OUTPUT</a:t>
            </a:r>
          </a:p>
        </p:txBody>
      </p:sp>
      <p:sp>
        <p:nvSpPr>
          <p:cNvPr id="45" name="Shape 13"/>
          <p:cNvSpPr/>
          <p:nvPr/>
        </p:nvSpPr>
        <p:spPr>
          <a:xfrm>
            <a:off x="1152525" y="5862955"/>
            <a:ext cx="7677150" cy="12701"/>
          </a:xfrm>
          <a:prstGeom prst="rect">
            <a:avLst/>
          </a:prstGeom>
          <a:solidFill>
            <a:srgbClr val="DCD5C0"/>
          </a:solidFill>
          <a:ln w="12700">
            <a:miter lim="400000"/>
          </a:ln>
        </p:spPr>
        <p:txBody>
          <a:bodyPr lIns="45719" rIns="45719"/>
          <a:lstStyle/>
          <a:p>
            <a:pPr/>
          </a:p>
        </p:txBody>
      </p:sp>
      <p:sp>
        <p:nvSpPr>
          <p:cNvPr id="46" name="Text 14"/>
          <p:cNvSpPr txBox="1"/>
          <p:nvPr/>
        </p:nvSpPr>
        <p:spPr>
          <a:xfrm>
            <a:off x="1495425" y="6110287"/>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100">
                <a:solidFill>
                  <a:srgbClr val="7A7363"/>
                </a:solidFill>
                <a:latin typeface="Arial"/>
                <a:ea typeface="Arial"/>
                <a:cs typeface="Arial"/>
                <a:sym typeface="Arial"/>
              </a:defRPr>
            </a:lvl1pPr>
          </a:lstStyle>
          <a:p>
            <a:pPr/>
            <a:r>
              <a:t>REVIEWED</a:t>
            </a:r>
          </a:p>
        </p:txBody>
      </p:sp>
      <p:sp>
        <p:nvSpPr>
          <p:cNvPr id="47" name="Text 15"/>
          <p:cNvSpPr txBox="1"/>
          <p:nvPr/>
        </p:nvSpPr>
        <p:spPr>
          <a:xfrm>
            <a:off x="3739832" y="6083617"/>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14 : 32 : 07</a:t>
            </a:r>
          </a:p>
        </p:txBody>
      </p:sp>
      <p:sp>
        <p:nvSpPr>
          <p:cNvPr id="48" name="Text 16"/>
          <p:cNvSpPr txBox="1"/>
          <p:nvPr/>
        </p:nvSpPr>
        <p:spPr>
          <a:xfrm>
            <a:off x="1495425" y="6750367"/>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100">
                <a:solidFill>
                  <a:srgbClr val="7A7363"/>
                </a:solidFill>
                <a:latin typeface="Arial"/>
                <a:ea typeface="Arial"/>
                <a:cs typeface="Arial"/>
                <a:sym typeface="Arial"/>
              </a:defRPr>
            </a:lvl1pPr>
          </a:lstStyle>
          <a:p>
            <a:pPr/>
            <a:r>
              <a:t>DECISION</a:t>
            </a:r>
          </a:p>
        </p:txBody>
      </p:sp>
      <p:sp>
        <p:nvSpPr>
          <p:cNvPr id="49" name="Text 17"/>
          <p:cNvSpPr txBox="1"/>
          <p:nvPr/>
        </p:nvSpPr>
        <p:spPr>
          <a:xfrm>
            <a:off x="3739832" y="6723698"/>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14 : 50 : 14 (+18 min)</a:t>
            </a:r>
          </a:p>
        </p:txBody>
      </p:sp>
      <p:sp>
        <p:nvSpPr>
          <p:cNvPr id="50" name="Text 18"/>
          <p:cNvSpPr txBox="1"/>
          <p:nvPr/>
        </p:nvSpPr>
        <p:spPr>
          <a:xfrm>
            <a:off x="1495425" y="7390448"/>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40000"/>
              </a:lnSpc>
              <a:defRPr b="1" spc="93" sz="1674">
                <a:solidFill>
                  <a:srgbClr val="7A7363"/>
                </a:solidFill>
                <a:latin typeface="Arial"/>
                <a:ea typeface="Arial"/>
                <a:cs typeface="Arial"/>
                <a:sym typeface="Arial"/>
              </a:defRPr>
            </a:lvl1pPr>
          </a:lstStyle>
          <a:p>
            <a:pPr/>
            <a:r>
              <a:t>DOCUMENTATION</a:t>
            </a:r>
          </a:p>
        </p:txBody>
      </p:sp>
      <p:sp>
        <p:nvSpPr>
          <p:cNvPr id="51" name="Text 19"/>
          <p:cNvSpPr txBox="1"/>
          <p:nvPr/>
        </p:nvSpPr>
        <p:spPr>
          <a:xfrm>
            <a:off x="3739832" y="7363776"/>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4 of 4 fields</a:t>
            </a:r>
          </a:p>
        </p:txBody>
      </p:sp>
      <p:sp>
        <p:nvSpPr>
          <p:cNvPr id="52" name="Shape 20"/>
          <p:cNvSpPr/>
          <p:nvPr/>
        </p:nvSpPr>
        <p:spPr>
          <a:xfrm>
            <a:off x="1152525" y="7965757"/>
            <a:ext cx="7677150" cy="725806"/>
          </a:xfrm>
          <a:prstGeom prst="rect">
            <a:avLst/>
          </a:prstGeom>
          <a:solidFill>
            <a:srgbClr val="CFE1D3"/>
          </a:solidFill>
          <a:ln w="12700">
            <a:miter lim="400000"/>
          </a:ln>
        </p:spPr>
        <p:txBody>
          <a:bodyPr lIns="45719" rIns="45719"/>
          <a:lstStyle/>
          <a:p>
            <a:pPr/>
          </a:p>
        </p:txBody>
      </p:sp>
      <p:sp>
        <p:nvSpPr>
          <p:cNvPr id="53" name="Shape 21"/>
          <p:cNvSpPr/>
          <p:nvPr/>
        </p:nvSpPr>
        <p:spPr>
          <a:xfrm>
            <a:off x="1152525" y="7964169"/>
            <a:ext cx="7677150" cy="12701"/>
          </a:xfrm>
          <a:prstGeom prst="rect">
            <a:avLst/>
          </a:prstGeom>
          <a:solidFill>
            <a:srgbClr val="DCD5C0"/>
          </a:solidFill>
          <a:ln w="12700">
            <a:miter lim="400000"/>
          </a:ln>
        </p:spPr>
        <p:txBody>
          <a:bodyPr lIns="45719" rIns="45719"/>
          <a:lstStyle/>
          <a:p>
            <a:pPr/>
          </a:p>
        </p:txBody>
      </p:sp>
      <p:pic>
        <p:nvPicPr>
          <p:cNvPr id="54" name="Image 2" descr="Image 2"/>
          <p:cNvPicPr>
            <a:picLocks noChangeAspect="1"/>
          </p:cNvPicPr>
          <p:nvPr/>
        </p:nvPicPr>
        <p:blipFill>
          <a:blip r:embed="rId5">
            <a:extLst/>
          </a:blip>
          <a:stretch>
            <a:fillRect/>
          </a:stretch>
        </p:blipFill>
        <p:spPr>
          <a:xfrm>
            <a:off x="1495425" y="8200073"/>
            <a:ext cx="266700" cy="266701"/>
          </a:xfrm>
          <a:prstGeom prst="rect">
            <a:avLst/>
          </a:prstGeom>
          <a:ln w="12700">
            <a:miter lim="400000"/>
          </a:ln>
        </p:spPr>
      </p:pic>
      <p:sp>
        <p:nvSpPr>
          <p:cNvPr id="55" name="Text 22"/>
          <p:cNvSpPr txBox="1"/>
          <p:nvPr/>
        </p:nvSpPr>
        <p:spPr>
          <a:xfrm>
            <a:off x="1895475" y="8138159"/>
            <a:ext cx="2038826" cy="42862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485" sz="2037">
                <a:solidFill>
                  <a:srgbClr val="2D7A4D"/>
                </a:solidFill>
                <a:latin typeface="Arial"/>
                <a:ea typeface="Arial"/>
                <a:cs typeface="Arial"/>
                <a:sym typeface="Arial"/>
              </a:defRPr>
            </a:lvl1pPr>
          </a:lstStyle>
          <a:p>
            <a:pPr/>
            <a:r>
              <a:t>COMPLIANT</a:t>
            </a:r>
          </a:p>
        </p:txBody>
      </p:sp>
      <p:sp>
        <p:nvSpPr>
          <p:cNvPr id="56" name="Shape 23"/>
          <p:cNvSpPr/>
          <p:nvPr/>
        </p:nvSpPr>
        <p:spPr>
          <a:xfrm>
            <a:off x="9448800" y="2923221"/>
            <a:ext cx="7696200" cy="5777867"/>
          </a:xfrm>
          <a:prstGeom prst="rect">
            <a:avLst/>
          </a:prstGeom>
          <a:solidFill>
            <a:srgbClr val="FFFCF0"/>
          </a:solidFill>
          <a:ln>
            <a:solidFill>
              <a:srgbClr val="C8C0A8"/>
            </a:solidFill>
          </a:ln>
        </p:spPr>
        <p:txBody>
          <a:bodyPr lIns="45719" rIns="45719"/>
          <a:lstStyle/>
          <a:p>
            <a:pPr/>
          </a:p>
        </p:txBody>
      </p:sp>
      <p:sp>
        <p:nvSpPr>
          <p:cNvPr id="57" name="Shape 24"/>
          <p:cNvSpPr/>
          <p:nvPr/>
        </p:nvSpPr>
        <p:spPr>
          <a:xfrm>
            <a:off x="9458325" y="2932746"/>
            <a:ext cx="7677150" cy="548641"/>
          </a:xfrm>
          <a:prstGeom prst="rect">
            <a:avLst/>
          </a:prstGeom>
          <a:solidFill>
            <a:srgbClr val="B8451E"/>
          </a:solidFill>
          <a:ln w="12700">
            <a:miter lim="400000"/>
          </a:ln>
        </p:spPr>
        <p:txBody>
          <a:bodyPr lIns="45719" rIns="45719"/>
          <a:lstStyle/>
          <a:p>
            <a:pPr/>
          </a:p>
        </p:txBody>
      </p:sp>
      <p:sp>
        <p:nvSpPr>
          <p:cNvPr id="58" name="Text 25"/>
          <p:cNvSpPr txBox="1"/>
          <p:nvPr/>
        </p:nvSpPr>
        <p:spPr>
          <a:xfrm>
            <a:off x="9686925" y="3047046"/>
            <a:ext cx="7450264"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500">
                <a:solidFill>
                  <a:srgbClr val="FDF6E7"/>
                </a:solidFill>
                <a:latin typeface="Arial"/>
                <a:ea typeface="Arial"/>
                <a:cs typeface="Arial"/>
                <a:sym typeface="Arial"/>
              </a:defRPr>
            </a:lvl1pPr>
          </a:lstStyle>
          <a:p>
            <a:pPr/>
            <a:r>
              <a:t>SAMPLE</a:t>
            </a:r>
          </a:p>
        </p:txBody>
      </p:sp>
      <p:sp>
        <p:nvSpPr>
          <p:cNvPr id="59" name="Text 26"/>
          <p:cNvSpPr txBox="1"/>
          <p:nvPr/>
        </p:nvSpPr>
        <p:spPr>
          <a:xfrm>
            <a:off x="9801225" y="3719512"/>
            <a:ext cx="1004570"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140000"/>
              </a:lnSpc>
              <a:defRPr b="1" spc="194" sz="1746">
                <a:solidFill>
                  <a:srgbClr val="7A7363"/>
                </a:solidFill>
                <a:latin typeface="Arial"/>
                <a:ea typeface="Arial"/>
                <a:cs typeface="Arial"/>
                <a:sym typeface="Arial"/>
              </a:defRPr>
            </a:lvl1pPr>
          </a:lstStyle>
          <a:p>
            <a:pPr/>
            <a:r>
              <a:t>LANE B</a:t>
            </a:r>
          </a:p>
        </p:txBody>
      </p:sp>
      <p:sp>
        <p:nvSpPr>
          <p:cNvPr id="60" name="Text 27"/>
          <p:cNvSpPr txBox="1"/>
          <p:nvPr/>
        </p:nvSpPr>
        <p:spPr>
          <a:xfrm>
            <a:off x="13619798" y="3709987"/>
            <a:ext cx="326796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a:solidFill>
                  <a:srgbClr val="3D4659"/>
                </a:solidFill>
                <a:latin typeface="Courier New"/>
                <a:ea typeface="Courier New"/>
                <a:cs typeface="Courier New"/>
                <a:sym typeface="Courier New"/>
              </a:defRPr>
            </a:lvl1pPr>
          </a:lstStyle>
          <a:p>
            <a:pPr/>
            <a:r>
              <a:t>AX-4471 · reviewer #338</a:t>
            </a:r>
          </a:p>
        </p:txBody>
      </p:sp>
      <p:pic>
        <p:nvPicPr>
          <p:cNvPr id="61" name="Image 3" descr="Image 3"/>
          <p:cNvPicPr>
            <a:picLocks noChangeAspect="1"/>
          </p:cNvPicPr>
          <p:nvPr/>
        </p:nvPicPr>
        <p:blipFill>
          <a:blip r:embed="rId6">
            <a:extLst/>
          </a:blip>
          <a:stretch>
            <a:fillRect/>
          </a:stretch>
        </p:blipFill>
        <p:spPr>
          <a:xfrm>
            <a:off x="12220575" y="4268153"/>
            <a:ext cx="1047750" cy="1047751"/>
          </a:xfrm>
          <a:prstGeom prst="rect">
            <a:avLst/>
          </a:prstGeom>
          <a:ln w="12700">
            <a:miter lim="400000"/>
          </a:ln>
        </p:spPr>
      </p:pic>
      <p:sp>
        <p:nvSpPr>
          <p:cNvPr id="62" name="Shape 28"/>
          <p:cNvSpPr/>
          <p:nvPr/>
        </p:nvSpPr>
        <p:spPr>
          <a:xfrm>
            <a:off x="13535025" y="4372928"/>
            <a:ext cx="838200" cy="838201"/>
          </a:xfrm>
          <a:prstGeom prst="ellipse">
            <a:avLst/>
          </a:prstGeom>
          <a:solidFill>
            <a:srgbClr val="7A7363">
              <a:alpha val="12000"/>
            </a:srgbClr>
          </a:solidFill>
          <a:ln w="19050">
            <a:solidFill>
              <a:srgbClr val="7A7363"/>
            </a:solidFill>
            <a:prstDash val="dash"/>
          </a:ln>
        </p:spPr>
        <p:txBody>
          <a:bodyPr lIns="45719" rIns="45719"/>
          <a:lstStyle/>
          <a:p>
            <a:pPr/>
          </a:p>
        </p:txBody>
      </p:sp>
      <p:pic>
        <p:nvPicPr>
          <p:cNvPr id="63" name="Image 4" descr="Image 4"/>
          <p:cNvPicPr>
            <a:picLocks noChangeAspect="1"/>
          </p:cNvPicPr>
          <p:nvPr/>
        </p:nvPicPr>
        <p:blipFill>
          <a:blip r:embed="rId7">
            <a:extLst/>
          </a:blip>
          <a:stretch>
            <a:fillRect/>
          </a:stretch>
        </p:blipFill>
        <p:spPr>
          <a:xfrm>
            <a:off x="13735050" y="4572953"/>
            <a:ext cx="438150" cy="438151"/>
          </a:xfrm>
          <a:prstGeom prst="rect">
            <a:avLst/>
          </a:prstGeom>
          <a:ln w="12700">
            <a:miter lim="400000"/>
          </a:ln>
        </p:spPr>
      </p:pic>
      <p:sp>
        <p:nvSpPr>
          <p:cNvPr id="64" name="Text 29"/>
          <p:cNvSpPr txBox="1"/>
          <p:nvPr/>
        </p:nvSpPr>
        <p:spPr>
          <a:xfrm>
            <a:off x="9686067" y="5392101"/>
            <a:ext cx="7221665"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40000"/>
              </a:lnSpc>
              <a:defRPr b="1" spc="200">
                <a:solidFill>
                  <a:srgbClr val="7A7363"/>
                </a:solidFill>
                <a:latin typeface="Arial"/>
                <a:ea typeface="Arial"/>
                <a:cs typeface="Arial"/>
                <a:sym typeface="Arial"/>
              </a:defRPr>
            </a:lvl1pPr>
          </a:lstStyle>
          <a:p>
            <a:pPr/>
            <a:r>
              <a:t>NOT ENGAGED · CLICKED THROUGH</a:t>
            </a:r>
          </a:p>
        </p:txBody>
      </p:sp>
      <p:sp>
        <p:nvSpPr>
          <p:cNvPr id="65" name="Shape 30"/>
          <p:cNvSpPr/>
          <p:nvPr/>
        </p:nvSpPr>
        <p:spPr>
          <a:xfrm>
            <a:off x="9458325" y="5862955"/>
            <a:ext cx="7677150" cy="12701"/>
          </a:xfrm>
          <a:prstGeom prst="rect">
            <a:avLst/>
          </a:prstGeom>
          <a:solidFill>
            <a:srgbClr val="DCD5C0"/>
          </a:solidFill>
          <a:ln w="12700">
            <a:miter lim="400000"/>
          </a:ln>
        </p:spPr>
        <p:txBody>
          <a:bodyPr lIns="45719" rIns="45719"/>
          <a:lstStyle/>
          <a:p>
            <a:pPr/>
          </a:p>
        </p:txBody>
      </p:sp>
      <p:sp>
        <p:nvSpPr>
          <p:cNvPr id="66" name="Text 31"/>
          <p:cNvSpPr txBox="1"/>
          <p:nvPr/>
        </p:nvSpPr>
        <p:spPr>
          <a:xfrm>
            <a:off x="9801225" y="6110287"/>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100">
                <a:solidFill>
                  <a:srgbClr val="7A7363"/>
                </a:solidFill>
                <a:latin typeface="Arial"/>
                <a:ea typeface="Arial"/>
                <a:cs typeface="Arial"/>
                <a:sym typeface="Arial"/>
              </a:defRPr>
            </a:lvl1pPr>
          </a:lstStyle>
          <a:p>
            <a:pPr/>
            <a:r>
              <a:t>REVIEWED</a:t>
            </a:r>
          </a:p>
        </p:txBody>
      </p:sp>
      <p:sp>
        <p:nvSpPr>
          <p:cNvPr id="67" name="Text 32"/>
          <p:cNvSpPr txBox="1"/>
          <p:nvPr/>
        </p:nvSpPr>
        <p:spPr>
          <a:xfrm>
            <a:off x="12045632" y="6083617"/>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14 : 32 : 07</a:t>
            </a:r>
          </a:p>
        </p:txBody>
      </p:sp>
      <p:sp>
        <p:nvSpPr>
          <p:cNvPr id="68" name="Text 33"/>
          <p:cNvSpPr txBox="1"/>
          <p:nvPr/>
        </p:nvSpPr>
        <p:spPr>
          <a:xfrm>
            <a:off x="9801225" y="6750367"/>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100">
                <a:solidFill>
                  <a:srgbClr val="7A7363"/>
                </a:solidFill>
                <a:latin typeface="Arial"/>
                <a:ea typeface="Arial"/>
                <a:cs typeface="Arial"/>
                <a:sym typeface="Arial"/>
              </a:defRPr>
            </a:lvl1pPr>
          </a:lstStyle>
          <a:p>
            <a:pPr/>
            <a:r>
              <a:t>DECISION</a:t>
            </a:r>
          </a:p>
        </p:txBody>
      </p:sp>
      <p:sp>
        <p:nvSpPr>
          <p:cNvPr id="69" name="Text 34"/>
          <p:cNvSpPr txBox="1"/>
          <p:nvPr/>
        </p:nvSpPr>
        <p:spPr>
          <a:xfrm>
            <a:off x="12045632" y="6723698"/>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14 : 32 : 13 (+6 sec)</a:t>
            </a:r>
          </a:p>
        </p:txBody>
      </p:sp>
      <p:sp>
        <p:nvSpPr>
          <p:cNvPr id="70" name="Text 35"/>
          <p:cNvSpPr txBox="1"/>
          <p:nvPr/>
        </p:nvSpPr>
        <p:spPr>
          <a:xfrm>
            <a:off x="9801225" y="7390448"/>
            <a:ext cx="2053907"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40000"/>
              </a:lnSpc>
              <a:defRPr b="1" spc="93" sz="1674">
                <a:solidFill>
                  <a:srgbClr val="7A7363"/>
                </a:solidFill>
                <a:latin typeface="Arial"/>
                <a:ea typeface="Arial"/>
                <a:cs typeface="Arial"/>
                <a:sym typeface="Arial"/>
              </a:defRPr>
            </a:lvl1pPr>
          </a:lstStyle>
          <a:p>
            <a:pPr/>
            <a:r>
              <a:t>DOCUMENTATION</a:t>
            </a:r>
          </a:p>
        </p:txBody>
      </p:sp>
      <p:sp>
        <p:nvSpPr>
          <p:cNvPr id="71" name="Text 36"/>
          <p:cNvSpPr txBox="1"/>
          <p:nvPr/>
        </p:nvSpPr>
        <p:spPr>
          <a:xfrm>
            <a:off x="12045632" y="7363776"/>
            <a:ext cx="4889352" cy="4114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z="2100">
                <a:solidFill>
                  <a:srgbClr val="11243C"/>
                </a:solidFill>
                <a:latin typeface="Courier New"/>
                <a:ea typeface="Courier New"/>
                <a:cs typeface="Courier New"/>
                <a:sym typeface="Courier New"/>
              </a:defRPr>
            </a:lvl1pPr>
          </a:lstStyle>
          <a:p>
            <a:pPr/>
            <a:r>
              <a:t>4 of 4 fields</a:t>
            </a:r>
          </a:p>
        </p:txBody>
      </p:sp>
      <p:sp>
        <p:nvSpPr>
          <p:cNvPr id="72" name="Shape 37"/>
          <p:cNvSpPr/>
          <p:nvPr/>
        </p:nvSpPr>
        <p:spPr>
          <a:xfrm>
            <a:off x="9458325" y="7965757"/>
            <a:ext cx="7677150" cy="725806"/>
          </a:xfrm>
          <a:prstGeom prst="rect">
            <a:avLst/>
          </a:prstGeom>
          <a:solidFill>
            <a:srgbClr val="CFE1D3"/>
          </a:solidFill>
          <a:ln w="12700">
            <a:miter lim="400000"/>
          </a:ln>
        </p:spPr>
        <p:txBody>
          <a:bodyPr lIns="45719" rIns="45719"/>
          <a:lstStyle/>
          <a:p>
            <a:pPr/>
          </a:p>
        </p:txBody>
      </p:sp>
      <p:sp>
        <p:nvSpPr>
          <p:cNvPr id="73" name="Shape 38"/>
          <p:cNvSpPr/>
          <p:nvPr/>
        </p:nvSpPr>
        <p:spPr>
          <a:xfrm>
            <a:off x="9458325" y="7964169"/>
            <a:ext cx="7677150" cy="12701"/>
          </a:xfrm>
          <a:prstGeom prst="rect">
            <a:avLst/>
          </a:prstGeom>
          <a:solidFill>
            <a:srgbClr val="DCD5C0"/>
          </a:solidFill>
          <a:ln w="12700">
            <a:miter lim="400000"/>
          </a:ln>
        </p:spPr>
        <p:txBody>
          <a:bodyPr lIns="45719" rIns="45719"/>
          <a:lstStyle/>
          <a:p>
            <a:pPr/>
          </a:p>
        </p:txBody>
      </p:sp>
      <p:pic>
        <p:nvPicPr>
          <p:cNvPr id="74" name="Image 5" descr="Image 5"/>
          <p:cNvPicPr>
            <a:picLocks noChangeAspect="1"/>
          </p:cNvPicPr>
          <p:nvPr/>
        </p:nvPicPr>
        <p:blipFill>
          <a:blip r:embed="rId5">
            <a:extLst/>
          </a:blip>
          <a:stretch>
            <a:fillRect/>
          </a:stretch>
        </p:blipFill>
        <p:spPr>
          <a:xfrm>
            <a:off x="9801225" y="8200073"/>
            <a:ext cx="266700" cy="266701"/>
          </a:xfrm>
          <a:prstGeom prst="rect">
            <a:avLst/>
          </a:prstGeom>
          <a:ln w="12700">
            <a:miter lim="400000"/>
          </a:ln>
        </p:spPr>
      </p:pic>
      <p:sp>
        <p:nvSpPr>
          <p:cNvPr id="75" name="Text 39"/>
          <p:cNvSpPr txBox="1"/>
          <p:nvPr/>
        </p:nvSpPr>
        <p:spPr>
          <a:xfrm>
            <a:off x="10201275" y="8138159"/>
            <a:ext cx="2038826" cy="42862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485" sz="2037">
                <a:solidFill>
                  <a:srgbClr val="2D7A4D"/>
                </a:solidFill>
                <a:latin typeface="Arial"/>
                <a:ea typeface="Arial"/>
                <a:cs typeface="Arial"/>
                <a:sym typeface="Arial"/>
              </a:defRPr>
            </a:lvl1pPr>
          </a:lstStyle>
          <a:p>
            <a:pPr/>
            <a:r>
              <a:t>COMPLIANT</a:t>
            </a:r>
          </a:p>
        </p:txBody>
      </p:sp>
      <p:sp>
        <p:nvSpPr>
          <p:cNvPr id="76" name="Text 40"/>
          <p:cNvSpPr txBox="1"/>
          <p:nvPr/>
        </p:nvSpPr>
        <p:spPr>
          <a:xfrm>
            <a:off x="1785938" y="9082088"/>
            <a:ext cx="14716126" cy="9525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gn="ctr" defTabSz="877823">
              <a:lnSpc>
                <a:spcPct val="131991"/>
              </a:lnSpc>
              <a:defRPr sz="2592">
                <a:solidFill>
                  <a:srgbClr val="11243C"/>
                </a:solidFill>
                <a:latin typeface="Arial"/>
                <a:ea typeface="Arial"/>
                <a:cs typeface="Arial"/>
                <a:sym typeface="Arial"/>
              </a:defRPr>
            </a:pPr>
            <a:r>
              <a:t xml:space="preserve">One review took </a:t>
            </a:r>
            <a:r>
              <a:rPr b="1">
                <a:solidFill>
                  <a:srgbClr val="B8451E"/>
                </a:solidFill>
              </a:rPr>
              <a:t xml:space="preserve">eighteen minutes </a:t>
            </a:r>
            <a:r>
              <a:t xml:space="preserve">of substantive evaluation. One took </a:t>
            </a:r>
            <a:r>
              <a:rPr b="1">
                <a:solidFill>
                  <a:srgbClr val="B8451E"/>
                </a:solidFill>
              </a:rPr>
              <a:t xml:space="preserve">six seconds </a:t>
            </a:r>
            <a:r>
              <a:t>of procedural confirmation. The audit record does not distinguish them.</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80"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81" name="Text 1"/>
          <p:cNvSpPr txBox="1"/>
          <p:nvPr/>
        </p:nvSpPr>
        <p:spPr>
          <a:xfrm>
            <a:off x="14431168"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01</a:t>
            </a:r>
          </a:p>
        </p:txBody>
      </p:sp>
      <p:sp>
        <p:nvSpPr>
          <p:cNvPr id="82" name="Text 2"/>
          <p:cNvSpPr txBox="1"/>
          <p:nvPr/>
        </p:nvSpPr>
        <p:spPr>
          <a:xfrm>
            <a:off x="14905513"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83" name="Text 3"/>
          <p:cNvSpPr txBox="1"/>
          <p:nvPr/>
        </p:nvSpPr>
        <p:spPr>
          <a:xfrm>
            <a:off x="15147289" y="233361"/>
            <a:ext cx="2073911"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THE PROBLEM</a:t>
            </a:r>
          </a:p>
        </p:txBody>
      </p:sp>
      <p:sp>
        <p:nvSpPr>
          <p:cNvPr id="84"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Three claims hold up the paper.</a:t>
            </a:r>
          </a:p>
        </p:txBody>
      </p:sp>
      <p:sp>
        <p:nvSpPr>
          <p:cNvPr id="85" name="Text 5"/>
          <p:cNvSpPr txBox="1"/>
          <p:nvPr/>
        </p:nvSpPr>
        <p:spPr>
          <a:xfrm>
            <a:off x="1828800" y="2439193"/>
            <a:ext cx="1123950"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786384">
              <a:defRPr b="1" spc="-172" sz="4644">
                <a:solidFill>
                  <a:srgbClr val="1D6657"/>
                </a:solidFill>
                <a:latin typeface="Arial"/>
                <a:ea typeface="Arial"/>
                <a:cs typeface="Arial"/>
                <a:sym typeface="Arial"/>
              </a:defRPr>
            </a:lvl1pPr>
          </a:lstStyle>
          <a:p>
            <a:pPr/>
            <a:r>
              <a:t>1.</a:t>
            </a:r>
          </a:p>
        </p:txBody>
      </p:sp>
      <p:sp>
        <p:nvSpPr>
          <p:cNvPr id="86" name="Text 6"/>
          <p:cNvSpPr txBox="1"/>
          <p:nvPr/>
        </p:nvSpPr>
        <p:spPr>
          <a:xfrm>
            <a:off x="3295650" y="2485389"/>
            <a:ext cx="13479971" cy="13584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96111">
              <a:lnSpc>
                <a:spcPct val="121994"/>
              </a:lnSpc>
              <a:defRPr spc="-98" sz="4116">
                <a:solidFill>
                  <a:srgbClr val="11243C"/>
                </a:solidFill>
                <a:latin typeface="Arial"/>
                <a:ea typeface="Arial"/>
                <a:cs typeface="Arial"/>
                <a:sym typeface="Arial"/>
              </a:defRPr>
            </a:pPr>
            <a:r>
              <a:t xml:space="preserve">The oversight function is a </a:t>
            </a:r>
            <a:r>
              <a:rPr b="1"/>
              <a:t xml:space="preserve">system component </a:t>
            </a:r>
            <a:r>
              <a:t>, not a binary switch.</a:t>
            </a:r>
          </a:p>
        </p:txBody>
      </p:sp>
      <p:sp>
        <p:nvSpPr>
          <p:cNvPr id="87" name="Text 7"/>
          <p:cNvSpPr txBox="1"/>
          <p:nvPr/>
        </p:nvSpPr>
        <p:spPr>
          <a:xfrm>
            <a:off x="1828800" y="4415313"/>
            <a:ext cx="1123950" cy="723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786384">
              <a:defRPr b="1" spc="-172" sz="4644">
                <a:solidFill>
                  <a:srgbClr val="1D6657"/>
                </a:solidFill>
                <a:latin typeface="Arial"/>
                <a:ea typeface="Arial"/>
                <a:cs typeface="Arial"/>
                <a:sym typeface="Arial"/>
              </a:defRPr>
            </a:lvl1pPr>
          </a:lstStyle>
          <a:p>
            <a:pPr/>
            <a:r>
              <a:t>2.</a:t>
            </a:r>
          </a:p>
        </p:txBody>
      </p:sp>
      <p:sp>
        <p:nvSpPr>
          <p:cNvPr id="88" name="Text 8"/>
          <p:cNvSpPr txBox="1"/>
          <p:nvPr/>
        </p:nvSpPr>
        <p:spPr>
          <a:xfrm>
            <a:off x="3295650" y="4461509"/>
            <a:ext cx="13479971" cy="2009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121994"/>
              </a:lnSpc>
              <a:defRPr spc="-95" sz="3989">
                <a:solidFill>
                  <a:srgbClr val="11243C"/>
                </a:solidFill>
                <a:latin typeface="Arial"/>
                <a:ea typeface="Arial"/>
                <a:cs typeface="Arial"/>
                <a:sym typeface="Arial"/>
              </a:defRPr>
            </a:pPr>
            <a:r>
              <a:t xml:space="preserve">It degrades predictably under operational conditions. The degraded state and the functional state leave </a:t>
            </a:r>
            <a:r>
              <a:rPr b="1">
                <a:solidFill>
                  <a:srgbClr val="B8451E"/>
                </a:solidFill>
              </a:rPr>
              <a:t>identical governance traces</a:t>
            </a:r>
            <a:r>
              <a:t>.</a:t>
            </a:r>
          </a:p>
        </p:txBody>
      </p:sp>
      <p:sp>
        <p:nvSpPr>
          <p:cNvPr id="89" name="Text 9"/>
          <p:cNvSpPr txBox="1"/>
          <p:nvPr/>
        </p:nvSpPr>
        <p:spPr>
          <a:xfrm>
            <a:off x="1828800" y="7042150"/>
            <a:ext cx="1123950" cy="72390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786384">
              <a:defRPr b="1" spc="-172" sz="4644">
                <a:solidFill>
                  <a:srgbClr val="1D6657"/>
                </a:solidFill>
                <a:latin typeface="Arial"/>
                <a:ea typeface="Arial"/>
                <a:cs typeface="Arial"/>
                <a:sym typeface="Arial"/>
              </a:defRPr>
            </a:lvl1pPr>
          </a:lstStyle>
          <a:p>
            <a:pPr/>
            <a:r>
              <a:t>3.</a:t>
            </a:r>
          </a:p>
        </p:txBody>
      </p:sp>
      <p:sp>
        <p:nvSpPr>
          <p:cNvPr id="90" name="Text 10"/>
          <p:cNvSpPr txBox="1"/>
          <p:nvPr/>
        </p:nvSpPr>
        <p:spPr>
          <a:xfrm>
            <a:off x="3295650" y="7088345"/>
            <a:ext cx="13479971" cy="202803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121994"/>
              </a:lnSpc>
              <a:defRPr spc="-95" sz="3989">
                <a:solidFill>
                  <a:srgbClr val="11243C"/>
                </a:solidFill>
                <a:latin typeface="Arial"/>
                <a:ea typeface="Arial"/>
                <a:cs typeface="Arial"/>
                <a:sym typeface="Arial"/>
              </a:defRPr>
            </a:pPr>
            <a:r>
              <a:t xml:space="preserve">Current detection, interpretability, and governance methods do not close the gap, because they </a:t>
            </a:r>
            <a:r>
              <a:rPr b="1">
                <a:solidFill>
                  <a:srgbClr val="B8451E"/>
                </a:solidFill>
              </a:rPr>
              <a:t xml:space="preserve">instrument the wrong layer </a:t>
            </a:r>
            <a:r>
              <a: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94"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95" name="Text 1"/>
          <p:cNvSpPr txBox="1"/>
          <p:nvPr/>
        </p:nvSpPr>
        <p:spPr>
          <a:xfrm>
            <a:off x="14514036"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02</a:t>
            </a:r>
          </a:p>
        </p:txBody>
      </p:sp>
      <p:sp>
        <p:nvSpPr>
          <p:cNvPr id="96" name="Text 2"/>
          <p:cNvSpPr txBox="1"/>
          <p:nvPr/>
        </p:nvSpPr>
        <p:spPr>
          <a:xfrm>
            <a:off x="14988381"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97" name="Text 3"/>
          <p:cNvSpPr txBox="1"/>
          <p:nvPr/>
        </p:nvSpPr>
        <p:spPr>
          <a:xfrm>
            <a:off x="15230158" y="233361"/>
            <a:ext cx="1991044"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THE PATTERN</a:t>
            </a:r>
          </a:p>
        </p:txBody>
      </p:sp>
      <p:sp>
        <p:nvSpPr>
          <p:cNvPr id="98"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Behavior degrades. The record stays uniform.</a:t>
            </a:r>
          </a:p>
        </p:txBody>
      </p:sp>
      <p:sp>
        <p:nvSpPr>
          <p:cNvPr id="99" name="Shape 5"/>
          <p:cNvSpPr/>
          <p:nvPr/>
        </p:nvSpPr>
        <p:spPr>
          <a:xfrm>
            <a:off x="1143000" y="2259329"/>
            <a:ext cx="5029200" cy="1550671"/>
          </a:xfrm>
          <a:prstGeom prst="rect">
            <a:avLst/>
          </a:prstGeom>
          <a:solidFill>
            <a:srgbClr val="FFFCF0"/>
          </a:solidFill>
          <a:ln>
            <a:solidFill>
              <a:srgbClr val="C8C0A8"/>
            </a:solidFill>
          </a:ln>
        </p:spPr>
        <p:txBody>
          <a:bodyPr lIns="45719" rIns="45719"/>
          <a:lstStyle/>
          <a:p>
            <a:pPr/>
          </a:p>
        </p:txBody>
      </p:sp>
      <p:sp>
        <p:nvSpPr>
          <p:cNvPr id="100" name="Text 6"/>
          <p:cNvSpPr txBox="1"/>
          <p:nvPr/>
        </p:nvSpPr>
        <p:spPr>
          <a:xfrm>
            <a:off x="1381125" y="2440304"/>
            <a:ext cx="4689539"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7A7363"/>
                </a:solidFill>
                <a:latin typeface="Arial"/>
                <a:ea typeface="Arial"/>
                <a:cs typeface="Arial"/>
                <a:sym typeface="Arial"/>
              </a:defRPr>
            </a:lvl1pPr>
          </a:lstStyle>
          <a:p>
            <a:pPr/>
            <a:r>
              <a:t>GOVERNANCE RECORD</a:t>
            </a:r>
          </a:p>
        </p:txBody>
      </p:sp>
      <p:sp>
        <p:nvSpPr>
          <p:cNvPr id="101" name="Text 7"/>
          <p:cNvSpPr txBox="1"/>
          <p:nvPr/>
        </p:nvSpPr>
        <p:spPr>
          <a:xfrm>
            <a:off x="1381124" y="2874645"/>
            <a:ext cx="89916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status</a:t>
            </a:r>
          </a:p>
        </p:txBody>
      </p:sp>
      <p:sp>
        <p:nvSpPr>
          <p:cNvPr id="102" name="Text 8"/>
          <p:cNvSpPr txBox="1"/>
          <p:nvPr/>
        </p:nvSpPr>
        <p:spPr>
          <a:xfrm>
            <a:off x="4699634" y="2874645"/>
            <a:ext cx="131064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a:solidFill>
                  <a:srgbClr val="2D7A4D"/>
                </a:solidFill>
                <a:latin typeface="Courier New"/>
                <a:ea typeface="Courier New"/>
                <a:cs typeface="Courier New"/>
                <a:sym typeface="Courier New"/>
              </a:defRPr>
            </a:lvl1pPr>
          </a:lstStyle>
          <a:p>
            <a:pPr/>
            <a:r>
              <a:t>COMPLIANT</a:t>
            </a:r>
          </a:p>
        </p:txBody>
      </p:sp>
      <p:sp>
        <p:nvSpPr>
          <p:cNvPr id="103" name="Text 9"/>
          <p:cNvSpPr txBox="1"/>
          <p:nvPr/>
        </p:nvSpPr>
        <p:spPr>
          <a:xfrm>
            <a:off x="1381124" y="3270884"/>
            <a:ext cx="131064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approvals</a:t>
            </a:r>
          </a:p>
        </p:txBody>
      </p:sp>
      <p:sp>
        <p:nvSpPr>
          <p:cNvPr id="104" name="Text 10"/>
          <p:cNvSpPr txBox="1"/>
          <p:nvPr/>
        </p:nvSpPr>
        <p:spPr>
          <a:xfrm>
            <a:off x="5659754" y="3270884"/>
            <a:ext cx="35052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47</a:t>
            </a:r>
          </a:p>
        </p:txBody>
      </p:sp>
      <p:sp>
        <p:nvSpPr>
          <p:cNvPr id="105" name="Shape 11"/>
          <p:cNvSpPr/>
          <p:nvPr/>
        </p:nvSpPr>
        <p:spPr>
          <a:xfrm>
            <a:off x="6629400" y="2259329"/>
            <a:ext cx="5029200" cy="1550671"/>
          </a:xfrm>
          <a:prstGeom prst="rect">
            <a:avLst/>
          </a:prstGeom>
          <a:solidFill>
            <a:srgbClr val="FFFCF0"/>
          </a:solidFill>
          <a:ln>
            <a:solidFill>
              <a:srgbClr val="C8C0A8"/>
            </a:solidFill>
          </a:ln>
        </p:spPr>
        <p:txBody>
          <a:bodyPr lIns="45719" rIns="45719"/>
          <a:lstStyle/>
          <a:p>
            <a:pPr/>
          </a:p>
        </p:txBody>
      </p:sp>
      <p:sp>
        <p:nvSpPr>
          <p:cNvPr id="106" name="Text 12"/>
          <p:cNvSpPr txBox="1"/>
          <p:nvPr/>
        </p:nvSpPr>
        <p:spPr>
          <a:xfrm>
            <a:off x="6867525" y="2440304"/>
            <a:ext cx="4689539"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7A7363"/>
                </a:solidFill>
                <a:latin typeface="Arial"/>
                <a:ea typeface="Arial"/>
                <a:cs typeface="Arial"/>
                <a:sym typeface="Arial"/>
              </a:defRPr>
            </a:lvl1pPr>
          </a:lstStyle>
          <a:p>
            <a:pPr/>
            <a:r>
              <a:t>GOVERNANCE RECORD</a:t>
            </a:r>
          </a:p>
        </p:txBody>
      </p:sp>
      <p:sp>
        <p:nvSpPr>
          <p:cNvPr id="107" name="Text 13"/>
          <p:cNvSpPr txBox="1"/>
          <p:nvPr/>
        </p:nvSpPr>
        <p:spPr>
          <a:xfrm>
            <a:off x="6867524" y="2874645"/>
            <a:ext cx="89916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status</a:t>
            </a:r>
          </a:p>
        </p:txBody>
      </p:sp>
      <p:sp>
        <p:nvSpPr>
          <p:cNvPr id="108" name="Text 14"/>
          <p:cNvSpPr txBox="1"/>
          <p:nvPr/>
        </p:nvSpPr>
        <p:spPr>
          <a:xfrm>
            <a:off x="10186034" y="2874645"/>
            <a:ext cx="131064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a:solidFill>
                  <a:srgbClr val="2D7A4D"/>
                </a:solidFill>
                <a:latin typeface="Courier New"/>
                <a:ea typeface="Courier New"/>
                <a:cs typeface="Courier New"/>
                <a:sym typeface="Courier New"/>
              </a:defRPr>
            </a:lvl1pPr>
          </a:lstStyle>
          <a:p>
            <a:pPr/>
            <a:r>
              <a:t>COMPLIANT</a:t>
            </a:r>
          </a:p>
        </p:txBody>
      </p:sp>
      <p:sp>
        <p:nvSpPr>
          <p:cNvPr id="109" name="Text 15"/>
          <p:cNvSpPr txBox="1"/>
          <p:nvPr/>
        </p:nvSpPr>
        <p:spPr>
          <a:xfrm>
            <a:off x="6867524" y="3270884"/>
            <a:ext cx="131064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approvals</a:t>
            </a:r>
          </a:p>
        </p:txBody>
      </p:sp>
      <p:sp>
        <p:nvSpPr>
          <p:cNvPr id="110" name="Text 16"/>
          <p:cNvSpPr txBox="1"/>
          <p:nvPr/>
        </p:nvSpPr>
        <p:spPr>
          <a:xfrm>
            <a:off x="11146155" y="3270884"/>
            <a:ext cx="35052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47</a:t>
            </a:r>
          </a:p>
        </p:txBody>
      </p:sp>
      <p:sp>
        <p:nvSpPr>
          <p:cNvPr id="111" name="Shape 17"/>
          <p:cNvSpPr/>
          <p:nvPr/>
        </p:nvSpPr>
        <p:spPr>
          <a:xfrm>
            <a:off x="12115800" y="2259329"/>
            <a:ext cx="5029200" cy="1550671"/>
          </a:xfrm>
          <a:prstGeom prst="rect">
            <a:avLst/>
          </a:prstGeom>
          <a:solidFill>
            <a:srgbClr val="FFFCF0"/>
          </a:solidFill>
          <a:ln>
            <a:solidFill>
              <a:srgbClr val="C8C0A8"/>
            </a:solidFill>
          </a:ln>
        </p:spPr>
        <p:txBody>
          <a:bodyPr lIns="45719" rIns="45719"/>
          <a:lstStyle/>
          <a:p>
            <a:pPr/>
          </a:p>
        </p:txBody>
      </p:sp>
      <p:sp>
        <p:nvSpPr>
          <p:cNvPr id="112" name="Text 18"/>
          <p:cNvSpPr txBox="1"/>
          <p:nvPr/>
        </p:nvSpPr>
        <p:spPr>
          <a:xfrm>
            <a:off x="12353925" y="2440304"/>
            <a:ext cx="4689539"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7A7363"/>
                </a:solidFill>
                <a:latin typeface="Arial"/>
                <a:ea typeface="Arial"/>
                <a:cs typeface="Arial"/>
                <a:sym typeface="Arial"/>
              </a:defRPr>
            </a:lvl1pPr>
          </a:lstStyle>
          <a:p>
            <a:pPr/>
            <a:r>
              <a:t>GOVERNANCE RECORD</a:t>
            </a:r>
          </a:p>
        </p:txBody>
      </p:sp>
      <p:sp>
        <p:nvSpPr>
          <p:cNvPr id="113" name="Text 19"/>
          <p:cNvSpPr txBox="1"/>
          <p:nvPr/>
        </p:nvSpPr>
        <p:spPr>
          <a:xfrm>
            <a:off x="12353924" y="2874645"/>
            <a:ext cx="89916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status</a:t>
            </a:r>
          </a:p>
        </p:txBody>
      </p:sp>
      <p:sp>
        <p:nvSpPr>
          <p:cNvPr id="114" name="Text 20"/>
          <p:cNvSpPr txBox="1"/>
          <p:nvPr/>
        </p:nvSpPr>
        <p:spPr>
          <a:xfrm>
            <a:off x="15672435" y="2874645"/>
            <a:ext cx="131064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a:solidFill>
                  <a:srgbClr val="2D7A4D"/>
                </a:solidFill>
                <a:latin typeface="Courier New"/>
                <a:ea typeface="Courier New"/>
                <a:cs typeface="Courier New"/>
                <a:sym typeface="Courier New"/>
              </a:defRPr>
            </a:lvl1pPr>
          </a:lstStyle>
          <a:p>
            <a:pPr/>
            <a:r>
              <a:t>COMPLIANT</a:t>
            </a:r>
          </a:p>
        </p:txBody>
      </p:sp>
      <p:sp>
        <p:nvSpPr>
          <p:cNvPr id="115" name="Text 21"/>
          <p:cNvSpPr txBox="1"/>
          <p:nvPr/>
        </p:nvSpPr>
        <p:spPr>
          <a:xfrm>
            <a:off x="12353924" y="3270884"/>
            <a:ext cx="131064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approvals</a:t>
            </a:r>
          </a:p>
        </p:txBody>
      </p:sp>
      <p:sp>
        <p:nvSpPr>
          <p:cNvPr id="116" name="Text 22"/>
          <p:cNvSpPr txBox="1"/>
          <p:nvPr/>
        </p:nvSpPr>
        <p:spPr>
          <a:xfrm>
            <a:off x="16632555" y="3270884"/>
            <a:ext cx="35052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11243C"/>
                </a:solidFill>
                <a:latin typeface="Courier New"/>
                <a:ea typeface="Courier New"/>
                <a:cs typeface="Courier New"/>
                <a:sym typeface="Courier New"/>
              </a:defRPr>
            </a:lvl1pPr>
          </a:lstStyle>
          <a:p>
            <a:pPr/>
            <a:r>
              <a:t>47</a:t>
            </a:r>
          </a:p>
        </p:txBody>
      </p:sp>
      <p:pic>
        <p:nvPicPr>
          <p:cNvPr id="117" name="Image 0" descr="Image 0"/>
          <p:cNvPicPr>
            <a:picLocks noChangeAspect="1"/>
          </p:cNvPicPr>
          <p:nvPr/>
        </p:nvPicPr>
        <p:blipFill>
          <a:blip r:embed="rId3">
            <a:alphaModFix amt="70000"/>
            <a:extLst/>
          </a:blip>
          <a:stretch>
            <a:fillRect/>
          </a:stretch>
        </p:blipFill>
        <p:spPr>
          <a:xfrm>
            <a:off x="1143000" y="3943350"/>
            <a:ext cx="5029200" cy="171450"/>
          </a:xfrm>
          <a:prstGeom prst="rect">
            <a:avLst/>
          </a:prstGeom>
          <a:ln w="12700">
            <a:miter lim="400000"/>
          </a:ln>
        </p:spPr>
      </p:pic>
      <p:pic>
        <p:nvPicPr>
          <p:cNvPr id="118" name="Image 1" descr="Image 1"/>
          <p:cNvPicPr>
            <a:picLocks noChangeAspect="1"/>
          </p:cNvPicPr>
          <p:nvPr/>
        </p:nvPicPr>
        <p:blipFill>
          <a:blip r:embed="rId3">
            <a:alphaModFix amt="70000"/>
            <a:extLst/>
          </a:blip>
          <a:stretch>
            <a:fillRect/>
          </a:stretch>
        </p:blipFill>
        <p:spPr>
          <a:xfrm>
            <a:off x="6629400" y="3943350"/>
            <a:ext cx="5029200" cy="171450"/>
          </a:xfrm>
          <a:prstGeom prst="rect">
            <a:avLst/>
          </a:prstGeom>
          <a:ln w="12700">
            <a:miter lim="400000"/>
          </a:ln>
        </p:spPr>
      </p:pic>
      <p:sp>
        <p:nvSpPr>
          <p:cNvPr id="119" name="Shape 23"/>
          <p:cNvSpPr/>
          <p:nvPr/>
        </p:nvSpPr>
        <p:spPr>
          <a:xfrm>
            <a:off x="1143000" y="4248149"/>
            <a:ext cx="5029200" cy="3489168"/>
          </a:xfrm>
          <a:prstGeom prst="rect">
            <a:avLst/>
          </a:prstGeom>
          <a:solidFill>
            <a:srgbClr val="FFFCF0"/>
          </a:solidFill>
          <a:ln>
            <a:solidFill>
              <a:srgbClr val="C8C0A8"/>
            </a:solidFill>
          </a:ln>
        </p:spPr>
        <p:txBody>
          <a:bodyPr lIns="45719" rIns="45719"/>
          <a:lstStyle/>
          <a:p>
            <a:pPr/>
          </a:p>
        </p:txBody>
      </p:sp>
      <p:sp>
        <p:nvSpPr>
          <p:cNvPr id="120" name="Shape 24"/>
          <p:cNvSpPr/>
          <p:nvPr/>
        </p:nvSpPr>
        <p:spPr>
          <a:xfrm>
            <a:off x="1152525" y="4257675"/>
            <a:ext cx="5010150" cy="996314"/>
          </a:xfrm>
          <a:prstGeom prst="rect">
            <a:avLst/>
          </a:prstGeom>
          <a:solidFill>
            <a:srgbClr val="1D6657"/>
          </a:solidFill>
          <a:ln w="12700">
            <a:miter lim="400000"/>
          </a:ln>
        </p:spPr>
        <p:txBody>
          <a:bodyPr lIns="45719" rIns="45719"/>
          <a:lstStyle/>
          <a:p>
            <a:pPr/>
          </a:p>
        </p:txBody>
      </p:sp>
      <p:sp>
        <p:nvSpPr>
          <p:cNvPr id="121" name="Text 25"/>
          <p:cNvSpPr txBox="1"/>
          <p:nvPr/>
        </p:nvSpPr>
        <p:spPr>
          <a:xfrm>
            <a:off x="1381124" y="4410074"/>
            <a:ext cx="1268573" cy="3581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FDF6E7">
                    <a:alpha val="85000"/>
                  </a:srgbClr>
                </a:solidFill>
                <a:latin typeface="Arial"/>
                <a:ea typeface="Arial"/>
                <a:cs typeface="Arial"/>
                <a:sym typeface="Arial"/>
              </a:defRPr>
            </a:lvl1pPr>
          </a:lstStyle>
          <a:p>
            <a:pPr/>
            <a:r>
              <a:t>PHASE 1</a:t>
            </a:r>
          </a:p>
        </p:txBody>
      </p:sp>
      <p:sp>
        <p:nvSpPr>
          <p:cNvPr id="122" name="Text 26"/>
          <p:cNvSpPr txBox="1"/>
          <p:nvPr/>
        </p:nvSpPr>
        <p:spPr>
          <a:xfrm>
            <a:off x="1381124" y="4787265"/>
            <a:ext cx="3203539" cy="3524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10000"/>
              </a:lnSpc>
              <a:defRPr b="1" spc="-96" sz="2112">
                <a:solidFill>
                  <a:srgbClr val="FDF6E7"/>
                </a:solidFill>
                <a:latin typeface="Arial"/>
                <a:ea typeface="Arial"/>
                <a:cs typeface="Arial"/>
                <a:sym typeface="Arial"/>
              </a:defRPr>
            </a:lvl1pPr>
          </a:lstStyle>
          <a:p>
            <a:pPr/>
            <a:r>
              <a:t>Substantive Engagement</a:t>
            </a:r>
          </a:p>
        </p:txBody>
      </p:sp>
      <p:sp>
        <p:nvSpPr>
          <p:cNvPr id="123" name="Shape 27"/>
          <p:cNvSpPr/>
          <p:nvPr/>
        </p:nvSpPr>
        <p:spPr>
          <a:xfrm>
            <a:off x="1152525" y="5253990"/>
            <a:ext cx="5010150" cy="1400176"/>
          </a:xfrm>
          <a:prstGeom prst="rect">
            <a:avLst/>
          </a:prstGeom>
          <a:solidFill>
            <a:srgbClr val="F1EAD4"/>
          </a:solidFill>
          <a:ln w="12700">
            <a:miter lim="400000"/>
          </a:ln>
        </p:spPr>
        <p:txBody>
          <a:bodyPr lIns="45719" rIns="45719"/>
          <a:lstStyle/>
          <a:p>
            <a:pPr/>
          </a:p>
        </p:txBody>
      </p:sp>
      <p:sp>
        <p:nvSpPr>
          <p:cNvPr id="124" name="Shape 28"/>
          <p:cNvSpPr/>
          <p:nvPr/>
        </p:nvSpPr>
        <p:spPr>
          <a:xfrm>
            <a:off x="1152525" y="6643052"/>
            <a:ext cx="5010150" cy="12701"/>
          </a:xfrm>
          <a:prstGeom prst="rect">
            <a:avLst/>
          </a:prstGeom>
          <a:solidFill>
            <a:srgbClr val="DCD5C0"/>
          </a:solidFill>
          <a:ln w="12700">
            <a:miter lim="400000"/>
          </a:ln>
        </p:spPr>
        <p:txBody>
          <a:bodyPr lIns="45719" rIns="45719"/>
          <a:lstStyle/>
          <a:p>
            <a:pPr/>
          </a:p>
        </p:txBody>
      </p:sp>
      <p:sp>
        <p:nvSpPr>
          <p:cNvPr id="125" name="Shape 29"/>
          <p:cNvSpPr/>
          <p:nvPr/>
        </p:nvSpPr>
        <p:spPr>
          <a:xfrm>
            <a:off x="1381125" y="5756909"/>
            <a:ext cx="250191" cy="754381"/>
          </a:xfrm>
          <a:prstGeom prst="roundRect">
            <a:avLst>
              <a:gd name="adj" fmla="val 7614"/>
            </a:avLst>
          </a:prstGeom>
          <a:solidFill>
            <a:srgbClr val="1D6657"/>
          </a:solidFill>
          <a:ln w="12700">
            <a:miter lim="400000"/>
          </a:ln>
        </p:spPr>
        <p:txBody>
          <a:bodyPr lIns="45719" rIns="45719"/>
          <a:lstStyle/>
          <a:p>
            <a:pPr/>
          </a:p>
        </p:txBody>
      </p:sp>
      <p:sp>
        <p:nvSpPr>
          <p:cNvPr id="126" name="Shape 30"/>
          <p:cNvSpPr/>
          <p:nvPr/>
        </p:nvSpPr>
        <p:spPr>
          <a:xfrm>
            <a:off x="1688464" y="5589270"/>
            <a:ext cx="250191" cy="922021"/>
          </a:xfrm>
          <a:prstGeom prst="roundRect">
            <a:avLst>
              <a:gd name="adj" fmla="val 7614"/>
            </a:avLst>
          </a:prstGeom>
          <a:solidFill>
            <a:srgbClr val="1D6657"/>
          </a:solidFill>
          <a:ln w="12700">
            <a:miter lim="400000"/>
          </a:ln>
        </p:spPr>
        <p:txBody>
          <a:bodyPr lIns="45719" rIns="45719"/>
          <a:lstStyle/>
          <a:p>
            <a:pPr/>
          </a:p>
        </p:txBody>
      </p:sp>
      <p:sp>
        <p:nvSpPr>
          <p:cNvPr id="127" name="Shape 31"/>
          <p:cNvSpPr/>
          <p:nvPr/>
        </p:nvSpPr>
        <p:spPr>
          <a:xfrm>
            <a:off x="1995804" y="5924550"/>
            <a:ext cx="250191" cy="586741"/>
          </a:xfrm>
          <a:prstGeom prst="roundRect">
            <a:avLst>
              <a:gd name="adj" fmla="val 7614"/>
            </a:avLst>
          </a:prstGeom>
          <a:solidFill>
            <a:srgbClr val="1D6657"/>
          </a:solidFill>
          <a:ln w="12700">
            <a:miter lim="400000"/>
          </a:ln>
        </p:spPr>
        <p:txBody>
          <a:bodyPr lIns="45719" rIns="45719"/>
          <a:lstStyle/>
          <a:p>
            <a:pPr/>
          </a:p>
        </p:txBody>
      </p:sp>
      <p:sp>
        <p:nvSpPr>
          <p:cNvPr id="128" name="Shape 32"/>
          <p:cNvSpPr/>
          <p:nvPr/>
        </p:nvSpPr>
        <p:spPr>
          <a:xfrm>
            <a:off x="2303145" y="5547359"/>
            <a:ext cx="250191" cy="963931"/>
          </a:xfrm>
          <a:prstGeom prst="roundRect">
            <a:avLst>
              <a:gd name="adj" fmla="val 7614"/>
            </a:avLst>
          </a:prstGeom>
          <a:solidFill>
            <a:srgbClr val="1D6657"/>
          </a:solidFill>
          <a:ln w="12700">
            <a:miter lim="400000"/>
          </a:ln>
        </p:spPr>
        <p:txBody>
          <a:bodyPr lIns="45719" rIns="45719"/>
          <a:lstStyle/>
          <a:p>
            <a:pPr/>
          </a:p>
        </p:txBody>
      </p:sp>
      <p:sp>
        <p:nvSpPr>
          <p:cNvPr id="129" name="Shape 33"/>
          <p:cNvSpPr/>
          <p:nvPr/>
        </p:nvSpPr>
        <p:spPr>
          <a:xfrm>
            <a:off x="2610485" y="5840729"/>
            <a:ext cx="250191" cy="670561"/>
          </a:xfrm>
          <a:prstGeom prst="roundRect">
            <a:avLst>
              <a:gd name="adj" fmla="val 7614"/>
            </a:avLst>
          </a:prstGeom>
          <a:solidFill>
            <a:srgbClr val="1D6657"/>
          </a:solidFill>
          <a:ln w="12700">
            <a:miter lim="400000"/>
          </a:ln>
        </p:spPr>
        <p:txBody>
          <a:bodyPr lIns="45719" rIns="45719"/>
          <a:lstStyle/>
          <a:p>
            <a:pPr/>
          </a:p>
        </p:txBody>
      </p:sp>
      <p:sp>
        <p:nvSpPr>
          <p:cNvPr id="130" name="Shape 34"/>
          <p:cNvSpPr/>
          <p:nvPr/>
        </p:nvSpPr>
        <p:spPr>
          <a:xfrm>
            <a:off x="2917825" y="5694045"/>
            <a:ext cx="250191" cy="817246"/>
          </a:xfrm>
          <a:prstGeom prst="roundRect">
            <a:avLst>
              <a:gd name="adj" fmla="val 7614"/>
            </a:avLst>
          </a:prstGeom>
          <a:solidFill>
            <a:srgbClr val="1D6657"/>
          </a:solidFill>
          <a:ln w="12700">
            <a:miter lim="400000"/>
          </a:ln>
        </p:spPr>
        <p:txBody>
          <a:bodyPr lIns="45719" rIns="45719"/>
          <a:lstStyle/>
          <a:p>
            <a:pPr/>
          </a:p>
        </p:txBody>
      </p:sp>
      <p:sp>
        <p:nvSpPr>
          <p:cNvPr id="131" name="Shape 35"/>
          <p:cNvSpPr/>
          <p:nvPr/>
        </p:nvSpPr>
        <p:spPr>
          <a:xfrm>
            <a:off x="3225164" y="5631179"/>
            <a:ext cx="250191" cy="880111"/>
          </a:xfrm>
          <a:prstGeom prst="roundRect">
            <a:avLst>
              <a:gd name="adj" fmla="val 7614"/>
            </a:avLst>
          </a:prstGeom>
          <a:solidFill>
            <a:srgbClr val="1D6657"/>
          </a:solidFill>
          <a:ln w="12700">
            <a:miter lim="400000"/>
          </a:ln>
        </p:spPr>
        <p:txBody>
          <a:bodyPr lIns="45719" rIns="45719"/>
          <a:lstStyle/>
          <a:p>
            <a:pPr/>
          </a:p>
        </p:txBody>
      </p:sp>
      <p:sp>
        <p:nvSpPr>
          <p:cNvPr id="132" name="Shape 36"/>
          <p:cNvSpPr/>
          <p:nvPr/>
        </p:nvSpPr>
        <p:spPr>
          <a:xfrm>
            <a:off x="3532504" y="5987415"/>
            <a:ext cx="250191" cy="523876"/>
          </a:xfrm>
          <a:prstGeom prst="roundRect">
            <a:avLst>
              <a:gd name="adj" fmla="val 7614"/>
            </a:avLst>
          </a:prstGeom>
          <a:solidFill>
            <a:srgbClr val="1D6657"/>
          </a:solidFill>
          <a:ln w="12700">
            <a:miter lim="400000"/>
          </a:ln>
        </p:spPr>
        <p:txBody>
          <a:bodyPr lIns="45719" rIns="45719"/>
          <a:lstStyle/>
          <a:p>
            <a:pPr/>
          </a:p>
        </p:txBody>
      </p:sp>
      <p:sp>
        <p:nvSpPr>
          <p:cNvPr id="133" name="Shape 37"/>
          <p:cNvSpPr/>
          <p:nvPr/>
        </p:nvSpPr>
        <p:spPr>
          <a:xfrm>
            <a:off x="3839845" y="5568315"/>
            <a:ext cx="250191" cy="942976"/>
          </a:xfrm>
          <a:prstGeom prst="roundRect">
            <a:avLst>
              <a:gd name="adj" fmla="val 7614"/>
            </a:avLst>
          </a:prstGeom>
          <a:solidFill>
            <a:srgbClr val="1D6657"/>
          </a:solidFill>
          <a:ln w="12700">
            <a:miter lim="400000"/>
          </a:ln>
        </p:spPr>
        <p:txBody>
          <a:bodyPr lIns="45719" rIns="45719"/>
          <a:lstStyle/>
          <a:p>
            <a:pPr/>
          </a:p>
        </p:txBody>
      </p:sp>
      <p:sp>
        <p:nvSpPr>
          <p:cNvPr id="134" name="Shape 38"/>
          <p:cNvSpPr/>
          <p:nvPr/>
        </p:nvSpPr>
        <p:spPr>
          <a:xfrm>
            <a:off x="4147184" y="5798820"/>
            <a:ext cx="250191" cy="712471"/>
          </a:xfrm>
          <a:prstGeom prst="roundRect">
            <a:avLst>
              <a:gd name="adj" fmla="val 7614"/>
            </a:avLst>
          </a:prstGeom>
          <a:solidFill>
            <a:srgbClr val="1D6657"/>
          </a:solidFill>
          <a:ln w="12700">
            <a:miter lim="400000"/>
          </a:ln>
        </p:spPr>
        <p:txBody>
          <a:bodyPr lIns="45719" rIns="45719"/>
          <a:lstStyle/>
          <a:p>
            <a:pPr/>
          </a:p>
        </p:txBody>
      </p:sp>
      <p:sp>
        <p:nvSpPr>
          <p:cNvPr id="135" name="Shape 39"/>
          <p:cNvSpPr/>
          <p:nvPr/>
        </p:nvSpPr>
        <p:spPr>
          <a:xfrm>
            <a:off x="4454525" y="5652134"/>
            <a:ext cx="250191" cy="859156"/>
          </a:xfrm>
          <a:prstGeom prst="roundRect">
            <a:avLst>
              <a:gd name="adj" fmla="val 7614"/>
            </a:avLst>
          </a:prstGeom>
          <a:solidFill>
            <a:srgbClr val="1D6657"/>
          </a:solidFill>
          <a:ln w="12700">
            <a:miter lim="400000"/>
          </a:ln>
        </p:spPr>
        <p:txBody>
          <a:bodyPr lIns="45719" rIns="45719"/>
          <a:lstStyle/>
          <a:p>
            <a:pPr/>
          </a:p>
        </p:txBody>
      </p:sp>
      <p:sp>
        <p:nvSpPr>
          <p:cNvPr id="136" name="Shape 40"/>
          <p:cNvSpPr/>
          <p:nvPr/>
        </p:nvSpPr>
        <p:spPr>
          <a:xfrm>
            <a:off x="4761865" y="5882640"/>
            <a:ext cx="250191" cy="628651"/>
          </a:xfrm>
          <a:prstGeom prst="roundRect">
            <a:avLst>
              <a:gd name="adj" fmla="val 7614"/>
            </a:avLst>
          </a:prstGeom>
          <a:solidFill>
            <a:srgbClr val="1D6657"/>
          </a:solidFill>
          <a:ln w="12700">
            <a:miter lim="400000"/>
          </a:ln>
        </p:spPr>
        <p:txBody>
          <a:bodyPr lIns="45719" rIns="45719"/>
          <a:lstStyle/>
          <a:p>
            <a:pPr/>
          </a:p>
        </p:txBody>
      </p:sp>
      <p:sp>
        <p:nvSpPr>
          <p:cNvPr id="137" name="Shape 41"/>
          <p:cNvSpPr/>
          <p:nvPr/>
        </p:nvSpPr>
        <p:spPr>
          <a:xfrm>
            <a:off x="5069204" y="5610225"/>
            <a:ext cx="250191" cy="901065"/>
          </a:xfrm>
          <a:prstGeom prst="roundRect">
            <a:avLst>
              <a:gd name="adj" fmla="val 7614"/>
            </a:avLst>
          </a:prstGeom>
          <a:solidFill>
            <a:srgbClr val="1D6657"/>
          </a:solidFill>
          <a:ln w="12700">
            <a:miter lim="400000"/>
          </a:ln>
        </p:spPr>
        <p:txBody>
          <a:bodyPr lIns="45719" rIns="45719"/>
          <a:lstStyle/>
          <a:p>
            <a:pPr/>
          </a:p>
        </p:txBody>
      </p:sp>
      <p:sp>
        <p:nvSpPr>
          <p:cNvPr id="138" name="Shape 42"/>
          <p:cNvSpPr/>
          <p:nvPr/>
        </p:nvSpPr>
        <p:spPr>
          <a:xfrm>
            <a:off x="5376545" y="5735954"/>
            <a:ext cx="250191" cy="775336"/>
          </a:xfrm>
          <a:prstGeom prst="roundRect">
            <a:avLst>
              <a:gd name="adj" fmla="val 7614"/>
            </a:avLst>
          </a:prstGeom>
          <a:solidFill>
            <a:srgbClr val="1D6657"/>
          </a:solidFill>
          <a:ln w="12700">
            <a:miter lim="400000"/>
          </a:ln>
        </p:spPr>
        <p:txBody>
          <a:bodyPr lIns="45719" rIns="45719"/>
          <a:lstStyle/>
          <a:p>
            <a:pPr/>
          </a:p>
        </p:txBody>
      </p:sp>
      <p:sp>
        <p:nvSpPr>
          <p:cNvPr id="139" name="Shape 43"/>
          <p:cNvSpPr/>
          <p:nvPr/>
        </p:nvSpPr>
        <p:spPr>
          <a:xfrm>
            <a:off x="5683884" y="5547359"/>
            <a:ext cx="250191" cy="963931"/>
          </a:xfrm>
          <a:prstGeom prst="roundRect">
            <a:avLst>
              <a:gd name="adj" fmla="val 7614"/>
            </a:avLst>
          </a:prstGeom>
          <a:solidFill>
            <a:srgbClr val="1D6657"/>
          </a:solidFill>
          <a:ln w="12700">
            <a:miter lim="400000"/>
          </a:ln>
        </p:spPr>
        <p:txBody>
          <a:bodyPr lIns="45719" rIns="45719"/>
          <a:lstStyle/>
          <a:p>
            <a:pPr/>
          </a:p>
        </p:txBody>
      </p:sp>
      <p:sp>
        <p:nvSpPr>
          <p:cNvPr id="140" name="Text 44"/>
          <p:cNvSpPr txBox="1"/>
          <p:nvPr/>
        </p:nvSpPr>
        <p:spPr>
          <a:xfrm>
            <a:off x="1381124" y="6808151"/>
            <a:ext cx="3769619"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31987"/>
              </a:lnSpc>
              <a:defRPr sz="1843">
                <a:solidFill>
                  <a:srgbClr val="11243C"/>
                </a:solidFill>
                <a:latin typeface="Arial"/>
                <a:ea typeface="Arial"/>
                <a:cs typeface="Arial"/>
                <a:sym typeface="Arial"/>
              </a:defRPr>
            </a:lvl1pPr>
          </a:lstStyle>
          <a:p>
            <a:pPr/>
            <a:r>
              <a:t>Catches errors. Modifies. Escalates.</a:t>
            </a:r>
          </a:p>
        </p:txBody>
      </p:sp>
      <p:sp>
        <p:nvSpPr>
          <p:cNvPr id="141" name="Text 45"/>
          <p:cNvSpPr txBox="1"/>
          <p:nvPr/>
        </p:nvSpPr>
        <p:spPr>
          <a:xfrm>
            <a:off x="1381125" y="7209631"/>
            <a:ext cx="4689539" cy="3467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a:solidFill>
                  <a:srgbClr val="7A7363"/>
                </a:solidFill>
                <a:latin typeface="Arial"/>
                <a:ea typeface="Arial"/>
                <a:cs typeface="Arial"/>
                <a:sym typeface="Arial"/>
              </a:defRPr>
            </a:lvl1pPr>
          </a:lstStyle>
          <a:p>
            <a:pPr/>
            <a:r>
              <a:t>Takes time and attention.</a:t>
            </a:r>
          </a:p>
        </p:txBody>
      </p:sp>
      <p:sp>
        <p:nvSpPr>
          <p:cNvPr id="142" name="Shape 46"/>
          <p:cNvSpPr/>
          <p:nvPr/>
        </p:nvSpPr>
        <p:spPr>
          <a:xfrm>
            <a:off x="6629400" y="4248149"/>
            <a:ext cx="5029200" cy="3489168"/>
          </a:xfrm>
          <a:prstGeom prst="rect">
            <a:avLst/>
          </a:prstGeom>
          <a:solidFill>
            <a:srgbClr val="FFFCF0"/>
          </a:solidFill>
          <a:ln>
            <a:solidFill>
              <a:srgbClr val="C8C0A8"/>
            </a:solidFill>
          </a:ln>
        </p:spPr>
        <p:txBody>
          <a:bodyPr lIns="45719" rIns="45719"/>
          <a:lstStyle/>
          <a:p>
            <a:pPr/>
          </a:p>
        </p:txBody>
      </p:sp>
      <p:sp>
        <p:nvSpPr>
          <p:cNvPr id="143" name="Shape 47"/>
          <p:cNvSpPr/>
          <p:nvPr/>
        </p:nvSpPr>
        <p:spPr>
          <a:xfrm>
            <a:off x="6638925" y="4257675"/>
            <a:ext cx="5010150" cy="996314"/>
          </a:xfrm>
          <a:prstGeom prst="rect">
            <a:avLst/>
          </a:prstGeom>
          <a:solidFill>
            <a:srgbClr val="7A7363"/>
          </a:solidFill>
          <a:ln w="12700">
            <a:miter lim="400000"/>
          </a:ln>
        </p:spPr>
        <p:txBody>
          <a:bodyPr lIns="45719" rIns="45719"/>
          <a:lstStyle/>
          <a:p>
            <a:pPr/>
          </a:p>
        </p:txBody>
      </p:sp>
      <p:sp>
        <p:nvSpPr>
          <p:cNvPr id="144" name="Text 48"/>
          <p:cNvSpPr txBox="1"/>
          <p:nvPr/>
        </p:nvSpPr>
        <p:spPr>
          <a:xfrm>
            <a:off x="6867524" y="4410074"/>
            <a:ext cx="1268573" cy="3581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FDF6E7">
                    <a:alpha val="85000"/>
                  </a:srgbClr>
                </a:solidFill>
                <a:latin typeface="Arial"/>
                <a:ea typeface="Arial"/>
                <a:cs typeface="Arial"/>
                <a:sym typeface="Arial"/>
              </a:defRPr>
            </a:lvl1pPr>
          </a:lstStyle>
          <a:p>
            <a:pPr/>
            <a:r>
              <a:t>PHASE 2</a:t>
            </a:r>
          </a:p>
        </p:txBody>
      </p:sp>
      <p:sp>
        <p:nvSpPr>
          <p:cNvPr id="145" name="Text 49"/>
          <p:cNvSpPr txBox="1"/>
          <p:nvPr/>
        </p:nvSpPr>
        <p:spPr>
          <a:xfrm>
            <a:off x="6867524" y="4787265"/>
            <a:ext cx="2647106" cy="3524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10000"/>
              </a:lnSpc>
              <a:defRPr b="1" spc="-96" sz="2112">
                <a:solidFill>
                  <a:srgbClr val="FDF6E7"/>
                </a:solidFill>
                <a:latin typeface="Arial"/>
                <a:ea typeface="Arial"/>
                <a:cs typeface="Arial"/>
                <a:sym typeface="Arial"/>
              </a:defRPr>
            </a:lvl1pPr>
          </a:lstStyle>
          <a:p>
            <a:pPr/>
            <a:r>
              <a:t>Procedural Scanning</a:t>
            </a:r>
          </a:p>
        </p:txBody>
      </p:sp>
      <p:sp>
        <p:nvSpPr>
          <p:cNvPr id="146" name="Shape 50"/>
          <p:cNvSpPr/>
          <p:nvPr/>
        </p:nvSpPr>
        <p:spPr>
          <a:xfrm>
            <a:off x="6638925" y="5253990"/>
            <a:ext cx="5010150" cy="1400176"/>
          </a:xfrm>
          <a:prstGeom prst="rect">
            <a:avLst/>
          </a:prstGeom>
          <a:solidFill>
            <a:srgbClr val="F1EAD4"/>
          </a:solidFill>
          <a:ln w="12700">
            <a:miter lim="400000"/>
          </a:ln>
        </p:spPr>
        <p:txBody>
          <a:bodyPr lIns="45719" rIns="45719"/>
          <a:lstStyle/>
          <a:p>
            <a:pPr/>
          </a:p>
        </p:txBody>
      </p:sp>
      <p:sp>
        <p:nvSpPr>
          <p:cNvPr id="147" name="Shape 51"/>
          <p:cNvSpPr/>
          <p:nvPr/>
        </p:nvSpPr>
        <p:spPr>
          <a:xfrm>
            <a:off x="6638925" y="6643052"/>
            <a:ext cx="5010150" cy="12701"/>
          </a:xfrm>
          <a:prstGeom prst="rect">
            <a:avLst/>
          </a:prstGeom>
          <a:solidFill>
            <a:srgbClr val="DCD5C0"/>
          </a:solidFill>
          <a:ln w="12700">
            <a:miter lim="400000"/>
          </a:ln>
        </p:spPr>
        <p:txBody>
          <a:bodyPr lIns="45719" rIns="45719"/>
          <a:lstStyle/>
          <a:p>
            <a:pPr/>
          </a:p>
        </p:txBody>
      </p:sp>
      <p:sp>
        <p:nvSpPr>
          <p:cNvPr id="148" name="Shape 52"/>
          <p:cNvSpPr/>
          <p:nvPr/>
        </p:nvSpPr>
        <p:spPr>
          <a:xfrm>
            <a:off x="6867525" y="6239033"/>
            <a:ext cx="250191" cy="272257"/>
          </a:xfrm>
          <a:prstGeom prst="roundRect">
            <a:avLst>
              <a:gd name="adj" fmla="val 7614"/>
            </a:avLst>
          </a:prstGeom>
          <a:solidFill>
            <a:srgbClr val="C08A2E"/>
          </a:solidFill>
          <a:ln w="12700">
            <a:miter lim="400000"/>
          </a:ln>
        </p:spPr>
        <p:txBody>
          <a:bodyPr lIns="45719" rIns="45719"/>
          <a:lstStyle/>
          <a:p>
            <a:pPr/>
          </a:p>
        </p:txBody>
      </p:sp>
      <p:sp>
        <p:nvSpPr>
          <p:cNvPr id="149" name="Shape 53"/>
          <p:cNvSpPr/>
          <p:nvPr/>
        </p:nvSpPr>
        <p:spPr>
          <a:xfrm>
            <a:off x="7174865"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50" name="Shape 54"/>
          <p:cNvSpPr/>
          <p:nvPr/>
        </p:nvSpPr>
        <p:spPr>
          <a:xfrm>
            <a:off x="7482205" y="6155054"/>
            <a:ext cx="250191" cy="356236"/>
          </a:xfrm>
          <a:prstGeom prst="roundRect">
            <a:avLst>
              <a:gd name="adj" fmla="val 7614"/>
            </a:avLst>
          </a:prstGeom>
          <a:solidFill>
            <a:srgbClr val="C08A2E"/>
          </a:solidFill>
          <a:ln w="12700">
            <a:miter lim="400000"/>
          </a:ln>
        </p:spPr>
        <p:txBody>
          <a:bodyPr lIns="45719" rIns="45719"/>
          <a:lstStyle/>
          <a:p>
            <a:pPr/>
          </a:p>
        </p:txBody>
      </p:sp>
      <p:sp>
        <p:nvSpPr>
          <p:cNvPr id="151" name="Shape 55"/>
          <p:cNvSpPr/>
          <p:nvPr/>
        </p:nvSpPr>
        <p:spPr>
          <a:xfrm>
            <a:off x="7789544"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52" name="Shape 56"/>
          <p:cNvSpPr/>
          <p:nvPr/>
        </p:nvSpPr>
        <p:spPr>
          <a:xfrm>
            <a:off x="8096884" y="6280784"/>
            <a:ext cx="250191" cy="230506"/>
          </a:xfrm>
          <a:prstGeom prst="roundRect">
            <a:avLst>
              <a:gd name="adj" fmla="val 8264"/>
            </a:avLst>
          </a:prstGeom>
          <a:solidFill>
            <a:srgbClr val="C08A2E"/>
          </a:solidFill>
          <a:ln w="12700">
            <a:miter lim="400000"/>
          </a:ln>
        </p:spPr>
        <p:txBody>
          <a:bodyPr lIns="45719" rIns="45719"/>
          <a:lstStyle/>
          <a:p>
            <a:pPr/>
          </a:p>
        </p:txBody>
      </p:sp>
      <p:sp>
        <p:nvSpPr>
          <p:cNvPr id="153" name="Shape 57"/>
          <p:cNvSpPr/>
          <p:nvPr/>
        </p:nvSpPr>
        <p:spPr>
          <a:xfrm>
            <a:off x="8404225"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54" name="Shape 58"/>
          <p:cNvSpPr/>
          <p:nvPr/>
        </p:nvSpPr>
        <p:spPr>
          <a:xfrm>
            <a:off x="8711565" y="6322695"/>
            <a:ext cx="250191" cy="188596"/>
          </a:xfrm>
          <a:prstGeom prst="roundRect">
            <a:avLst>
              <a:gd name="adj" fmla="val 10101"/>
            </a:avLst>
          </a:prstGeom>
          <a:solidFill>
            <a:srgbClr val="C08A2E"/>
          </a:solidFill>
          <a:ln w="12700">
            <a:miter lim="400000"/>
          </a:ln>
        </p:spPr>
        <p:txBody>
          <a:bodyPr lIns="45719" rIns="45719"/>
          <a:lstStyle/>
          <a:p>
            <a:pPr/>
          </a:p>
        </p:txBody>
      </p:sp>
      <p:sp>
        <p:nvSpPr>
          <p:cNvPr id="155" name="Shape 59"/>
          <p:cNvSpPr/>
          <p:nvPr/>
        </p:nvSpPr>
        <p:spPr>
          <a:xfrm>
            <a:off x="9018905" y="6196965"/>
            <a:ext cx="250191" cy="314326"/>
          </a:xfrm>
          <a:prstGeom prst="roundRect">
            <a:avLst>
              <a:gd name="adj" fmla="val 7614"/>
            </a:avLst>
          </a:prstGeom>
          <a:solidFill>
            <a:srgbClr val="C08A2E"/>
          </a:solidFill>
          <a:ln w="12700">
            <a:miter lim="400000"/>
          </a:ln>
        </p:spPr>
        <p:txBody>
          <a:bodyPr lIns="45719" rIns="45719"/>
          <a:lstStyle/>
          <a:p>
            <a:pPr/>
          </a:p>
        </p:txBody>
      </p:sp>
      <p:sp>
        <p:nvSpPr>
          <p:cNvPr id="156" name="Shape 60"/>
          <p:cNvSpPr/>
          <p:nvPr/>
        </p:nvSpPr>
        <p:spPr>
          <a:xfrm>
            <a:off x="9326244"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57" name="Shape 61"/>
          <p:cNvSpPr/>
          <p:nvPr/>
        </p:nvSpPr>
        <p:spPr>
          <a:xfrm>
            <a:off x="9633584" y="6343650"/>
            <a:ext cx="250191" cy="167640"/>
          </a:xfrm>
          <a:prstGeom prst="roundRect">
            <a:avLst>
              <a:gd name="adj" fmla="val 11364"/>
            </a:avLst>
          </a:prstGeom>
          <a:solidFill>
            <a:srgbClr val="C08A2E"/>
          </a:solidFill>
          <a:ln w="12700">
            <a:miter lim="400000"/>
          </a:ln>
        </p:spPr>
        <p:txBody>
          <a:bodyPr lIns="45719" rIns="45719"/>
          <a:lstStyle/>
          <a:p>
            <a:pPr/>
          </a:p>
        </p:txBody>
      </p:sp>
      <p:sp>
        <p:nvSpPr>
          <p:cNvPr id="158" name="Shape 62"/>
          <p:cNvSpPr/>
          <p:nvPr/>
        </p:nvSpPr>
        <p:spPr>
          <a:xfrm>
            <a:off x="9940925"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59" name="Shape 63"/>
          <p:cNvSpPr/>
          <p:nvPr/>
        </p:nvSpPr>
        <p:spPr>
          <a:xfrm>
            <a:off x="10248265" y="6259829"/>
            <a:ext cx="250191" cy="251461"/>
          </a:xfrm>
          <a:prstGeom prst="roundRect">
            <a:avLst>
              <a:gd name="adj" fmla="val 7614"/>
            </a:avLst>
          </a:prstGeom>
          <a:solidFill>
            <a:srgbClr val="C08A2E"/>
          </a:solidFill>
          <a:ln w="12700">
            <a:miter lim="400000"/>
          </a:ln>
        </p:spPr>
        <p:txBody>
          <a:bodyPr lIns="45719" rIns="45719"/>
          <a:lstStyle/>
          <a:p>
            <a:pPr/>
          </a:p>
        </p:txBody>
      </p:sp>
      <p:sp>
        <p:nvSpPr>
          <p:cNvPr id="160" name="Shape 64"/>
          <p:cNvSpPr/>
          <p:nvPr/>
        </p:nvSpPr>
        <p:spPr>
          <a:xfrm>
            <a:off x="10555605"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61" name="Shape 65"/>
          <p:cNvSpPr/>
          <p:nvPr/>
        </p:nvSpPr>
        <p:spPr>
          <a:xfrm>
            <a:off x="10862944" y="6364604"/>
            <a:ext cx="250191" cy="146686"/>
          </a:xfrm>
          <a:prstGeom prst="roundRect">
            <a:avLst>
              <a:gd name="adj" fmla="val 12987"/>
            </a:avLst>
          </a:prstGeom>
          <a:solidFill>
            <a:srgbClr val="C08A2E"/>
          </a:solidFill>
          <a:ln w="12700">
            <a:miter lim="400000"/>
          </a:ln>
        </p:spPr>
        <p:txBody>
          <a:bodyPr lIns="45719" rIns="45719"/>
          <a:lstStyle/>
          <a:p>
            <a:pPr/>
          </a:p>
        </p:txBody>
      </p:sp>
      <p:sp>
        <p:nvSpPr>
          <p:cNvPr id="162" name="Shape 66"/>
          <p:cNvSpPr/>
          <p:nvPr/>
        </p:nvSpPr>
        <p:spPr>
          <a:xfrm>
            <a:off x="11170285" y="6492240"/>
            <a:ext cx="250191" cy="19051"/>
          </a:xfrm>
          <a:prstGeom prst="roundRect">
            <a:avLst>
              <a:gd name="adj" fmla="val 50000"/>
            </a:avLst>
          </a:prstGeom>
          <a:solidFill>
            <a:srgbClr val="C08A2E"/>
          </a:solidFill>
          <a:ln w="12700">
            <a:miter lim="400000"/>
          </a:ln>
        </p:spPr>
        <p:txBody>
          <a:bodyPr lIns="45719" rIns="45719"/>
          <a:lstStyle/>
          <a:p>
            <a:pPr/>
          </a:p>
        </p:txBody>
      </p:sp>
      <p:sp>
        <p:nvSpPr>
          <p:cNvPr id="163" name="Text 67"/>
          <p:cNvSpPr txBox="1"/>
          <p:nvPr/>
        </p:nvSpPr>
        <p:spPr>
          <a:xfrm>
            <a:off x="6867525" y="6808151"/>
            <a:ext cx="3583867"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31987"/>
              </a:lnSpc>
              <a:defRPr sz="1900">
                <a:solidFill>
                  <a:srgbClr val="11243C"/>
                </a:solidFill>
                <a:latin typeface="Arial"/>
                <a:ea typeface="Arial"/>
                <a:cs typeface="Arial"/>
                <a:sym typeface="Arial"/>
              </a:defRPr>
            </a:lvl1pPr>
          </a:lstStyle>
          <a:p>
            <a:pPr/>
            <a:r>
              <a:t>Pattern-matches. Approves most.</a:t>
            </a:r>
          </a:p>
        </p:txBody>
      </p:sp>
      <p:sp>
        <p:nvSpPr>
          <p:cNvPr id="164" name="Text 68"/>
          <p:cNvSpPr txBox="1"/>
          <p:nvPr/>
        </p:nvSpPr>
        <p:spPr>
          <a:xfrm>
            <a:off x="6867525" y="7209631"/>
            <a:ext cx="4689539" cy="3467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a:solidFill>
                  <a:srgbClr val="7A7363"/>
                </a:solidFill>
                <a:latin typeface="Arial"/>
                <a:ea typeface="Arial"/>
                <a:cs typeface="Arial"/>
                <a:sym typeface="Arial"/>
              </a:defRPr>
            </a:lvl1pPr>
          </a:lstStyle>
          <a:p>
            <a:pPr/>
            <a:r>
              <a:t>Threshold rose. Quality didn't.</a:t>
            </a:r>
          </a:p>
        </p:txBody>
      </p:sp>
      <p:sp>
        <p:nvSpPr>
          <p:cNvPr id="165" name="Shape 69"/>
          <p:cNvSpPr/>
          <p:nvPr/>
        </p:nvSpPr>
        <p:spPr>
          <a:xfrm>
            <a:off x="12115800" y="4248149"/>
            <a:ext cx="5029200" cy="3489168"/>
          </a:xfrm>
          <a:prstGeom prst="rect">
            <a:avLst/>
          </a:prstGeom>
          <a:solidFill>
            <a:srgbClr val="FFFCF0"/>
          </a:solidFill>
          <a:ln>
            <a:solidFill>
              <a:srgbClr val="C8C0A8"/>
            </a:solidFill>
          </a:ln>
        </p:spPr>
        <p:txBody>
          <a:bodyPr lIns="45719" rIns="45719"/>
          <a:lstStyle/>
          <a:p>
            <a:pPr/>
          </a:p>
        </p:txBody>
      </p:sp>
      <p:sp>
        <p:nvSpPr>
          <p:cNvPr id="166" name="Shape 70"/>
          <p:cNvSpPr/>
          <p:nvPr/>
        </p:nvSpPr>
        <p:spPr>
          <a:xfrm>
            <a:off x="12125325" y="4257675"/>
            <a:ext cx="5010150" cy="996314"/>
          </a:xfrm>
          <a:prstGeom prst="rect">
            <a:avLst/>
          </a:prstGeom>
          <a:solidFill>
            <a:srgbClr val="B8451E"/>
          </a:solidFill>
          <a:ln w="12700">
            <a:miter lim="400000"/>
          </a:ln>
        </p:spPr>
        <p:txBody>
          <a:bodyPr lIns="45719" rIns="45719"/>
          <a:lstStyle/>
          <a:p>
            <a:pPr/>
          </a:p>
        </p:txBody>
      </p:sp>
      <p:sp>
        <p:nvSpPr>
          <p:cNvPr id="167" name="Text 71"/>
          <p:cNvSpPr txBox="1"/>
          <p:nvPr/>
        </p:nvSpPr>
        <p:spPr>
          <a:xfrm>
            <a:off x="12353924" y="4410074"/>
            <a:ext cx="1268573" cy="3581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FDF6E7">
                    <a:alpha val="85000"/>
                  </a:srgbClr>
                </a:solidFill>
                <a:latin typeface="Arial"/>
                <a:ea typeface="Arial"/>
                <a:cs typeface="Arial"/>
                <a:sym typeface="Arial"/>
              </a:defRPr>
            </a:lvl1pPr>
          </a:lstStyle>
          <a:p>
            <a:pPr/>
            <a:r>
              <a:t>PHASE 3</a:t>
            </a:r>
          </a:p>
        </p:txBody>
      </p:sp>
      <p:sp>
        <p:nvSpPr>
          <p:cNvPr id="168" name="Text 72"/>
          <p:cNvSpPr txBox="1"/>
          <p:nvPr/>
        </p:nvSpPr>
        <p:spPr>
          <a:xfrm>
            <a:off x="12353924" y="4787265"/>
            <a:ext cx="1294608" cy="3524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10000"/>
              </a:lnSpc>
              <a:defRPr b="1" spc="-96" sz="2112">
                <a:solidFill>
                  <a:srgbClr val="FDF6E7"/>
                </a:solidFill>
                <a:latin typeface="Arial"/>
                <a:ea typeface="Arial"/>
                <a:cs typeface="Arial"/>
                <a:sym typeface="Arial"/>
              </a:defRPr>
            </a:lvl1pPr>
          </a:lstStyle>
          <a:p>
            <a:pPr/>
            <a:r>
              <a:t>Formality</a:t>
            </a:r>
          </a:p>
        </p:txBody>
      </p:sp>
      <p:sp>
        <p:nvSpPr>
          <p:cNvPr id="169" name="Shape 73"/>
          <p:cNvSpPr/>
          <p:nvPr/>
        </p:nvSpPr>
        <p:spPr>
          <a:xfrm>
            <a:off x="12125325" y="5253990"/>
            <a:ext cx="5010150" cy="1400176"/>
          </a:xfrm>
          <a:prstGeom prst="rect">
            <a:avLst/>
          </a:prstGeom>
          <a:solidFill>
            <a:srgbClr val="F1EAD4"/>
          </a:solidFill>
          <a:ln w="12700">
            <a:miter lim="400000"/>
          </a:ln>
        </p:spPr>
        <p:txBody>
          <a:bodyPr lIns="45719" rIns="45719"/>
          <a:lstStyle/>
          <a:p>
            <a:pPr/>
          </a:p>
        </p:txBody>
      </p:sp>
      <p:sp>
        <p:nvSpPr>
          <p:cNvPr id="170" name="Shape 74"/>
          <p:cNvSpPr/>
          <p:nvPr/>
        </p:nvSpPr>
        <p:spPr>
          <a:xfrm>
            <a:off x="12125325" y="6643052"/>
            <a:ext cx="5010150" cy="12701"/>
          </a:xfrm>
          <a:prstGeom prst="rect">
            <a:avLst/>
          </a:prstGeom>
          <a:solidFill>
            <a:srgbClr val="DCD5C0"/>
          </a:solidFill>
          <a:ln w="12700">
            <a:miter lim="400000"/>
          </a:ln>
        </p:spPr>
        <p:txBody>
          <a:bodyPr lIns="45719" rIns="45719"/>
          <a:lstStyle/>
          <a:p>
            <a:pPr/>
          </a:p>
        </p:txBody>
      </p:sp>
      <p:sp>
        <p:nvSpPr>
          <p:cNvPr id="171" name="Shape 75"/>
          <p:cNvSpPr/>
          <p:nvPr/>
        </p:nvSpPr>
        <p:spPr>
          <a:xfrm>
            <a:off x="1235392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2" name="Shape 76"/>
          <p:cNvSpPr/>
          <p:nvPr/>
        </p:nvSpPr>
        <p:spPr>
          <a:xfrm>
            <a:off x="12661264"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3" name="Shape 77"/>
          <p:cNvSpPr/>
          <p:nvPr/>
        </p:nvSpPr>
        <p:spPr>
          <a:xfrm>
            <a:off x="1296860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4" name="Shape 78"/>
          <p:cNvSpPr/>
          <p:nvPr/>
        </p:nvSpPr>
        <p:spPr>
          <a:xfrm>
            <a:off x="13275944" y="6469379"/>
            <a:ext cx="250191" cy="41911"/>
          </a:xfrm>
          <a:prstGeom prst="roundRect">
            <a:avLst>
              <a:gd name="adj" fmla="val 45455"/>
            </a:avLst>
          </a:prstGeom>
          <a:solidFill>
            <a:srgbClr val="B8451E"/>
          </a:solidFill>
          <a:ln w="12700">
            <a:miter lim="400000"/>
          </a:ln>
        </p:spPr>
        <p:txBody>
          <a:bodyPr lIns="45719" rIns="45719"/>
          <a:lstStyle/>
          <a:p>
            <a:pPr/>
          </a:p>
        </p:txBody>
      </p:sp>
      <p:sp>
        <p:nvSpPr>
          <p:cNvPr id="175" name="Shape 79"/>
          <p:cNvSpPr/>
          <p:nvPr/>
        </p:nvSpPr>
        <p:spPr>
          <a:xfrm>
            <a:off x="1358328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6" name="Shape 80"/>
          <p:cNvSpPr/>
          <p:nvPr/>
        </p:nvSpPr>
        <p:spPr>
          <a:xfrm>
            <a:off x="1389062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7" name="Shape 81"/>
          <p:cNvSpPr/>
          <p:nvPr/>
        </p:nvSpPr>
        <p:spPr>
          <a:xfrm>
            <a:off x="14197964"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8" name="Shape 82"/>
          <p:cNvSpPr/>
          <p:nvPr/>
        </p:nvSpPr>
        <p:spPr>
          <a:xfrm>
            <a:off x="1450530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79" name="Shape 83"/>
          <p:cNvSpPr/>
          <p:nvPr/>
        </p:nvSpPr>
        <p:spPr>
          <a:xfrm>
            <a:off x="14812644" y="6448425"/>
            <a:ext cx="250191" cy="62865"/>
          </a:xfrm>
          <a:prstGeom prst="roundRect">
            <a:avLst>
              <a:gd name="adj" fmla="val 30303"/>
            </a:avLst>
          </a:prstGeom>
          <a:solidFill>
            <a:srgbClr val="B8451E"/>
          </a:solidFill>
          <a:ln w="12700">
            <a:miter lim="400000"/>
          </a:ln>
        </p:spPr>
        <p:txBody>
          <a:bodyPr lIns="45719" rIns="45719"/>
          <a:lstStyle/>
          <a:p>
            <a:pPr/>
          </a:p>
        </p:txBody>
      </p:sp>
      <p:sp>
        <p:nvSpPr>
          <p:cNvPr id="180" name="Shape 84"/>
          <p:cNvSpPr/>
          <p:nvPr/>
        </p:nvSpPr>
        <p:spPr>
          <a:xfrm>
            <a:off x="1511998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1" name="Shape 85"/>
          <p:cNvSpPr/>
          <p:nvPr/>
        </p:nvSpPr>
        <p:spPr>
          <a:xfrm>
            <a:off x="1542732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2" name="Shape 86"/>
          <p:cNvSpPr/>
          <p:nvPr/>
        </p:nvSpPr>
        <p:spPr>
          <a:xfrm>
            <a:off x="15734664"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3" name="Shape 87"/>
          <p:cNvSpPr/>
          <p:nvPr/>
        </p:nvSpPr>
        <p:spPr>
          <a:xfrm>
            <a:off x="1604200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4" name="Shape 88"/>
          <p:cNvSpPr/>
          <p:nvPr/>
        </p:nvSpPr>
        <p:spPr>
          <a:xfrm>
            <a:off x="16349344"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5" name="Shape 89"/>
          <p:cNvSpPr/>
          <p:nvPr/>
        </p:nvSpPr>
        <p:spPr>
          <a:xfrm>
            <a:off x="16656685" y="6492240"/>
            <a:ext cx="250191" cy="19051"/>
          </a:xfrm>
          <a:prstGeom prst="roundRect">
            <a:avLst>
              <a:gd name="adj" fmla="val 50000"/>
            </a:avLst>
          </a:prstGeom>
          <a:solidFill>
            <a:srgbClr val="B8451E"/>
          </a:solidFill>
          <a:ln w="12700">
            <a:miter lim="400000"/>
          </a:ln>
        </p:spPr>
        <p:txBody>
          <a:bodyPr lIns="45719" rIns="45719"/>
          <a:lstStyle/>
          <a:p>
            <a:pPr/>
          </a:p>
        </p:txBody>
      </p:sp>
      <p:sp>
        <p:nvSpPr>
          <p:cNvPr id="186" name="Text 90"/>
          <p:cNvSpPr txBox="1"/>
          <p:nvPr/>
        </p:nvSpPr>
        <p:spPr>
          <a:xfrm>
            <a:off x="12353924" y="6808151"/>
            <a:ext cx="3740841"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905255">
              <a:lnSpc>
                <a:spcPct val="131987"/>
              </a:lnSpc>
              <a:defRPr sz="1881">
                <a:solidFill>
                  <a:srgbClr val="11243C"/>
                </a:solidFill>
                <a:latin typeface="Arial"/>
                <a:ea typeface="Arial"/>
                <a:cs typeface="Arial"/>
                <a:sym typeface="Arial"/>
              </a:defRPr>
            </a:lvl1pPr>
          </a:lstStyle>
          <a:p>
            <a:pPr/>
            <a:r>
              <a:t>Approves all. No correction events.</a:t>
            </a:r>
          </a:p>
        </p:txBody>
      </p:sp>
      <p:sp>
        <p:nvSpPr>
          <p:cNvPr id="187" name="Text 91"/>
          <p:cNvSpPr txBox="1"/>
          <p:nvPr/>
        </p:nvSpPr>
        <p:spPr>
          <a:xfrm>
            <a:off x="12353925" y="7209631"/>
            <a:ext cx="4689539" cy="3467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a:solidFill>
                  <a:srgbClr val="7A7363"/>
                </a:solidFill>
                <a:latin typeface="Arial"/>
                <a:ea typeface="Arial"/>
                <a:cs typeface="Arial"/>
                <a:sym typeface="Arial"/>
              </a:defRPr>
            </a:lvl1pPr>
          </a:lstStyle>
          <a:p>
            <a:pPr/>
            <a:r>
              <a:t>Controller, now confirmer.</a:t>
            </a:r>
          </a:p>
        </p:txBody>
      </p:sp>
      <p:sp>
        <p:nvSpPr>
          <p:cNvPr id="188" name="Shape 92"/>
          <p:cNvSpPr/>
          <p:nvPr/>
        </p:nvSpPr>
        <p:spPr>
          <a:xfrm>
            <a:off x="1143000" y="8002428"/>
            <a:ext cx="16002000" cy="12701"/>
          </a:xfrm>
          <a:prstGeom prst="rect">
            <a:avLst/>
          </a:prstGeom>
          <a:solidFill>
            <a:srgbClr val="C8C0A8"/>
          </a:solidFill>
          <a:ln w="12700">
            <a:miter lim="400000"/>
          </a:ln>
        </p:spPr>
        <p:txBody>
          <a:bodyPr lIns="45719" rIns="45719"/>
          <a:lstStyle/>
          <a:p>
            <a:pPr/>
          </a:p>
        </p:txBody>
      </p:sp>
      <p:sp>
        <p:nvSpPr>
          <p:cNvPr id="189" name="Text 93"/>
          <p:cNvSpPr txBox="1"/>
          <p:nvPr/>
        </p:nvSpPr>
        <p:spPr>
          <a:xfrm>
            <a:off x="902970" y="8242141"/>
            <a:ext cx="16482061" cy="4343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30000"/>
              </a:lnSpc>
              <a:defRPr b="1" sz="2400">
                <a:solidFill>
                  <a:srgbClr val="B8451E"/>
                </a:solidFill>
                <a:latin typeface="Arial"/>
                <a:ea typeface="Arial"/>
                <a:cs typeface="Arial"/>
                <a:sym typeface="Arial"/>
              </a:defRPr>
            </a:lvl1pPr>
          </a:lstStyle>
          <a:p>
            <a:pPr/>
            <a:r>
              <a:t>Same status. Same approval count. Same record.</a:t>
            </a:r>
          </a:p>
        </p:txBody>
      </p:sp>
      <p:sp>
        <p:nvSpPr>
          <p:cNvPr id="190" name="Text 94"/>
          <p:cNvSpPr txBox="1"/>
          <p:nvPr/>
        </p:nvSpPr>
        <p:spPr>
          <a:xfrm>
            <a:off x="902970" y="8943181"/>
            <a:ext cx="16482061" cy="37242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35000"/>
              </a:lnSpc>
              <a:defRPr i="1" sz="1900">
                <a:solidFill>
                  <a:srgbClr val="1D6657"/>
                </a:solidFill>
                <a:latin typeface="Arial"/>
                <a:ea typeface="Arial"/>
                <a:cs typeface="Arial"/>
                <a:sym typeface="Arial"/>
              </a:defRPr>
            </a:lvl1pPr>
          </a:lstStyle>
          <a:p>
            <a:pPr/>
            <a:r>
              <a:t>The audit log does not capture the signal the behavioral channel is losing.</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194"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195" name="Text 1"/>
          <p:cNvSpPr txBox="1"/>
          <p:nvPr/>
        </p:nvSpPr>
        <p:spPr>
          <a:xfrm>
            <a:off x="14514036"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02</a:t>
            </a:r>
          </a:p>
        </p:txBody>
      </p:sp>
      <p:sp>
        <p:nvSpPr>
          <p:cNvPr id="196" name="Text 2"/>
          <p:cNvSpPr txBox="1"/>
          <p:nvPr/>
        </p:nvSpPr>
        <p:spPr>
          <a:xfrm>
            <a:off x="14988381"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197" name="Text 3"/>
          <p:cNvSpPr txBox="1"/>
          <p:nvPr/>
        </p:nvSpPr>
        <p:spPr>
          <a:xfrm>
            <a:off x="15230158" y="233361"/>
            <a:ext cx="1991044"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THE PATTERN</a:t>
            </a:r>
          </a:p>
        </p:txBody>
      </p:sp>
      <p:sp>
        <p:nvSpPr>
          <p:cNvPr id="198"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Model-centric vs. oversight-centric transparency.</a:t>
            </a:r>
          </a:p>
        </p:txBody>
      </p:sp>
      <p:sp>
        <p:nvSpPr>
          <p:cNvPr id="199" name="Shape 5"/>
          <p:cNvSpPr/>
          <p:nvPr/>
        </p:nvSpPr>
        <p:spPr>
          <a:xfrm>
            <a:off x="1143000" y="3613784"/>
            <a:ext cx="3200400" cy="19051"/>
          </a:xfrm>
          <a:prstGeom prst="rect">
            <a:avLst/>
          </a:prstGeom>
          <a:solidFill>
            <a:srgbClr val="0D2340"/>
          </a:solidFill>
          <a:ln w="12700">
            <a:miter lim="400000"/>
          </a:ln>
        </p:spPr>
        <p:txBody>
          <a:bodyPr lIns="45719" rIns="45719"/>
          <a:lstStyle/>
          <a:p>
            <a:pPr/>
          </a:p>
        </p:txBody>
      </p:sp>
      <p:sp>
        <p:nvSpPr>
          <p:cNvPr id="200" name="Shape 6"/>
          <p:cNvSpPr/>
          <p:nvPr/>
        </p:nvSpPr>
        <p:spPr>
          <a:xfrm>
            <a:off x="4343399" y="3613784"/>
            <a:ext cx="5830890" cy="19051"/>
          </a:xfrm>
          <a:prstGeom prst="rect">
            <a:avLst/>
          </a:prstGeom>
          <a:solidFill>
            <a:srgbClr val="0D2340"/>
          </a:solidFill>
          <a:ln w="12700">
            <a:miter lim="400000"/>
          </a:ln>
        </p:spPr>
        <p:txBody>
          <a:bodyPr lIns="45719" rIns="45719"/>
          <a:lstStyle/>
          <a:p>
            <a:pPr/>
          </a:p>
        </p:txBody>
      </p:sp>
      <p:sp>
        <p:nvSpPr>
          <p:cNvPr id="201" name="Text 7"/>
          <p:cNvSpPr txBox="1"/>
          <p:nvPr/>
        </p:nvSpPr>
        <p:spPr>
          <a:xfrm>
            <a:off x="4610100" y="2602229"/>
            <a:ext cx="545641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7A7363"/>
                </a:solidFill>
                <a:latin typeface="Arial"/>
                <a:ea typeface="Arial"/>
                <a:cs typeface="Arial"/>
                <a:sym typeface="Arial"/>
              </a:defRPr>
            </a:lvl1pPr>
          </a:lstStyle>
          <a:p>
            <a:pPr/>
            <a:r>
              <a:t>TODAY</a:t>
            </a:r>
          </a:p>
        </p:txBody>
      </p:sp>
      <p:sp>
        <p:nvSpPr>
          <p:cNvPr id="202" name="Text 8"/>
          <p:cNvSpPr txBox="1"/>
          <p:nvPr/>
        </p:nvSpPr>
        <p:spPr>
          <a:xfrm>
            <a:off x="4610100" y="2991803"/>
            <a:ext cx="1972786" cy="50482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40000"/>
              </a:lnSpc>
              <a:defRPr b="1" spc="-100" sz="2500">
                <a:solidFill>
                  <a:srgbClr val="11243C"/>
                </a:solidFill>
                <a:latin typeface="Arial"/>
                <a:ea typeface="Arial"/>
                <a:cs typeface="Arial"/>
                <a:sym typeface="Arial"/>
              </a:defRPr>
            </a:lvl1pPr>
          </a:lstStyle>
          <a:p>
            <a:pPr/>
            <a:r>
              <a:t>Model-centric</a:t>
            </a:r>
          </a:p>
        </p:txBody>
      </p:sp>
      <p:sp>
        <p:nvSpPr>
          <p:cNvPr id="203" name="Shape 9"/>
          <p:cNvSpPr/>
          <p:nvPr/>
        </p:nvSpPr>
        <p:spPr>
          <a:xfrm>
            <a:off x="10174286" y="3613784"/>
            <a:ext cx="6970712" cy="19051"/>
          </a:xfrm>
          <a:prstGeom prst="rect">
            <a:avLst/>
          </a:prstGeom>
          <a:solidFill>
            <a:srgbClr val="0D2340"/>
          </a:solidFill>
          <a:ln w="12700">
            <a:miter lim="400000"/>
          </a:ln>
        </p:spPr>
        <p:txBody>
          <a:bodyPr lIns="45719" rIns="45719"/>
          <a:lstStyle/>
          <a:p>
            <a:pPr/>
          </a:p>
        </p:txBody>
      </p:sp>
      <p:sp>
        <p:nvSpPr>
          <p:cNvPr id="204" name="Text 10"/>
          <p:cNvSpPr txBox="1"/>
          <p:nvPr/>
        </p:nvSpPr>
        <p:spPr>
          <a:xfrm>
            <a:off x="10440986" y="2602229"/>
            <a:ext cx="663043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a:solidFill>
                  <a:srgbClr val="1D6657"/>
                </a:solidFill>
                <a:latin typeface="Arial"/>
                <a:ea typeface="Arial"/>
                <a:cs typeface="Arial"/>
                <a:sym typeface="Arial"/>
              </a:defRPr>
            </a:lvl1pPr>
          </a:lstStyle>
          <a:p>
            <a:pPr/>
            <a:r>
              <a:t>PROPOSED</a:t>
            </a:r>
          </a:p>
        </p:txBody>
      </p:sp>
      <p:sp>
        <p:nvSpPr>
          <p:cNvPr id="205" name="Text 11"/>
          <p:cNvSpPr txBox="1"/>
          <p:nvPr/>
        </p:nvSpPr>
        <p:spPr>
          <a:xfrm>
            <a:off x="10440986" y="2991803"/>
            <a:ext cx="2452689" cy="50482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40000"/>
              </a:lnSpc>
              <a:defRPr b="1" spc="-100" sz="2500">
                <a:solidFill>
                  <a:srgbClr val="1D6657"/>
                </a:solidFill>
                <a:latin typeface="Arial"/>
                <a:ea typeface="Arial"/>
                <a:cs typeface="Arial"/>
                <a:sym typeface="Arial"/>
              </a:defRPr>
            </a:lvl1pPr>
          </a:lstStyle>
          <a:p>
            <a:pPr/>
            <a:r>
              <a:t>Oversight-centric</a:t>
            </a:r>
          </a:p>
        </p:txBody>
      </p:sp>
      <p:sp>
        <p:nvSpPr>
          <p:cNvPr id="206" name="Shape 12"/>
          <p:cNvSpPr/>
          <p:nvPr/>
        </p:nvSpPr>
        <p:spPr>
          <a:xfrm>
            <a:off x="1143000" y="4695190"/>
            <a:ext cx="3200400" cy="12701"/>
          </a:xfrm>
          <a:prstGeom prst="rect">
            <a:avLst/>
          </a:prstGeom>
          <a:solidFill>
            <a:srgbClr val="C8C0A8"/>
          </a:solidFill>
          <a:ln w="12700">
            <a:miter lim="400000"/>
          </a:ln>
        </p:spPr>
        <p:txBody>
          <a:bodyPr lIns="45719" rIns="45719"/>
          <a:lstStyle/>
          <a:p>
            <a:pPr/>
          </a:p>
        </p:txBody>
      </p:sp>
      <p:sp>
        <p:nvSpPr>
          <p:cNvPr id="207" name="Text 13"/>
          <p:cNvSpPr txBox="1"/>
          <p:nvPr/>
        </p:nvSpPr>
        <p:spPr>
          <a:xfrm>
            <a:off x="1409700" y="3842384"/>
            <a:ext cx="2763012" cy="6829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200">
                <a:solidFill>
                  <a:srgbClr val="7A7363"/>
                </a:solidFill>
                <a:latin typeface="Arial"/>
                <a:ea typeface="Arial"/>
                <a:cs typeface="Arial"/>
                <a:sym typeface="Arial"/>
              </a:defRPr>
            </a:lvl1pPr>
          </a:lstStyle>
          <a:p>
            <a:pPr/>
            <a:r>
              <a:t>OBJECT INSTRUMENTED</a:t>
            </a:r>
          </a:p>
        </p:txBody>
      </p:sp>
      <p:sp>
        <p:nvSpPr>
          <p:cNvPr id="208" name="Shape 14"/>
          <p:cNvSpPr/>
          <p:nvPr/>
        </p:nvSpPr>
        <p:spPr>
          <a:xfrm>
            <a:off x="4343399" y="4695190"/>
            <a:ext cx="5830890" cy="12701"/>
          </a:xfrm>
          <a:prstGeom prst="rect">
            <a:avLst/>
          </a:prstGeom>
          <a:solidFill>
            <a:srgbClr val="C8C0A8"/>
          </a:solidFill>
          <a:ln w="12700">
            <a:miter lim="400000"/>
          </a:ln>
        </p:spPr>
        <p:txBody>
          <a:bodyPr lIns="45719" rIns="45719"/>
          <a:lstStyle/>
          <a:p>
            <a:pPr/>
          </a:p>
        </p:txBody>
      </p:sp>
      <p:sp>
        <p:nvSpPr>
          <p:cNvPr id="209" name="Text 15"/>
          <p:cNvSpPr txBox="1"/>
          <p:nvPr/>
        </p:nvSpPr>
        <p:spPr>
          <a:xfrm>
            <a:off x="4610099" y="3842384"/>
            <a:ext cx="5472416" cy="6829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3D4659"/>
                </a:solidFill>
                <a:latin typeface="Arial"/>
                <a:ea typeface="Arial"/>
                <a:cs typeface="Arial"/>
                <a:sym typeface="Arial"/>
              </a:defRPr>
            </a:lvl1pPr>
          </a:lstStyle>
          <a:p>
            <a:pPr/>
            <a:r>
              <a:t>Model reasoning, outputs, behavior</a:t>
            </a:r>
          </a:p>
        </p:txBody>
      </p:sp>
      <p:sp>
        <p:nvSpPr>
          <p:cNvPr id="210" name="Shape 16"/>
          <p:cNvSpPr/>
          <p:nvPr/>
        </p:nvSpPr>
        <p:spPr>
          <a:xfrm>
            <a:off x="10174286" y="3632834"/>
            <a:ext cx="6970712" cy="1073469"/>
          </a:xfrm>
          <a:prstGeom prst="rect">
            <a:avLst/>
          </a:prstGeom>
          <a:solidFill>
            <a:srgbClr val="1D6657">
              <a:alpha val="7000"/>
            </a:srgbClr>
          </a:solidFill>
          <a:ln w="12700">
            <a:miter lim="400000"/>
          </a:ln>
        </p:spPr>
        <p:txBody>
          <a:bodyPr lIns="45719" rIns="45719"/>
          <a:lstStyle/>
          <a:p>
            <a:pPr/>
          </a:p>
        </p:txBody>
      </p:sp>
      <p:sp>
        <p:nvSpPr>
          <p:cNvPr id="211" name="Shape 17"/>
          <p:cNvSpPr/>
          <p:nvPr/>
        </p:nvSpPr>
        <p:spPr>
          <a:xfrm>
            <a:off x="10174286" y="4695190"/>
            <a:ext cx="6970712" cy="12701"/>
          </a:xfrm>
          <a:prstGeom prst="rect">
            <a:avLst/>
          </a:prstGeom>
          <a:solidFill>
            <a:srgbClr val="C8C0A8"/>
          </a:solidFill>
          <a:ln w="12700">
            <a:miter lim="400000"/>
          </a:ln>
        </p:spPr>
        <p:txBody>
          <a:bodyPr lIns="45719" rIns="45719"/>
          <a:lstStyle/>
          <a:p>
            <a:pPr/>
          </a:p>
        </p:txBody>
      </p:sp>
      <p:sp>
        <p:nvSpPr>
          <p:cNvPr id="212" name="Shape 18"/>
          <p:cNvSpPr/>
          <p:nvPr/>
        </p:nvSpPr>
        <p:spPr>
          <a:xfrm>
            <a:off x="10174286" y="3632834"/>
            <a:ext cx="28576" cy="1073469"/>
          </a:xfrm>
          <a:prstGeom prst="rect">
            <a:avLst/>
          </a:prstGeom>
          <a:solidFill>
            <a:srgbClr val="1D6657"/>
          </a:solidFill>
          <a:ln w="12700">
            <a:miter lim="400000"/>
          </a:ln>
        </p:spPr>
        <p:txBody>
          <a:bodyPr lIns="45719" rIns="45719"/>
          <a:lstStyle/>
          <a:p>
            <a:pPr/>
          </a:p>
        </p:txBody>
      </p:sp>
      <p:sp>
        <p:nvSpPr>
          <p:cNvPr id="213" name="Text 19"/>
          <p:cNvSpPr txBox="1"/>
          <p:nvPr/>
        </p:nvSpPr>
        <p:spPr>
          <a:xfrm>
            <a:off x="10469561" y="3842384"/>
            <a:ext cx="6617860" cy="6829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11243C"/>
                </a:solidFill>
                <a:latin typeface="Arial"/>
                <a:ea typeface="Arial"/>
                <a:cs typeface="Arial"/>
                <a:sym typeface="Arial"/>
              </a:defRPr>
            </a:lvl1pPr>
          </a:lstStyle>
          <a:p>
            <a:pPr/>
            <a:r>
              <a:t>Functional state of the oversight mechanism</a:t>
            </a:r>
          </a:p>
        </p:txBody>
      </p:sp>
      <p:sp>
        <p:nvSpPr>
          <p:cNvPr id="214" name="Shape 20"/>
          <p:cNvSpPr/>
          <p:nvPr/>
        </p:nvSpPr>
        <p:spPr>
          <a:xfrm>
            <a:off x="1143000" y="5843904"/>
            <a:ext cx="3200400" cy="12701"/>
          </a:xfrm>
          <a:prstGeom prst="rect">
            <a:avLst/>
          </a:prstGeom>
          <a:solidFill>
            <a:srgbClr val="C8C0A8"/>
          </a:solidFill>
          <a:ln w="12700">
            <a:miter lim="400000"/>
          </a:ln>
        </p:spPr>
        <p:txBody>
          <a:bodyPr lIns="45719" rIns="45719"/>
          <a:lstStyle/>
          <a:p>
            <a:pPr/>
          </a:p>
        </p:txBody>
      </p:sp>
      <p:sp>
        <p:nvSpPr>
          <p:cNvPr id="215" name="Text 21"/>
          <p:cNvSpPr txBox="1"/>
          <p:nvPr/>
        </p:nvSpPr>
        <p:spPr>
          <a:xfrm>
            <a:off x="1409700" y="4915853"/>
            <a:ext cx="2763012"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200">
                <a:solidFill>
                  <a:srgbClr val="7A7363"/>
                </a:solidFill>
                <a:latin typeface="Arial"/>
                <a:ea typeface="Arial"/>
                <a:cs typeface="Arial"/>
                <a:sym typeface="Arial"/>
              </a:defRPr>
            </a:lvl1pPr>
          </a:lstStyle>
          <a:p>
            <a:pPr/>
            <a:r>
              <a:t>EVIDENCE PRODUCED</a:t>
            </a:r>
          </a:p>
        </p:txBody>
      </p:sp>
      <p:sp>
        <p:nvSpPr>
          <p:cNvPr id="216" name="Shape 22"/>
          <p:cNvSpPr/>
          <p:nvPr/>
        </p:nvSpPr>
        <p:spPr>
          <a:xfrm>
            <a:off x="4343399" y="5843904"/>
            <a:ext cx="5830890" cy="12701"/>
          </a:xfrm>
          <a:prstGeom prst="rect">
            <a:avLst/>
          </a:prstGeom>
          <a:solidFill>
            <a:srgbClr val="C8C0A8"/>
          </a:solidFill>
          <a:ln w="12700">
            <a:miter lim="400000"/>
          </a:ln>
        </p:spPr>
        <p:txBody>
          <a:bodyPr lIns="45719" rIns="45719"/>
          <a:lstStyle/>
          <a:p>
            <a:pPr/>
          </a:p>
        </p:txBody>
      </p:sp>
      <p:sp>
        <p:nvSpPr>
          <p:cNvPr id="217" name="Text 23"/>
          <p:cNvSpPr txBox="1"/>
          <p:nvPr/>
        </p:nvSpPr>
        <p:spPr>
          <a:xfrm>
            <a:off x="4610099" y="4915853"/>
            <a:ext cx="5472416"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3D4659"/>
                </a:solidFill>
                <a:latin typeface="Arial"/>
                <a:ea typeface="Arial"/>
                <a:cs typeface="Arial"/>
                <a:sym typeface="Arial"/>
              </a:defRPr>
            </a:lvl1pPr>
          </a:lstStyle>
          <a:p>
            <a:pPr/>
            <a:r>
              <a:t>Interpretability maps, audit logs, governance artifacts</a:t>
            </a:r>
          </a:p>
        </p:txBody>
      </p:sp>
      <p:sp>
        <p:nvSpPr>
          <p:cNvPr id="218" name="Shape 24"/>
          <p:cNvSpPr/>
          <p:nvPr/>
        </p:nvSpPr>
        <p:spPr>
          <a:xfrm>
            <a:off x="10174286" y="4706303"/>
            <a:ext cx="6970712" cy="1148715"/>
          </a:xfrm>
          <a:prstGeom prst="rect">
            <a:avLst/>
          </a:prstGeom>
          <a:solidFill>
            <a:srgbClr val="1D6657">
              <a:alpha val="7000"/>
            </a:srgbClr>
          </a:solidFill>
          <a:ln w="12700">
            <a:miter lim="400000"/>
          </a:ln>
        </p:spPr>
        <p:txBody>
          <a:bodyPr lIns="45719" rIns="45719"/>
          <a:lstStyle/>
          <a:p>
            <a:pPr/>
          </a:p>
        </p:txBody>
      </p:sp>
      <p:sp>
        <p:nvSpPr>
          <p:cNvPr id="219" name="Shape 25"/>
          <p:cNvSpPr/>
          <p:nvPr/>
        </p:nvSpPr>
        <p:spPr>
          <a:xfrm>
            <a:off x="10174286" y="5843904"/>
            <a:ext cx="6970712" cy="12701"/>
          </a:xfrm>
          <a:prstGeom prst="rect">
            <a:avLst/>
          </a:prstGeom>
          <a:solidFill>
            <a:srgbClr val="C8C0A8"/>
          </a:solidFill>
          <a:ln w="12700">
            <a:miter lim="400000"/>
          </a:ln>
        </p:spPr>
        <p:txBody>
          <a:bodyPr lIns="45719" rIns="45719"/>
          <a:lstStyle/>
          <a:p>
            <a:pPr/>
          </a:p>
        </p:txBody>
      </p:sp>
      <p:sp>
        <p:nvSpPr>
          <p:cNvPr id="220" name="Shape 26"/>
          <p:cNvSpPr/>
          <p:nvPr/>
        </p:nvSpPr>
        <p:spPr>
          <a:xfrm>
            <a:off x="10174286" y="4706303"/>
            <a:ext cx="28576" cy="1148715"/>
          </a:xfrm>
          <a:prstGeom prst="rect">
            <a:avLst/>
          </a:prstGeom>
          <a:solidFill>
            <a:srgbClr val="1D6657"/>
          </a:solidFill>
          <a:ln w="12700">
            <a:miter lim="400000"/>
          </a:ln>
        </p:spPr>
        <p:txBody>
          <a:bodyPr lIns="45719" rIns="45719"/>
          <a:lstStyle/>
          <a:p>
            <a:pPr/>
          </a:p>
        </p:txBody>
      </p:sp>
      <p:sp>
        <p:nvSpPr>
          <p:cNvPr id="221" name="Text 27"/>
          <p:cNvSpPr txBox="1"/>
          <p:nvPr/>
        </p:nvSpPr>
        <p:spPr>
          <a:xfrm>
            <a:off x="10469561" y="4915853"/>
            <a:ext cx="6617860"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11243C"/>
                </a:solidFill>
                <a:latin typeface="Arial"/>
                <a:ea typeface="Arial"/>
                <a:cs typeface="Arial"/>
                <a:sym typeface="Arial"/>
              </a:defRPr>
            </a:lvl1pPr>
          </a:lstStyle>
          <a:p>
            <a:pPr/>
            <a:r>
              <a:t>Engagement metrics, correction trajectories, calibration indicators</a:t>
            </a:r>
          </a:p>
        </p:txBody>
      </p:sp>
      <p:sp>
        <p:nvSpPr>
          <p:cNvPr id="222" name="Shape 28"/>
          <p:cNvSpPr/>
          <p:nvPr/>
        </p:nvSpPr>
        <p:spPr>
          <a:xfrm>
            <a:off x="1143000" y="6992620"/>
            <a:ext cx="3200400" cy="12701"/>
          </a:xfrm>
          <a:prstGeom prst="rect">
            <a:avLst/>
          </a:prstGeom>
          <a:solidFill>
            <a:srgbClr val="C8C0A8"/>
          </a:solidFill>
          <a:ln w="12700">
            <a:miter lim="400000"/>
          </a:ln>
        </p:spPr>
        <p:txBody>
          <a:bodyPr lIns="45719" rIns="45719"/>
          <a:lstStyle/>
          <a:p>
            <a:pPr/>
          </a:p>
        </p:txBody>
      </p:sp>
      <p:sp>
        <p:nvSpPr>
          <p:cNvPr id="223" name="Text 29"/>
          <p:cNvSpPr txBox="1"/>
          <p:nvPr/>
        </p:nvSpPr>
        <p:spPr>
          <a:xfrm>
            <a:off x="1409700" y="6064567"/>
            <a:ext cx="2763012"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200">
                <a:solidFill>
                  <a:srgbClr val="7A7363"/>
                </a:solidFill>
                <a:latin typeface="Arial"/>
                <a:ea typeface="Arial"/>
                <a:cs typeface="Arial"/>
                <a:sym typeface="Arial"/>
              </a:defRPr>
            </a:lvl1pPr>
          </a:lstStyle>
          <a:p>
            <a:pPr/>
            <a:r>
              <a:t>FAILURE MODE ADDRESSED</a:t>
            </a:r>
          </a:p>
        </p:txBody>
      </p:sp>
      <p:sp>
        <p:nvSpPr>
          <p:cNvPr id="224" name="Shape 30"/>
          <p:cNvSpPr/>
          <p:nvPr/>
        </p:nvSpPr>
        <p:spPr>
          <a:xfrm>
            <a:off x="4343399" y="6992620"/>
            <a:ext cx="5830890" cy="12701"/>
          </a:xfrm>
          <a:prstGeom prst="rect">
            <a:avLst/>
          </a:prstGeom>
          <a:solidFill>
            <a:srgbClr val="C8C0A8"/>
          </a:solidFill>
          <a:ln w="12700">
            <a:miter lim="400000"/>
          </a:ln>
        </p:spPr>
        <p:txBody>
          <a:bodyPr lIns="45719" rIns="45719"/>
          <a:lstStyle/>
          <a:p>
            <a:pPr/>
          </a:p>
        </p:txBody>
      </p:sp>
      <p:sp>
        <p:nvSpPr>
          <p:cNvPr id="225" name="Text 31"/>
          <p:cNvSpPr txBox="1"/>
          <p:nvPr/>
        </p:nvSpPr>
        <p:spPr>
          <a:xfrm>
            <a:off x="4610099" y="6064567"/>
            <a:ext cx="5472416"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3D4659"/>
                </a:solidFill>
                <a:latin typeface="Arial"/>
                <a:ea typeface="Arial"/>
                <a:cs typeface="Arial"/>
                <a:sym typeface="Arial"/>
              </a:defRPr>
            </a:lvl1pPr>
          </a:lstStyle>
          <a:p>
            <a:pPr/>
            <a:r>
              <a:t>Hallucination, bias, distribution shift</a:t>
            </a:r>
          </a:p>
        </p:txBody>
      </p:sp>
      <p:sp>
        <p:nvSpPr>
          <p:cNvPr id="226" name="Shape 32"/>
          <p:cNvSpPr/>
          <p:nvPr/>
        </p:nvSpPr>
        <p:spPr>
          <a:xfrm>
            <a:off x="10174286" y="5855017"/>
            <a:ext cx="6970712" cy="1148716"/>
          </a:xfrm>
          <a:prstGeom prst="rect">
            <a:avLst/>
          </a:prstGeom>
          <a:solidFill>
            <a:srgbClr val="1D6657">
              <a:alpha val="7000"/>
            </a:srgbClr>
          </a:solidFill>
          <a:ln w="12700">
            <a:miter lim="400000"/>
          </a:ln>
        </p:spPr>
        <p:txBody>
          <a:bodyPr lIns="45719" rIns="45719"/>
          <a:lstStyle/>
          <a:p>
            <a:pPr/>
          </a:p>
        </p:txBody>
      </p:sp>
      <p:sp>
        <p:nvSpPr>
          <p:cNvPr id="227" name="Shape 33"/>
          <p:cNvSpPr/>
          <p:nvPr/>
        </p:nvSpPr>
        <p:spPr>
          <a:xfrm>
            <a:off x="10174286" y="6992620"/>
            <a:ext cx="6970712" cy="12701"/>
          </a:xfrm>
          <a:prstGeom prst="rect">
            <a:avLst/>
          </a:prstGeom>
          <a:solidFill>
            <a:srgbClr val="C8C0A8"/>
          </a:solidFill>
          <a:ln w="12700">
            <a:miter lim="400000"/>
          </a:ln>
        </p:spPr>
        <p:txBody>
          <a:bodyPr lIns="45719" rIns="45719"/>
          <a:lstStyle/>
          <a:p>
            <a:pPr/>
          </a:p>
        </p:txBody>
      </p:sp>
      <p:sp>
        <p:nvSpPr>
          <p:cNvPr id="228" name="Shape 34"/>
          <p:cNvSpPr/>
          <p:nvPr/>
        </p:nvSpPr>
        <p:spPr>
          <a:xfrm>
            <a:off x="10174286" y="5855017"/>
            <a:ext cx="28576" cy="1148716"/>
          </a:xfrm>
          <a:prstGeom prst="rect">
            <a:avLst/>
          </a:prstGeom>
          <a:solidFill>
            <a:srgbClr val="1D6657"/>
          </a:solidFill>
          <a:ln w="12700">
            <a:miter lim="400000"/>
          </a:ln>
        </p:spPr>
        <p:txBody>
          <a:bodyPr lIns="45719" rIns="45719"/>
          <a:lstStyle/>
          <a:p>
            <a:pPr/>
          </a:p>
        </p:txBody>
      </p:sp>
      <p:sp>
        <p:nvSpPr>
          <p:cNvPr id="229" name="Text 35"/>
          <p:cNvSpPr txBox="1"/>
          <p:nvPr/>
        </p:nvSpPr>
        <p:spPr>
          <a:xfrm>
            <a:off x="10469561" y="6064567"/>
            <a:ext cx="6617860" cy="75819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11243C"/>
                </a:solidFill>
                <a:latin typeface="Arial"/>
                <a:ea typeface="Arial"/>
                <a:cs typeface="Arial"/>
                <a:sym typeface="Arial"/>
              </a:defRPr>
            </a:lvl1pPr>
          </a:lstStyle>
          <a:p>
            <a:pPr/>
            <a:r>
              <a:t>Authority drift, procedural confirmation, oversight formality</a:t>
            </a:r>
          </a:p>
        </p:txBody>
      </p:sp>
      <p:sp>
        <p:nvSpPr>
          <p:cNvPr id="230" name="Text 36"/>
          <p:cNvSpPr txBox="1"/>
          <p:nvPr/>
        </p:nvSpPr>
        <p:spPr>
          <a:xfrm>
            <a:off x="1409700" y="7213282"/>
            <a:ext cx="2763012" cy="6829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200">
                <a:solidFill>
                  <a:srgbClr val="7A7363"/>
                </a:solidFill>
                <a:latin typeface="Arial"/>
                <a:ea typeface="Arial"/>
                <a:cs typeface="Arial"/>
                <a:sym typeface="Arial"/>
              </a:defRPr>
            </a:lvl1pPr>
          </a:lstStyle>
          <a:p>
            <a:pPr/>
            <a:r>
              <a:t>HUMAN ROLE ASSUMED</a:t>
            </a:r>
          </a:p>
        </p:txBody>
      </p:sp>
      <p:sp>
        <p:nvSpPr>
          <p:cNvPr id="231" name="Text 37"/>
          <p:cNvSpPr txBox="1"/>
          <p:nvPr/>
        </p:nvSpPr>
        <p:spPr>
          <a:xfrm>
            <a:off x="4610099" y="7213282"/>
            <a:ext cx="5472416" cy="6829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3D4659"/>
                </a:solidFill>
                <a:latin typeface="Arial"/>
                <a:ea typeface="Arial"/>
                <a:cs typeface="Arial"/>
                <a:sym typeface="Arial"/>
              </a:defRPr>
            </a:lvl1pPr>
          </a:lstStyle>
          <a:p>
            <a:pPr/>
            <a:r>
              <a:t>Stable recipient of explanations</a:t>
            </a:r>
          </a:p>
        </p:txBody>
      </p:sp>
      <p:sp>
        <p:nvSpPr>
          <p:cNvPr id="232" name="Shape 38"/>
          <p:cNvSpPr/>
          <p:nvPr/>
        </p:nvSpPr>
        <p:spPr>
          <a:xfrm>
            <a:off x="10174286" y="7003732"/>
            <a:ext cx="6970712" cy="1063943"/>
          </a:xfrm>
          <a:prstGeom prst="rect">
            <a:avLst/>
          </a:prstGeom>
          <a:solidFill>
            <a:srgbClr val="1D6657">
              <a:alpha val="7000"/>
            </a:srgbClr>
          </a:solidFill>
          <a:ln w="12700">
            <a:miter lim="400000"/>
          </a:ln>
        </p:spPr>
        <p:txBody>
          <a:bodyPr lIns="45719" rIns="45719"/>
          <a:lstStyle/>
          <a:p>
            <a:pPr/>
          </a:p>
        </p:txBody>
      </p:sp>
      <p:sp>
        <p:nvSpPr>
          <p:cNvPr id="233" name="Shape 39"/>
          <p:cNvSpPr/>
          <p:nvPr/>
        </p:nvSpPr>
        <p:spPr>
          <a:xfrm>
            <a:off x="10174286" y="7003732"/>
            <a:ext cx="28576" cy="1063943"/>
          </a:xfrm>
          <a:prstGeom prst="rect">
            <a:avLst/>
          </a:prstGeom>
          <a:solidFill>
            <a:srgbClr val="1D6657"/>
          </a:solidFill>
          <a:ln w="12700">
            <a:miter lim="400000"/>
          </a:ln>
        </p:spPr>
        <p:txBody>
          <a:bodyPr lIns="45719" rIns="45719"/>
          <a:lstStyle/>
          <a:p>
            <a:pPr/>
          </a:p>
        </p:txBody>
      </p:sp>
      <p:sp>
        <p:nvSpPr>
          <p:cNvPr id="234" name="Text 40"/>
          <p:cNvSpPr txBox="1"/>
          <p:nvPr/>
        </p:nvSpPr>
        <p:spPr>
          <a:xfrm>
            <a:off x="10469561" y="7213282"/>
            <a:ext cx="6617860" cy="6829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2100">
                <a:solidFill>
                  <a:srgbClr val="11243C"/>
                </a:solidFill>
                <a:latin typeface="Arial"/>
                <a:ea typeface="Arial"/>
                <a:cs typeface="Arial"/>
                <a:sym typeface="Arial"/>
              </a:defRPr>
            </a:lvl1pPr>
          </a:lstStyle>
          <a:p>
            <a:pPr/>
            <a:r>
              <a:t>Degradable component requiring care and feeding</a:t>
            </a:r>
          </a:p>
        </p:txBody>
      </p:sp>
      <p:sp>
        <p:nvSpPr>
          <p:cNvPr id="235" name="Shape 41"/>
          <p:cNvSpPr/>
          <p:nvPr/>
        </p:nvSpPr>
        <p:spPr>
          <a:xfrm>
            <a:off x="1143000" y="8294687"/>
            <a:ext cx="16002000" cy="12701"/>
          </a:xfrm>
          <a:prstGeom prst="rect">
            <a:avLst/>
          </a:prstGeom>
          <a:solidFill>
            <a:srgbClr val="C8C0A8"/>
          </a:solidFill>
          <a:ln w="12700">
            <a:miter lim="400000"/>
          </a:ln>
        </p:spPr>
        <p:txBody>
          <a:bodyPr lIns="45719" rIns="45719"/>
          <a:lstStyle/>
          <a:p>
            <a:pPr/>
          </a:p>
        </p:txBody>
      </p:sp>
      <p:sp>
        <p:nvSpPr>
          <p:cNvPr id="236" name="Text 42"/>
          <p:cNvSpPr txBox="1"/>
          <p:nvPr/>
        </p:nvSpPr>
        <p:spPr>
          <a:xfrm>
            <a:off x="902970" y="8515349"/>
            <a:ext cx="16482061" cy="38481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40000"/>
              </a:lnSpc>
              <a:defRPr i="1" sz="1900">
                <a:solidFill>
                  <a:srgbClr val="7A7363"/>
                </a:solidFill>
                <a:latin typeface="Arial"/>
                <a:ea typeface="Arial"/>
                <a:cs typeface="Arial"/>
                <a:sym typeface="Arial"/>
              </a:defRPr>
            </a:lvl1pPr>
          </a:lstStyle>
          <a:p>
            <a:pPr/>
            <a:r>
              <a:t>Detection, interpretability, and governance each compound the gap rather than closing it.</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240"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241" name="Text 1"/>
          <p:cNvSpPr txBox="1"/>
          <p:nvPr/>
        </p:nvSpPr>
        <p:spPr>
          <a:xfrm>
            <a:off x="12441395"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03</a:t>
            </a:r>
          </a:p>
        </p:txBody>
      </p:sp>
      <p:sp>
        <p:nvSpPr>
          <p:cNvPr id="242" name="Text 2"/>
          <p:cNvSpPr txBox="1"/>
          <p:nvPr/>
        </p:nvSpPr>
        <p:spPr>
          <a:xfrm>
            <a:off x="12915741"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243" name="Text 3"/>
          <p:cNvSpPr txBox="1"/>
          <p:nvPr/>
        </p:nvSpPr>
        <p:spPr>
          <a:xfrm>
            <a:off x="13157517" y="233361"/>
            <a:ext cx="4107108"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TOWARD INSTRUMENTATION</a:t>
            </a:r>
          </a:p>
        </p:txBody>
      </p:sp>
      <p:sp>
        <p:nvSpPr>
          <p:cNvPr id="244"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Three candidate proxies for engagement state.</a:t>
            </a:r>
          </a:p>
        </p:txBody>
      </p:sp>
      <p:sp>
        <p:nvSpPr>
          <p:cNvPr id="245" name="Shape 5"/>
          <p:cNvSpPr/>
          <p:nvPr/>
        </p:nvSpPr>
        <p:spPr>
          <a:xfrm>
            <a:off x="1143000" y="2373629"/>
            <a:ext cx="5029200" cy="2977516"/>
          </a:xfrm>
          <a:prstGeom prst="rect">
            <a:avLst/>
          </a:prstGeom>
          <a:solidFill>
            <a:srgbClr val="FFFCF0"/>
          </a:solidFill>
          <a:ln>
            <a:solidFill>
              <a:srgbClr val="C8C0A8"/>
            </a:solidFill>
          </a:ln>
        </p:spPr>
        <p:txBody>
          <a:bodyPr lIns="45719" rIns="45719"/>
          <a:lstStyle/>
          <a:p>
            <a:pPr/>
          </a:p>
        </p:txBody>
      </p:sp>
      <p:sp>
        <p:nvSpPr>
          <p:cNvPr id="246" name="Shape 6"/>
          <p:cNvSpPr/>
          <p:nvPr/>
        </p:nvSpPr>
        <p:spPr>
          <a:xfrm>
            <a:off x="1457325" y="2687954"/>
            <a:ext cx="4400550" cy="1047751"/>
          </a:xfrm>
          <a:prstGeom prst="roundRect">
            <a:avLst>
              <a:gd name="adj" fmla="val 1818"/>
            </a:avLst>
          </a:prstGeom>
          <a:solidFill>
            <a:srgbClr val="1D6657">
              <a:alpha val="6000"/>
            </a:srgbClr>
          </a:solidFill>
          <a:ln w="12700">
            <a:miter lim="400000"/>
          </a:ln>
        </p:spPr>
        <p:txBody>
          <a:bodyPr lIns="45719" rIns="45719"/>
          <a:lstStyle/>
          <a:p>
            <a:pPr/>
          </a:p>
        </p:txBody>
      </p:sp>
      <p:pic>
        <p:nvPicPr>
          <p:cNvPr id="247" name="Image 0" descr="Image 0"/>
          <p:cNvPicPr>
            <a:picLocks noChangeAspect="1"/>
          </p:cNvPicPr>
          <p:nvPr/>
        </p:nvPicPr>
        <p:blipFill>
          <a:blip r:embed="rId3">
            <a:extLst/>
          </a:blip>
          <a:stretch>
            <a:fillRect/>
          </a:stretch>
        </p:blipFill>
        <p:spPr>
          <a:xfrm>
            <a:off x="2943225" y="2830829"/>
            <a:ext cx="1428750" cy="762001"/>
          </a:xfrm>
          <a:prstGeom prst="rect">
            <a:avLst/>
          </a:prstGeom>
          <a:ln w="12700">
            <a:miter lim="400000"/>
          </a:ln>
        </p:spPr>
      </p:pic>
      <p:sp>
        <p:nvSpPr>
          <p:cNvPr id="248" name="Text 7"/>
          <p:cNvSpPr txBox="1"/>
          <p:nvPr/>
        </p:nvSpPr>
        <p:spPr>
          <a:xfrm>
            <a:off x="1457325" y="3907154"/>
            <a:ext cx="2994078" cy="39433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10000"/>
              </a:lnSpc>
              <a:defRPr b="1" sz="2325">
                <a:solidFill>
                  <a:srgbClr val="1D6657"/>
                </a:solidFill>
                <a:latin typeface="Arial"/>
                <a:ea typeface="Arial"/>
                <a:cs typeface="Arial"/>
                <a:sym typeface="Arial"/>
              </a:defRPr>
            </a:lvl1pPr>
          </a:lstStyle>
          <a:p>
            <a:pPr/>
            <a:r>
              <a:t>Correction trajectory</a:t>
            </a:r>
          </a:p>
        </p:txBody>
      </p:sp>
      <p:sp>
        <p:nvSpPr>
          <p:cNvPr id="249" name="Text 8"/>
          <p:cNvSpPr txBox="1"/>
          <p:nvPr/>
        </p:nvSpPr>
        <p:spPr>
          <a:xfrm>
            <a:off x="1457324" y="4434840"/>
            <a:ext cx="4532569" cy="68358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0000"/>
              </a:lnSpc>
              <a:defRPr sz="1710">
                <a:solidFill>
                  <a:srgbClr val="11243C"/>
                </a:solidFill>
                <a:latin typeface="Arial"/>
                <a:ea typeface="Arial"/>
                <a:cs typeface="Arial"/>
                <a:sym typeface="Arial"/>
              </a:defRPr>
            </a:lvl1pPr>
          </a:lstStyle>
          <a:p>
            <a:pPr/>
            <a:r>
              <a:t>Reviewer engagement against output volume over deployment duration.</a:t>
            </a:r>
          </a:p>
        </p:txBody>
      </p:sp>
      <p:sp>
        <p:nvSpPr>
          <p:cNvPr id="250" name="Shape 9"/>
          <p:cNvSpPr/>
          <p:nvPr/>
        </p:nvSpPr>
        <p:spPr>
          <a:xfrm>
            <a:off x="6629400" y="2373629"/>
            <a:ext cx="5029200" cy="2977516"/>
          </a:xfrm>
          <a:prstGeom prst="rect">
            <a:avLst/>
          </a:prstGeom>
          <a:solidFill>
            <a:srgbClr val="FFFCF0"/>
          </a:solidFill>
          <a:ln>
            <a:solidFill>
              <a:srgbClr val="C8C0A8"/>
            </a:solidFill>
          </a:ln>
        </p:spPr>
        <p:txBody>
          <a:bodyPr lIns="45719" rIns="45719"/>
          <a:lstStyle/>
          <a:p>
            <a:pPr/>
          </a:p>
        </p:txBody>
      </p:sp>
      <p:sp>
        <p:nvSpPr>
          <p:cNvPr id="251" name="Shape 10"/>
          <p:cNvSpPr/>
          <p:nvPr/>
        </p:nvSpPr>
        <p:spPr>
          <a:xfrm>
            <a:off x="6943725" y="2687954"/>
            <a:ext cx="4400550" cy="1047751"/>
          </a:xfrm>
          <a:prstGeom prst="roundRect">
            <a:avLst>
              <a:gd name="adj" fmla="val 1818"/>
            </a:avLst>
          </a:prstGeom>
          <a:solidFill>
            <a:srgbClr val="1D6657">
              <a:alpha val="6000"/>
            </a:srgbClr>
          </a:solidFill>
          <a:ln w="12700">
            <a:miter lim="400000"/>
          </a:ln>
        </p:spPr>
        <p:txBody>
          <a:bodyPr lIns="45719" rIns="45719"/>
          <a:lstStyle/>
          <a:p>
            <a:pPr/>
          </a:p>
        </p:txBody>
      </p:sp>
      <p:pic>
        <p:nvPicPr>
          <p:cNvPr id="252" name="Image 1" descr="Image 1"/>
          <p:cNvPicPr>
            <a:picLocks noChangeAspect="1"/>
          </p:cNvPicPr>
          <p:nvPr/>
        </p:nvPicPr>
        <p:blipFill>
          <a:blip r:embed="rId4">
            <a:extLst/>
          </a:blip>
          <a:stretch>
            <a:fillRect/>
          </a:stretch>
        </p:blipFill>
        <p:spPr>
          <a:xfrm>
            <a:off x="8429625" y="2830829"/>
            <a:ext cx="1428750" cy="762001"/>
          </a:xfrm>
          <a:prstGeom prst="rect">
            <a:avLst/>
          </a:prstGeom>
          <a:ln w="12700">
            <a:miter lim="400000"/>
          </a:ln>
        </p:spPr>
      </p:pic>
      <p:sp>
        <p:nvSpPr>
          <p:cNvPr id="253" name="Text 11"/>
          <p:cNvSpPr txBox="1"/>
          <p:nvPr/>
        </p:nvSpPr>
        <p:spPr>
          <a:xfrm>
            <a:off x="6943725" y="3907154"/>
            <a:ext cx="2161857" cy="39433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110000"/>
              </a:lnSpc>
              <a:defRPr b="1" sz="2350">
                <a:solidFill>
                  <a:srgbClr val="1D6657"/>
                </a:solidFill>
                <a:latin typeface="Arial"/>
                <a:ea typeface="Arial"/>
                <a:cs typeface="Arial"/>
                <a:sym typeface="Arial"/>
              </a:defRPr>
            </a:lvl1pPr>
          </a:lstStyle>
          <a:p>
            <a:pPr/>
            <a:r>
              <a:t>Validation load</a:t>
            </a:r>
          </a:p>
        </p:txBody>
      </p:sp>
      <p:sp>
        <p:nvSpPr>
          <p:cNvPr id="254" name="Text 12"/>
          <p:cNvSpPr txBox="1"/>
          <p:nvPr/>
        </p:nvSpPr>
        <p:spPr>
          <a:xfrm>
            <a:off x="6943724" y="4434840"/>
            <a:ext cx="4532569" cy="68358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0000"/>
              </a:lnSpc>
              <a:defRPr sz="1710">
                <a:solidFill>
                  <a:srgbClr val="11243C"/>
                </a:solidFill>
                <a:latin typeface="Arial"/>
                <a:ea typeface="Arial"/>
                <a:cs typeface="Arial"/>
                <a:sym typeface="Arial"/>
              </a:defRPr>
            </a:lvl1pPr>
          </a:lstStyle>
          <a:p>
            <a:pPr/>
            <a:r>
              <a:t>Outputs requiring review per unit of reviewer capacity.</a:t>
            </a:r>
          </a:p>
        </p:txBody>
      </p:sp>
      <p:sp>
        <p:nvSpPr>
          <p:cNvPr id="255" name="Shape 13"/>
          <p:cNvSpPr/>
          <p:nvPr/>
        </p:nvSpPr>
        <p:spPr>
          <a:xfrm>
            <a:off x="12115800" y="2373629"/>
            <a:ext cx="5029200" cy="2977516"/>
          </a:xfrm>
          <a:prstGeom prst="rect">
            <a:avLst/>
          </a:prstGeom>
          <a:solidFill>
            <a:srgbClr val="FFFCF0"/>
          </a:solidFill>
          <a:ln>
            <a:solidFill>
              <a:srgbClr val="C8C0A8"/>
            </a:solidFill>
          </a:ln>
        </p:spPr>
        <p:txBody>
          <a:bodyPr lIns="45719" rIns="45719"/>
          <a:lstStyle/>
          <a:p>
            <a:pPr/>
          </a:p>
        </p:txBody>
      </p:sp>
      <p:sp>
        <p:nvSpPr>
          <p:cNvPr id="256" name="Shape 14"/>
          <p:cNvSpPr/>
          <p:nvPr/>
        </p:nvSpPr>
        <p:spPr>
          <a:xfrm>
            <a:off x="12430125" y="2687954"/>
            <a:ext cx="4400550" cy="1047751"/>
          </a:xfrm>
          <a:prstGeom prst="roundRect">
            <a:avLst>
              <a:gd name="adj" fmla="val 1818"/>
            </a:avLst>
          </a:prstGeom>
          <a:solidFill>
            <a:srgbClr val="1D6657">
              <a:alpha val="6000"/>
            </a:srgbClr>
          </a:solidFill>
          <a:ln w="12700">
            <a:miter lim="400000"/>
          </a:ln>
        </p:spPr>
        <p:txBody>
          <a:bodyPr lIns="45719" rIns="45719"/>
          <a:lstStyle/>
          <a:p>
            <a:pPr/>
          </a:p>
        </p:txBody>
      </p:sp>
      <p:pic>
        <p:nvPicPr>
          <p:cNvPr id="257" name="Image 2" descr="Image 2"/>
          <p:cNvPicPr>
            <a:picLocks noChangeAspect="1"/>
          </p:cNvPicPr>
          <p:nvPr/>
        </p:nvPicPr>
        <p:blipFill>
          <a:blip r:embed="rId5">
            <a:extLst/>
          </a:blip>
          <a:stretch>
            <a:fillRect/>
          </a:stretch>
        </p:blipFill>
        <p:spPr>
          <a:xfrm>
            <a:off x="13916025" y="2830829"/>
            <a:ext cx="1428750" cy="762001"/>
          </a:xfrm>
          <a:prstGeom prst="rect">
            <a:avLst/>
          </a:prstGeom>
          <a:ln w="12700">
            <a:miter lim="400000"/>
          </a:ln>
        </p:spPr>
      </p:pic>
      <p:sp>
        <p:nvSpPr>
          <p:cNvPr id="258" name="Text 15"/>
          <p:cNvSpPr txBox="1"/>
          <p:nvPr/>
        </p:nvSpPr>
        <p:spPr>
          <a:xfrm>
            <a:off x="12430125" y="3907154"/>
            <a:ext cx="3811967" cy="39433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lnSpc>
                <a:spcPct val="110000"/>
              </a:lnSpc>
              <a:defRPr b="1" sz="2325">
                <a:solidFill>
                  <a:srgbClr val="1D6657"/>
                </a:solidFill>
                <a:latin typeface="Arial"/>
                <a:ea typeface="Arial"/>
                <a:cs typeface="Arial"/>
                <a:sym typeface="Arial"/>
              </a:defRPr>
            </a:lvl1pPr>
          </a:lstStyle>
          <a:p>
            <a:pPr/>
            <a:r>
              <a:t>Dependency accumulation</a:t>
            </a:r>
          </a:p>
        </p:txBody>
      </p:sp>
      <p:sp>
        <p:nvSpPr>
          <p:cNvPr id="259" name="Text 16"/>
          <p:cNvSpPr txBox="1"/>
          <p:nvPr/>
        </p:nvSpPr>
        <p:spPr>
          <a:xfrm>
            <a:off x="12430124" y="4434840"/>
            <a:ext cx="4532569" cy="68358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40000"/>
              </a:lnSpc>
              <a:defRPr sz="1710">
                <a:solidFill>
                  <a:srgbClr val="11243C"/>
                </a:solidFill>
                <a:latin typeface="Arial"/>
                <a:ea typeface="Arial"/>
                <a:cs typeface="Arial"/>
                <a:sym typeface="Arial"/>
              </a:defRPr>
            </a:lvl1pPr>
          </a:lstStyle>
          <a:p>
            <a:pPr/>
            <a:r>
              <a:t>Downstream workflow nodes depending on each approved output.</a:t>
            </a:r>
          </a:p>
        </p:txBody>
      </p:sp>
      <p:sp>
        <p:nvSpPr>
          <p:cNvPr id="260" name="Shape 17"/>
          <p:cNvSpPr/>
          <p:nvPr/>
        </p:nvSpPr>
        <p:spPr>
          <a:xfrm>
            <a:off x="1143000" y="5694045"/>
            <a:ext cx="16002000" cy="990601"/>
          </a:xfrm>
          <a:prstGeom prst="rect">
            <a:avLst/>
          </a:prstGeom>
          <a:solidFill>
            <a:srgbClr val="B8451E"/>
          </a:solidFill>
          <a:ln w="12700">
            <a:miter lim="400000"/>
          </a:ln>
        </p:spPr>
        <p:txBody>
          <a:bodyPr lIns="45719" rIns="45719"/>
          <a:lstStyle/>
          <a:p>
            <a:pPr/>
          </a:p>
        </p:txBody>
      </p:sp>
      <p:sp>
        <p:nvSpPr>
          <p:cNvPr id="261" name="Shape 18"/>
          <p:cNvSpPr/>
          <p:nvPr/>
        </p:nvSpPr>
        <p:spPr>
          <a:xfrm>
            <a:off x="3358991" y="5960745"/>
            <a:ext cx="12701" cy="457201"/>
          </a:xfrm>
          <a:prstGeom prst="rect">
            <a:avLst/>
          </a:prstGeom>
          <a:solidFill>
            <a:srgbClr val="FDF6E7">
              <a:alpha val="40000"/>
            </a:srgbClr>
          </a:solidFill>
          <a:ln w="12700">
            <a:miter lim="400000"/>
          </a:ln>
        </p:spPr>
        <p:txBody>
          <a:bodyPr lIns="45719" rIns="45719"/>
          <a:lstStyle/>
          <a:p>
            <a:pPr/>
          </a:p>
        </p:txBody>
      </p:sp>
      <p:sp>
        <p:nvSpPr>
          <p:cNvPr id="262" name="Text 19"/>
          <p:cNvSpPr txBox="1"/>
          <p:nvPr/>
        </p:nvSpPr>
        <p:spPr>
          <a:xfrm>
            <a:off x="1524000" y="5960745"/>
            <a:ext cx="1607979" cy="495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b="1" spc="252" sz="1512">
                <a:solidFill>
                  <a:srgbClr val="ECC833"/>
                </a:solidFill>
                <a:latin typeface="Arial"/>
                <a:ea typeface="Arial"/>
                <a:cs typeface="Arial"/>
                <a:sym typeface="Arial"/>
              </a:defRPr>
            </a:lvl1pPr>
          </a:lstStyle>
          <a:p>
            <a:pPr/>
            <a:r>
              <a:t>DESIGN PRINCIPLE</a:t>
            </a:r>
          </a:p>
        </p:txBody>
      </p:sp>
      <p:sp>
        <p:nvSpPr>
          <p:cNvPr id="263" name="Text 20"/>
          <p:cNvSpPr txBox="1"/>
          <p:nvPr/>
        </p:nvSpPr>
        <p:spPr>
          <a:xfrm>
            <a:off x="3674903" y="5986938"/>
            <a:ext cx="13481771" cy="44291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25000"/>
              </a:lnSpc>
              <a:defRPr b="1" sz="2500">
                <a:solidFill>
                  <a:srgbClr val="FDF6E7"/>
                </a:solidFill>
                <a:latin typeface="Arial"/>
                <a:ea typeface="Arial"/>
                <a:cs typeface="Arial"/>
                <a:sym typeface="Arial"/>
              </a:defRPr>
            </a:lvl1pPr>
          </a:lstStyle>
          <a:p>
            <a:pPr/>
            <a:r>
              <a:t>Satisfying the metric and exercising genuine oversight should be difficult to decouple.</a:t>
            </a:r>
          </a:p>
        </p:txBody>
      </p:sp>
      <p:sp>
        <p:nvSpPr>
          <p:cNvPr id="264" name="Text 21"/>
          <p:cNvSpPr txBox="1"/>
          <p:nvPr/>
        </p:nvSpPr>
        <p:spPr>
          <a:xfrm>
            <a:off x="902970" y="6856094"/>
            <a:ext cx="16482061" cy="3467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35000"/>
              </a:lnSpc>
              <a:defRPr i="1">
                <a:solidFill>
                  <a:srgbClr val="7A7363"/>
                </a:solidFill>
                <a:latin typeface="Arial"/>
                <a:ea typeface="Arial"/>
                <a:cs typeface="Arial"/>
                <a:sym typeface="Arial"/>
              </a:defRPr>
            </a:lvl1pPr>
          </a:lstStyle>
          <a:p>
            <a:pPr/>
            <a:r>
              <a:t>Designed as workflow-level structural signals, not individual reviewer monitoring.</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268"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269" name="Text 1"/>
          <p:cNvSpPr txBox="1"/>
          <p:nvPr/>
        </p:nvSpPr>
        <p:spPr>
          <a:xfrm>
            <a:off x="12441395"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03</a:t>
            </a:r>
          </a:p>
        </p:txBody>
      </p:sp>
      <p:sp>
        <p:nvSpPr>
          <p:cNvPr id="270" name="Text 2"/>
          <p:cNvSpPr txBox="1"/>
          <p:nvPr/>
        </p:nvSpPr>
        <p:spPr>
          <a:xfrm>
            <a:off x="12915741"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271" name="Text 3"/>
          <p:cNvSpPr txBox="1"/>
          <p:nvPr/>
        </p:nvSpPr>
        <p:spPr>
          <a:xfrm>
            <a:off x="13157517" y="233361"/>
            <a:ext cx="4107108"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TOWARD INSTRUMENTATION</a:t>
            </a:r>
          </a:p>
        </p:txBody>
      </p:sp>
      <p:sp>
        <p:nvSpPr>
          <p:cNvPr id="272"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Five mechanisms practitioners can pilot today.</a:t>
            </a:r>
          </a:p>
        </p:txBody>
      </p:sp>
      <p:sp>
        <p:nvSpPr>
          <p:cNvPr id="273" name="Shape 5"/>
          <p:cNvSpPr/>
          <p:nvPr/>
        </p:nvSpPr>
        <p:spPr>
          <a:xfrm>
            <a:off x="1143000" y="2611596"/>
            <a:ext cx="16002000" cy="12701"/>
          </a:xfrm>
          <a:prstGeom prst="rect">
            <a:avLst/>
          </a:prstGeom>
          <a:solidFill>
            <a:srgbClr val="C8C0A8"/>
          </a:solidFill>
          <a:ln w="12700">
            <a:miter lim="400000"/>
          </a:ln>
        </p:spPr>
        <p:txBody>
          <a:bodyPr lIns="45719" rIns="45719"/>
          <a:lstStyle/>
          <a:p>
            <a:pPr/>
          </a:p>
        </p:txBody>
      </p:sp>
      <p:sp>
        <p:nvSpPr>
          <p:cNvPr id="274" name="Text 6"/>
          <p:cNvSpPr txBox="1"/>
          <p:nvPr/>
        </p:nvSpPr>
        <p:spPr>
          <a:xfrm>
            <a:off x="1066800" y="2908618"/>
            <a:ext cx="1123950"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804672">
              <a:defRPr b="1" spc="-88" sz="3696">
                <a:solidFill>
                  <a:srgbClr val="1D6657"/>
                </a:solidFill>
                <a:latin typeface="Arial"/>
                <a:ea typeface="Arial"/>
                <a:cs typeface="Arial"/>
                <a:sym typeface="Arial"/>
              </a:defRPr>
            </a:lvl1pPr>
          </a:lstStyle>
          <a:p>
            <a:pPr/>
            <a:r>
              <a:t>01</a:t>
            </a:r>
          </a:p>
        </p:txBody>
      </p:sp>
      <p:pic>
        <p:nvPicPr>
          <p:cNvPr id="275" name="Image 0" descr="Image 0"/>
          <p:cNvPicPr>
            <a:picLocks noChangeAspect="1"/>
          </p:cNvPicPr>
          <p:nvPr/>
        </p:nvPicPr>
        <p:blipFill>
          <a:blip r:embed="rId3">
            <a:extLst/>
          </a:blip>
          <a:stretch>
            <a:fillRect/>
          </a:stretch>
        </p:blipFill>
        <p:spPr>
          <a:xfrm>
            <a:off x="2533650" y="2946718"/>
            <a:ext cx="457200" cy="457201"/>
          </a:xfrm>
          <a:prstGeom prst="rect">
            <a:avLst/>
          </a:prstGeom>
          <a:ln w="12700">
            <a:miter lim="400000"/>
          </a:ln>
        </p:spPr>
      </p:pic>
      <p:sp>
        <p:nvSpPr>
          <p:cNvPr id="276" name="Text 7"/>
          <p:cNvSpPr txBox="1"/>
          <p:nvPr/>
        </p:nvSpPr>
        <p:spPr>
          <a:xfrm>
            <a:off x="3467100" y="2832258"/>
            <a:ext cx="4793533"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15000"/>
              </a:lnSpc>
              <a:defRPr b="1" spc="-98" sz="2352">
                <a:solidFill>
                  <a:srgbClr val="11243C"/>
                </a:solidFill>
                <a:latin typeface="Arial"/>
                <a:ea typeface="Arial"/>
                <a:cs typeface="Arial"/>
                <a:sym typeface="Arial"/>
              </a:defRPr>
            </a:lvl1pPr>
          </a:lstStyle>
          <a:p>
            <a:pPr/>
            <a:r>
              <a:t>Seeded calibration checks</a:t>
            </a:r>
          </a:p>
        </p:txBody>
      </p:sp>
      <p:sp>
        <p:nvSpPr>
          <p:cNvPr id="277" name="Text 8"/>
          <p:cNvSpPr txBox="1"/>
          <p:nvPr/>
        </p:nvSpPr>
        <p:spPr>
          <a:xfrm>
            <a:off x="8502015" y="2849879"/>
            <a:ext cx="8902276" cy="706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3D4659"/>
                </a:solidFill>
                <a:latin typeface="Arial"/>
                <a:ea typeface="Arial"/>
                <a:cs typeface="Arial"/>
                <a:sym typeface="Arial"/>
              </a:defRPr>
            </a:lvl1pPr>
          </a:lstStyle>
          <a:p>
            <a:pPr/>
            <a:r>
              <a:t>Pre-validated outputs injected into the queue. Disagreement rate on seeded items tracks engagement on the rest.</a:t>
            </a:r>
          </a:p>
        </p:txBody>
      </p:sp>
      <p:sp>
        <p:nvSpPr>
          <p:cNvPr id="278" name="Shape 9"/>
          <p:cNvSpPr/>
          <p:nvPr/>
        </p:nvSpPr>
        <p:spPr>
          <a:xfrm>
            <a:off x="1143000" y="3764597"/>
            <a:ext cx="16002000" cy="12701"/>
          </a:xfrm>
          <a:prstGeom prst="rect">
            <a:avLst/>
          </a:prstGeom>
          <a:solidFill>
            <a:srgbClr val="C8C0A8"/>
          </a:solidFill>
          <a:ln w="12700">
            <a:miter lim="400000"/>
          </a:ln>
        </p:spPr>
        <p:txBody>
          <a:bodyPr lIns="45719" rIns="45719"/>
          <a:lstStyle/>
          <a:p>
            <a:pPr/>
          </a:p>
        </p:txBody>
      </p:sp>
      <p:sp>
        <p:nvSpPr>
          <p:cNvPr id="279" name="Text 10"/>
          <p:cNvSpPr txBox="1"/>
          <p:nvPr/>
        </p:nvSpPr>
        <p:spPr>
          <a:xfrm>
            <a:off x="1066800" y="4061619"/>
            <a:ext cx="1123950"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804672">
              <a:defRPr b="1" spc="-88" sz="3696">
                <a:solidFill>
                  <a:srgbClr val="1D6657"/>
                </a:solidFill>
                <a:latin typeface="Arial"/>
                <a:ea typeface="Arial"/>
                <a:cs typeface="Arial"/>
                <a:sym typeface="Arial"/>
              </a:defRPr>
            </a:lvl1pPr>
          </a:lstStyle>
          <a:p>
            <a:pPr/>
            <a:r>
              <a:t>02</a:t>
            </a:r>
          </a:p>
        </p:txBody>
      </p:sp>
      <p:pic>
        <p:nvPicPr>
          <p:cNvPr id="280" name="Image 1" descr="Image 1"/>
          <p:cNvPicPr>
            <a:picLocks noChangeAspect="1"/>
          </p:cNvPicPr>
          <p:nvPr/>
        </p:nvPicPr>
        <p:blipFill>
          <a:blip r:embed="rId4">
            <a:extLst/>
          </a:blip>
          <a:stretch>
            <a:fillRect/>
          </a:stretch>
        </p:blipFill>
        <p:spPr>
          <a:xfrm>
            <a:off x="2533650" y="4099719"/>
            <a:ext cx="457200" cy="457201"/>
          </a:xfrm>
          <a:prstGeom prst="rect">
            <a:avLst/>
          </a:prstGeom>
          <a:ln w="12700">
            <a:miter lim="400000"/>
          </a:ln>
        </p:spPr>
      </p:pic>
      <p:sp>
        <p:nvSpPr>
          <p:cNvPr id="281" name="Text 11"/>
          <p:cNvSpPr txBox="1"/>
          <p:nvPr/>
        </p:nvSpPr>
        <p:spPr>
          <a:xfrm>
            <a:off x="3467100" y="3985259"/>
            <a:ext cx="4793533" cy="3996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15000"/>
              </a:lnSpc>
              <a:defRPr b="1" spc="-98" sz="2352">
                <a:solidFill>
                  <a:srgbClr val="11243C"/>
                </a:solidFill>
                <a:latin typeface="Arial"/>
                <a:ea typeface="Arial"/>
                <a:cs typeface="Arial"/>
                <a:sym typeface="Arial"/>
              </a:defRPr>
            </a:lvl1pPr>
          </a:lstStyle>
          <a:p>
            <a:pPr/>
            <a:r>
              <a:t>Onboarding-period baselines</a:t>
            </a:r>
          </a:p>
        </p:txBody>
      </p:sp>
      <p:sp>
        <p:nvSpPr>
          <p:cNvPr id="282" name="Text 12"/>
          <p:cNvSpPr txBox="1"/>
          <p:nvPr/>
        </p:nvSpPr>
        <p:spPr>
          <a:xfrm>
            <a:off x="8502015" y="4002880"/>
            <a:ext cx="8902276" cy="706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3D4659"/>
                </a:solidFill>
                <a:latin typeface="Arial"/>
                <a:ea typeface="Arial"/>
                <a:cs typeface="Arial"/>
                <a:sym typeface="Arial"/>
              </a:defRPr>
            </a:lvl1pPr>
          </a:lstStyle>
          <a:p>
            <a:pPr/>
            <a:r>
              <a:t>Log new reviewers' correction patterns before calibration. Gaps signal that operational norms have drifted.</a:t>
            </a:r>
          </a:p>
        </p:txBody>
      </p:sp>
      <p:sp>
        <p:nvSpPr>
          <p:cNvPr id="283" name="Shape 13"/>
          <p:cNvSpPr/>
          <p:nvPr/>
        </p:nvSpPr>
        <p:spPr>
          <a:xfrm>
            <a:off x="1143000" y="4917598"/>
            <a:ext cx="16002000" cy="12701"/>
          </a:xfrm>
          <a:prstGeom prst="rect">
            <a:avLst/>
          </a:prstGeom>
          <a:solidFill>
            <a:srgbClr val="C8C0A8"/>
          </a:solidFill>
          <a:ln w="12700">
            <a:miter lim="400000"/>
          </a:ln>
        </p:spPr>
        <p:txBody>
          <a:bodyPr lIns="45719" rIns="45719"/>
          <a:lstStyle/>
          <a:p>
            <a:pPr/>
          </a:p>
        </p:txBody>
      </p:sp>
      <p:sp>
        <p:nvSpPr>
          <p:cNvPr id="284" name="Text 14"/>
          <p:cNvSpPr txBox="1"/>
          <p:nvPr/>
        </p:nvSpPr>
        <p:spPr>
          <a:xfrm>
            <a:off x="1066800" y="5222080"/>
            <a:ext cx="1123950"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804672">
              <a:defRPr b="1" spc="-88" sz="3696">
                <a:solidFill>
                  <a:srgbClr val="1D6657"/>
                </a:solidFill>
                <a:latin typeface="Arial"/>
                <a:ea typeface="Arial"/>
                <a:cs typeface="Arial"/>
                <a:sym typeface="Arial"/>
              </a:defRPr>
            </a:lvl1pPr>
          </a:lstStyle>
          <a:p>
            <a:pPr/>
            <a:r>
              <a:t>03</a:t>
            </a:r>
          </a:p>
        </p:txBody>
      </p:sp>
      <p:pic>
        <p:nvPicPr>
          <p:cNvPr id="285" name="Image 2" descr="Image 2"/>
          <p:cNvPicPr>
            <a:picLocks noChangeAspect="1"/>
          </p:cNvPicPr>
          <p:nvPr/>
        </p:nvPicPr>
        <p:blipFill>
          <a:blip r:embed="rId5">
            <a:extLst/>
          </a:blip>
          <a:stretch>
            <a:fillRect/>
          </a:stretch>
        </p:blipFill>
        <p:spPr>
          <a:xfrm>
            <a:off x="2533650" y="5260180"/>
            <a:ext cx="457200" cy="457201"/>
          </a:xfrm>
          <a:prstGeom prst="rect">
            <a:avLst/>
          </a:prstGeom>
          <a:ln w="12700">
            <a:miter lim="400000"/>
          </a:ln>
        </p:spPr>
      </p:pic>
      <p:sp>
        <p:nvSpPr>
          <p:cNvPr id="286" name="Text 15"/>
          <p:cNvSpPr txBox="1"/>
          <p:nvPr/>
        </p:nvSpPr>
        <p:spPr>
          <a:xfrm>
            <a:off x="3467100" y="5138261"/>
            <a:ext cx="4793533" cy="739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115000"/>
              </a:lnSpc>
              <a:defRPr b="1" spc="-91" sz="2184">
                <a:solidFill>
                  <a:srgbClr val="11243C"/>
                </a:solidFill>
                <a:latin typeface="Arial"/>
                <a:ea typeface="Arial"/>
                <a:cs typeface="Arial"/>
                <a:sym typeface="Arial"/>
              </a:defRPr>
            </a:lvl1pPr>
          </a:lstStyle>
          <a:p>
            <a:pPr/>
            <a:r>
              <a:t>Dependency surfacing at decision time</a:t>
            </a:r>
          </a:p>
        </p:txBody>
      </p:sp>
      <p:sp>
        <p:nvSpPr>
          <p:cNvPr id="287" name="Text 16"/>
          <p:cNvSpPr txBox="1"/>
          <p:nvPr/>
        </p:nvSpPr>
        <p:spPr>
          <a:xfrm>
            <a:off x="8502015" y="5155882"/>
            <a:ext cx="8902276" cy="706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3D4659"/>
                </a:solidFill>
                <a:latin typeface="Arial"/>
                <a:ea typeface="Arial"/>
                <a:cs typeface="Arial"/>
                <a:sym typeface="Arial"/>
              </a:defRPr>
            </a:lvl1pPr>
          </a:lstStyle>
          <a:p>
            <a:pPr/>
            <a:r>
              <a:t>Show the reviewer how many downstream things depend on this approval, at the moment of approval.</a:t>
            </a:r>
          </a:p>
        </p:txBody>
      </p:sp>
      <p:sp>
        <p:nvSpPr>
          <p:cNvPr id="288" name="Shape 17"/>
          <p:cNvSpPr/>
          <p:nvPr/>
        </p:nvSpPr>
        <p:spPr>
          <a:xfrm>
            <a:off x="1143000" y="6085363"/>
            <a:ext cx="16002000" cy="12701"/>
          </a:xfrm>
          <a:prstGeom prst="rect">
            <a:avLst/>
          </a:prstGeom>
          <a:solidFill>
            <a:srgbClr val="C8C0A8"/>
          </a:solidFill>
          <a:ln w="12700">
            <a:miter lim="400000"/>
          </a:ln>
        </p:spPr>
        <p:txBody>
          <a:bodyPr lIns="45719" rIns="45719"/>
          <a:lstStyle/>
          <a:p>
            <a:pPr/>
          </a:p>
        </p:txBody>
      </p:sp>
      <p:sp>
        <p:nvSpPr>
          <p:cNvPr id="289" name="Text 18"/>
          <p:cNvSpPr txBox="1"/>
          <p:nvPr/>
        </p:nvSpPr>
        <p:spPr>
          <a:xfrm>
            <a:off x="1066800" y="6389846"/>
            <a:ext cx="1123950"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804672">
              <a:defRPr b="1" spc="-88" sz="3696">
                <a:solidFill>
                  <a:srgbClr val="1D6657"/>
                </a:solidFill>
                <a:latin typeface="Arial"/>
                <a:ea typeface="Arial"/>
                <a:cs typeface="Arial"/>
                <a:sym typeface="Arial"/>
              </a:defRPr>
            </a:lvl1pPr>
          </a:lstStyle>
          <a:p>
            <a:pPr/>
            <a:r>
              <a:t>04</a:t>
            </a:r>
          </a:p>
        </p:txBody>
      </p:sp>
      <p:pic>
        <p:nvPicPr>
          <p:cNvPr id="290" name="Image 3" descr="Image 3"/>
          <p:cNvPicPr>
            <a:picLocks noChangeAspect="1"/>
          </p:cNvPicPr>
          <p:nvPr/>
        </p:nvPicPr>
        <p:blipFill>
          <a:blip r:embed="rId6">
            <a:extLst/>
          </a:blip>
          <a:stretch>
            <a:fillRect/>
          </a:stretch>
        </p:blipFill>
        <p:spPr>
          <a:xfrm>
            <a:off x="2533650" y="6427946"/>
            <a:ext cx="457200" cy="457201"/>
          </a:xfrm>
          <a:prstGeom prst="rect">
            <a:avLst/>
          </a:prstGeom>
          <a:ln w="12700">
            <a:miter lim="400000"/>
          </a:ln>
        </p:spPr>
      </p:pic>
      <p:sp>
        <p:nvSpPr>
          <p:cNvPr id="291" name="Text 19"/>
          <p:cNvSpPr txBox="1"/>
          <p:nvPr/>
        </p:nvSpPr>
        <p:spPr>
          <a:xfrm>
            <a:off x="3467100" y="6306025"/>
            <a:ext cx="4793533" cy="739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115000"/>
              </a:lnSpc>
              <a:defRPr b="1" spc="-89" sz="2136">
                <a:solidFill>
                  <a:srgbClr val="11243C"/>
                </a:solidFill>
                <a:latin typeface="Arial"/>
                <a:ea typeface="Arial"/>
                <a:cs typeface="Arial"/>
                <a:sym typeface="Arial"/>
              </a:defRPr>
            </a:lvl1pPr>
          </a:lstStyle>
          <a:p>
            <a:pPr/>
            <a:r>
              <a:t>Decision-point logging for long-running workflows</a:t>
            </a:r>
          </a:p>
        </p:txBody>
      </p:sp>
      <p:sp>
        <p:nvSpPr>
          <p:cNvPr id="292" name="Text 20"/>
          <p:cNvSpPr txBox="1"/>
          <p:nvPr/>
        </p:nvSpPr>
        <p:spPr>
          <a:xfrm>
            <a:off x="8502015" y="6323648"/>
            <a:ext cx="8902276" cy="706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3D4659"/>
                </a:solidFill>
                <a:latin typeface="Arial"/>
                <a:ea typeface="Arial"/>
                <a:cs typeface="Arial"/>
                <a:sym typeface="Arial"/>
              </a:defRPr>
            </a:lvl1pPr>
          </a:lstStyle>
          <a:p>
            <a:pPr/>
            <a:r>
              <a:t>Structured events at each irreversible decision in an agentic trajectory, not just the final output.</a:t>
            </a:r>
          </a:p>
        </p:txBody>
      </p:sp>
      <p:sp>
        <p:nvSpPr>
          <p:cNvPr id="293" name="Shape 21"/>
          <p:cNvSpPr/>
          <p:nvPr/>
        </p:nvSpPr>
        <p:spPr>
          <a:xfrm>
            <a:off x="1143000" y="8382794"/>
            <a:ext cx="16002000" cy="12701"/>
          </a:xfrm>
          <a:prstGeom prst="rect">
            <a:avLst/>
          </a:prstGeom>
          <a:solidFill>
            <a:srgbClr val="C8C0A8"/>
          </a:solidFill>
          <a:ln w="12700">
            <a:miter lim="400000"/>
          </a:ln>
        </p:spPr>
        <p:txBody>
          <a:bodyPr lIns="45719" rIns="45719"/>
          <a:lstStyle/>
          <a:p>
            <a:pPr/>
          </a:p>
        </p:txBody>
      </p:sp>
      <p:sp>
        <p:nvSpPr>
          <p:cNvPr id="294" name="Shape 22"/>
          <p:cNvSpPr/>
          <p:nvPr/>
        </p:nvSpPr>
        <p:spPr>
          <a:xfrm>
            <a:off x="1143000" y="7253128"/>
            <a:ext cx="16002000" cy="12701"/>
          </a:xfrm>
          <a:prstGeom prst="rect">
            <a:avLst/>
          </a:prstGeom>
          <a:solidFill>
            <a:srgbClr val="C8C0A8"/>
          </a:solidFill>
          <a:ln w="12700">
            <a:miter lim="400000"/>
          </a:ln>
        </p:spPr>
        <p:txBody>
          <a:bodyPr lIns="45719" rIns="45719"/>
          <a:lstStyle/>
          <a:p>
            <a:pPr/>
          </a:p>
        </p:txBody>
      </p:sp>
      <p:sp>
        <p:nvSpPr>
          <p:cNvPr id="295" name="Text 23"/>
          <p:cNvSpPr txBox="1"/>
          <p:nvPr/>
        </p:nvSpPr>
        <p:spPr>
          <a:xfrm>
            <a:off x="1066800" y="7557610"/>
            <a:ext cx="1123950" cy="571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r" defTabSz="804672">
              <a:defRPr b="1" spc="-88" sz="3696">
                <a:solidFill>
                  <a:srgbClr val="1D6657"/>
                </a:solidFill>
                <a:latin typeface="Arial"/>
                <a:ea typeface="Arial"/>
                <a:cs typeface="Arial"/>
                <a:sym typeface="Arial"/>
              </a:defRPr>
            </a:lvl1pPr>
          </a:lstStyle>
          <a:p>
            <a:pPr/>
            <a:r>
              <a:t>05</a:t>
            </a:r>
          </a:p>
        </p:txBody>
      </p:sp>
      <p:pic>
        <p:nvPicPr>
          <p:cNvPr id="296" name="Image 4" descr="Image 4"/>
          <p:cNvPicPr>
            <a:picLocks noChangeAspect="1"/>
          </p:cNvPicPr>
          <p:nvPr/>
        </p:nvPicPr>
        <p:blipFill>
          <a:blip r:embed="rId7">
            <a:extLst/>
          </a:blip>
          <a:stretch>
            <a:fillRect/>
          </a:stretch>
        </p:blipFill>
        <p:spPr>
          <a:xfrm>
            <a:off x="2533650" y="7595710"/>
            <a:ext cx="457200" cy="457201"/>
          </a:xfrm>
          <a:prstGeom prst="rect">
            <a:avLst/>
          </a:prstGeom>
          <a:ln w="12700">
            <a:miter lim="400000"/>
          </a:ln>
        </p:spPr>
      </p:pic>
      <p:sp>
        <p:nvSpPr>
          <p:cNvPr id="297" name="Text 24"/>
          <p:cNvSpPr txBox="1"/>
          <p:nvPr/>
        </p:nvSpPr>
        <p:spPr>
          <a:xfrm>
            <a:off x="3467100" y="7473791"/>
            <a:ext cx="4793533" cy="739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15000"/>
              </a:lnSpc>
              <a:defRPr b="1" spc="-96" sz="2304">
                <a:solidFill>
                  <a:srgbClr val="11243C"/>
                </a:solidFill>
                <a:latin typeface="Arial"/>
                <a:ea typeface="Arial"/>
                <a:cs typeface="Arial"/>
                <a:sym typeface="Arial"/>
              </a:defRPr>
            </a:lvl1pPr>
          </a:lstStyle>
          <a:p>
            <a:pPr/>
            <a:r>
              <a:t>Workload ceilings with backpressure</a:t>
            </a:r>
          </a:p>
        </p:txBody>
      </p:sp>
      <p:sp>
        <p:nvSpPr>
          <p:cNvPr id="298" name="Text 25"/>
          <p:cNvSpPr txBox="1"/>
          <p:nvPr/>
        </p:nvSpPr>
        <p:spPr>
          <a:xfrm>
            <a:off x="8502015" y="7491413"/>
            <a:ext cx="8902276" cy="70675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3D4659"/>
                </a:solidFill>
                <a:latin typeface="Arial"/>
                <a:ea typeface="Arial"/>
                <a:cs typeface="Arial"/>
                <a:sym typeface="Arial"/>
              </a:defRPr>
            </a:lvl1pPr>
          </a:lstStyle>
          <a:p>
            <a:pPr/>
            <a:r>
              <a:t>Routing refuses additional outputs to a saturated reviewer. Converts an indicator into an enforcement mechanism.</a:t>
            </a:r>
          </a:p>
        </p:txBody>
      </p:sp>
      <p:sp>
        <p:nvSpPr>
          <p:cNvPr id="299" name="Text 26"/>
          <p:cNvSpPr txBox="1"/>
          <p:nvPr/>
        </p:nvSpPr>
        <p:spPr>
          <a:xfrm>
            <a:off x="902970" y="8976359"/>
            <a:ext cx="1648206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40000"/>
              </a:lnSpc>
              <a:defRPr i="1">
                <a:solidFill>
                  <a:srgbClr val="7A7363"/>
                </a:solidFill>
                <a:latin typeface="Arial"/>
                <a:ea typeface="Arial"/>
                <a:cs typeface="Arial"/>
                <a:sym typeface="Arial"/>
              </a:defRPr>
            </a:lvl1pPr>
          </a:lstStyle>
          <a:p>
            <a:pPr/>
            <a:r>
              <a:t>All can be built with current workflow infrastructure and existing logging.</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5E7"/>
        </a:solidFill>
      </p:bgPr>
    </p:bg>
    <p:spTree>
      <p:nvGrpSpPr>
        <p:cNvPr id="1" name=""/>
        <p:cNvGrpSpPr/>
        <p:nvPr/>
      </p:nvGrpSpPr>
      <p:grpSpPr>
        <a:xfrm>
          <a:off x="0" y="0"/>
          <a:ext cx="0" cy="0"/>
          <a:chOff x="0" y="0"/>
          <a:chExt cx="0" cy="0"/>
        </a:xfrm>
      </p:grpSpPr>
      <p:sp>
        <p:nvSpPr>
          <p:cNvPr id="303" name="Shape 0"/>
          <p:cNvSpPr/>
          <p:nvPr/>
        </p:nvSpPr>
        <p:spPr>
          <a:xfrm>
            <a:off x="0" y="0"/>
            <a:ext cx="18288000" cy="819150"/>
          </a:xfrm>
          <a:prstGeom prst="rect">
            <a:avLst/>
          </a:prstGeom>
          <a:solidFill>
            <a:srgbClr val="0D2340"/>
          </a:solidFill>
          <a:ln w="12700">
            <a:miter lim="400000"/>
          </a:ln>
        </p:spPr>
        <p:txBody>
          <a:bodyPr lIns="45719" rIns="45719"/>
          <a:lstStyle/>
          <a:p>
            <a:pPr/>
          </a:p>
        </p:txBody>
      </p:sp>
      <p:sp>
        <p:nvSpPr>
          <p:cNvPr id="304" name="Text 1"/>
          <p:cNvSpPr txBox="1"/>
          <p:nvPr/>
        </p:nvSpPr>
        <p:spPr>
          <a:xfrm>
            <a:off x="12441395" y="240982"/>
            <a:ext cx="417195"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b="1" spc="300" sz="1900">
                <a:solidFill>
                  <a:srgbClr val="ECC833"/>
                </a:solidFill>
                <a:latin typeface="Arial"/>
                <a:ea typeface="Arial"/>
                <a:cs typeface="Arial"/>
                <a:sym typeface="Arial"/>
              </a:defRPr>
            </a:lvl1pPr>
          </a:lstStyle>
          <a:p>
            <a:pPr/>
            <a:r>
              <a:t>03</a:t>
            </a:r>
          </a:p>
        </p:txBody>
      </p:sp>
      <p:sp>
        <p:nvSpPr>
          <p:cNvPr id="305" name="Text 2"/>
          <p:cNvSpPr txBox="1"/>
          <p:nvPr/>
        </p:nvSpPr>
        <p:spPr>
          <a:xfrm>
            <a:off x="12915741" y="231457"/>
            <a:ext cx="184627" cy="384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spc="300" sz="1900">
                <a:solidFill>
                  <a:srgbClr val="FFFDF2">
                    <a:alpha val="40000"/>
                  </a:srgbClr>
                </a:solidFill>
                <a:latin typeface="Arial"/>
                <a:ea typeface="Arial"/>
                <a:cs typeface="Arial"/>
                <a:sym typeface="Arial"/>
              </a:defRPr>
            </a:lvl1pPr>
          </a:lstStyle>
          <a:p>
            <a:pPr/>
            <a:r>
              <a:t>/</a:t>
            </a:r>
          </a:p>
        </p:txBody>
      </p:sp>
      <p:sp>
        <p:nvSpPr>
          <p:cNvPr id="306" name="Text 3"/>
          <p:cNvSpPr txBox="1"/>
          <p:nvPr/>
        </p:nvSpPr>
        <p:spPr>
          <a:xfrm>
            <a:off x="13157517" y="233361"/>
            <a:ext cx="4107108" cy="40005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886968">
              <a:lnSpc>
                <a:spcPct val="140000"/>
              </a:lnSpc>
              <a:defRPr b="1" spc="291" sz="1843">
                <a:solidFill>
                  <a:srgbClr val="FFFDF2">
                    <a:alpha val="92000"/>
                  </a:srgbClr>
                </a:solidFill>
                <a:latin typeface="Arial"/>
                <a:ea typeface="Arial"/>
                <a:cs typeface="Arial"/>
                <a:sym typeface="Arial"/>
              </a:defRPr>
            </a:lvl1pPr>
          </a:lstStyle>
          <a:p>
            <a:pPr/>
            <a:r>
              <a:t>TOWARD INSTRUMENTATION</a:t>
            </a:r>
          </a:p>
        </p:txBody>
      </p:sp>
      <p:sp>
        <p:nvSpPr>
          <p:cNvPr id="307" name="Text 4"/>
          <p:cNvSpPr txBox="1"/>
          <p:nvPr/>
        </p:nvSpPr>
        <p:spPr>
          <a:xfrm>
            <a:off x="1143000" y="1200149"/>
            <a:ext cx="16482061" cy="8305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104000"/>
              </a:lnSpc>
              <a:defRPr b="1" spc="-90" sz="5400">
                <a:solidFill>
                  <a:srgbClr val="11243C"/>
                </a:solidFill>
                <a:latin typeface="Arial"/>
                <a:ea typeface="Arial"/>
                <a:cs typeface="Arial"/>
                <a:sym typeface="Arial"/>
              </a:defRPr>
            </a:lvl1pPr>
          </a:lstStyle>
          <a:p>
            <a:pPr/>
            <a:r>
              <a:t>Three partnership types.</a:t>
            </a:r>
          </a:p>
        </p:txBody>
      </p:sp>
      <p:sp>
        <p:nvSpPr>
          <p:cNvPr id="308" name="Text 5"/>
          <p:cNvSpPr txBox="1"/>
          <p:nvPr/>
        </p:nvSpPr>
        <p:spPr>
          <a:xfrm>
            <a:off x="1143000" y="2106929"/>
            <a:ext cx="14716125" cy="39814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i="1" sz="2100">
                <a:solidFill>
                  <a:srgbClr val="7A7363"/>
                </a:solidFill>
                <a:latin typeface="Arial"/>
                <a:ea typeface="Arial"/>
                <a:cs typeface="Arial"/>
                <a:sym typeface="Arial"/>
              </a:defRPr>
            </a:lvl1pPr>
          </a:lstStyle>
          <a:p>
            <a:pPr/>
            <a:r>
              <a:t>Shaped by experience teaching and working in enterprise deployments.</a:t>
            </a:r>
          </a:p>
        </p:txBody>
      </p:sp>
      <p:sp>
        <p:nvSpPr>
          <p:cNvPr id="309" name="Shape 6"/>
          <p:cNvSpPr/>
          <p:nvPr/>
        </p:nvSpPr>
        <p:spPr>
          <a:xfrm>
            <a:off x="1209675" y="2962275"/>
            <a:ext cx="133350" cy="133350"/>
          </a:xfrm>
          <a:prstGeom prst="rect">
            <a:avLst/>
          </a:prstGeom>
          <a:solidFill>
            <a:srgbClr val="1D6657"/>
          </a:solidFill>
          <a:ln w="12700">
            <a:miter lim="400000"/>
          </a:ln>
        </p:spPr>
        <p:txBody>
          <a:bodyPr lIns="45719" rIns="45719"/>
          <a:lstStyle/>
          <a:p>
            <a:pPr/>
          </a:p>
        </p:txBody>
      </p:sp>
      <p:sp>
        <p:nvSpPr>
          <p:cNvPr id="310" name="Text 7"/>
          <p:cNvSpPr txBox="1"/>
          <p:nvPr/>
        </p:nvSpPr>
        <p:spPr>
          <a:xfrm>
            <a:off x="1638299" y="2809874"/>
            <a:ext cx="15971903" cy="876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35000"/>
              </a:lnSpc>
              <a:defRPr b="1" sz="2400">
                <a:solidFill>
                  <a:srgbClr val="1D6657"/>
                </a:solidFill>
                <a:latin typeface="Arial"/>
                <a:ea typeface="Arial"/>
                <a:cs typeface="Arial"/>
                <a:sym typeface="Arial"/>
              </a:defRPr>
            </a:pPr>
            <a:r>
              <a:t xml:space="preserve">Deployment-context partners </a:t>
            </a:r>
            <a:r>
              <a:rPr b="0">
                <a:solidFill>
                  <a:srgbClr val="11243C"/>
                </a:solidFill>
              </a:rPr>
              <a:t>instrument oversight quality in operational settings, under structural-and-aggregate constraints.</a:t>
            </a:r>
          </a:p>
        </p:txBody>
      </p:sp>
      <p:sp>
        <p:nvSpPr>
          <p:cNvPr id="311" name="Shape 8"/>
          <p:cNvSpPr/>
          <p:nvPr/>
        </p:nvSpPr>
        <p:spPr>
          <a:xfrm>
            <a:off x="1209675" y="4137659"/>
            <a:ext cx="133350" cy="133351"/>
          </a:xfrm>
          <a:prstGeom prst="rect">
            <a:avLst/>
          </a:prstGeom>
          <a:solidFill>
            <a:srgbClr val="1D6657"/>
          </a:solidFill>
          <a:ln w="12700">
            <a:miter lim="400000"/>
          </a:ln>
        </p:spPr>
        <p:txBody>
          <a:bodyPr lIns="45719" rIns="45719"/>
          <a:lstStyle/>
          <a:p>
            <a:pPr/>
          </a:p>
        </p:txBody>
      </p:sp>
      <p:sp>
        <p:nvSpPr>
          <p:cNvPr id="312" name="Text 9"/>
          <p:cNvSpPr txBox="1"/>
          <p:nvPr/>
        </p:nvSpPr>
        <p:spPr>
          <a:xfrm>
            <a:off x="1638299" y="3985259"/>
            <a:ext cx="15971903" cy="876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35000"/>
              </a:lnSpc>
              <a:defRPr b="1" sz="2400">
                <a:solidFill>
                  <a:srgbClr val="1D6657"/>
                </a:solidFill>
                <a:latin typeface="Arial"/>
                <a:ea typeface="Arial"/>
                <a:cs typeface="Arial"/>
                <a:sym typeface="Arial"/>
              </a:defRPr>
            </a:pPr>
            <a:r>
              <a:t xml:space="preserve">Regulatory and standards partners </a:t>
            </a:r>
            <a:r>
              <a:rPr b="0">
                <a:solidFill>
                  <a:srgbClr val="11243C"/>
                </a:solidFill>
              </a:rPr>
              <a:t>work on making oversight requirements functionally rather than procedurally auditable.</a:t>
            </a:r>
          </a:p>
        </p:txBody>
      </p:sp>
      <p:sp>
        <p:nvSpPr>
          <p:cNvPr id="313" name="Shape 10"/>
          <p:cNvSpPr/>
          <p:nvPr/>
        </p:nvSpPr>
        <p:spPr>
          <a:xfrm>
            <a:off x="1209675" y="5313045"/>
            <a:ext cx="133350" cy="133351"/>
          </a:xfrm>
          <a:prstGeom prst="rect">
            <a:avLst/>
          </a:prstGeom>
          <a:solidFill>
            <a:srgbClr val="1D6657"/>
          </a:solidFill>
          <a:ln w="12700">
            <a:miter lim="400000"/>
          </a:ln>
        </p:spPr>
        <p:txBody>
          <a:bodyPr lIns="45719" rIns="45719"/>
          <a:lstStyle/>
          <a:p>
            <a:pPr/>
          </a:p>
        </p:txBody>
      </p:sp>
      <p:sp>
        <p:nvSpPr>
          <p:cNvPr id="314" name="Text 11"/>
          <p:cNvSpPr txBox="1"/>
          <p:nvPr/>
        </p:nvSpPr>
        <p:spPr>
          <a:xfrm>
            <a:off x="1638299" y="5160645"/>
            <a:ext cx="15971903" cy="45910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35000"/>
              </a:lnSpc>
              <a:defRPr b="1" sz="2400">
                <a:solidFill>
                  <a:srgbClr val="1D6657"/>
                </a:solidFill>
                <a:latin typeface="Arial"/>
                <a:ea typeface="Arial"/>
                <a:cs typeface="Arial"/>
                <a:sym typeface="Arial"/>
              </a:defRPr>
            </a:pPr>
            <a:r>
              <a:t xml:space="preserve">Methodological partners </a:t>
            </a:r>
            <a:r>
              <a:rPr b="0">
                <a:solidFill>
                  <a:srgbClr val="11243C"/>
                </a:solidFill>
              </a:rPr>
              <a:t>bring expertise on the cognitive dynamics of evaluative judgment under fluent-text review.</a:t>
            </a:r>
          </a:p>
        </p:txBody>
      </p:sp>
      <p:sp>
        <p:nvSpPr>
          <p:cNvPr id="315" name="Shape 12"/>
          <p:cNvSpPr/>
          <p:nvPr/>
        </p:nvSpPr>
        <p:spPr>
          <a:xfrm>
            <a:off x="1143000" y="5922962"/>
            <a:ext cx="16002000" cy="12701"/>
          </a:xfrm>
          <a:prstGeom prst="rect">
            <a:avLst/>
          </a:prstGeom>
          <a:solidFill>
            <a:srgbClr val="C8C0A8"/>
          </a:solidFill>
          <a:ln w="12700">
            <a:miter lim="400000"/>
          </a:ln>
        </p:spPr>
        <p:txBody>
          <a:bodyPr lIns="45719" rIns="45719"/>
          <a:lstStyle/>
          <a:p>
            <a:pPr/>
          </a:p>
        </p:txBody>
      </p:sp>
      <p:sp>
        <p:nvSpPr>
          <p:cNvPr id="316" name="Text 13"/>
          <p:cNvSpPr txBox="1"/>
          <p:nvPr/>
        </p:nvSpPr>
        <p:spPr>
          <a:xfrm>
            <a:off x="1143000" y="6143625"/>
            <a:ext cx="16482061" cy="9296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30000"/>
              </a:lnSpc>
              <a:defRPr b="1" spc="-96" sz="2592">
                <a:solidFill>
                  <a:srgbClr val="B8451E"/>
                </a:solidFill>
                <a:latin typeface="Arial"/>
                <a:ea typeface="Arial"/>
                <a:cs typeface="Arial"/>
                <a:sym typeface="Arial"/>
              </a:defRPr>
            </a:lvl1pPr>
          </a:lstStyle>
          <a:p>
            <a:pPr/>
            <a:r>
              <a:t>Process compliance was the right thing to measure when the risk was non-compliance. It is not the right thing to measure when the risk is procedural compliance coexisting with functional absence.</a:t>
            </a:r>
          </a:p>
        </p:txBody>
      </p:sp>
      <p:sp>
        <p:nvSpPr>
          <p:cNvPr id="317" name="Shape 14"/>
          <p:cNvSpPr/>
          <p:nvPr/>
        </p:nvSpPr>
        <p:spPr>
          <a:xfrm>
            <a:off x="1143000" y="7300277"/>
            <a:ext cx="16002000" cy="12701"/>
          </a:xfrm>
          <a:prstGeom prst="rect">
            <a:avLst/>
          </a:prstGeom>
          <a:solidFill>
            <a:srgbClr val="C8C0A8"/>
          </a:solidFill>
          <a:ln w="12700">
            <a:miter lim="400000"/>
          </a:ln>
        </p:spPr>
        <p:txBody>
          <a:bodyPr lIns="45719" rIns="45719"/>
          <a:lstStyle/>
          <a:p>
            <a:pPr/>
          </a:p>
        </p:txBody>
      </p:sp>
      <p:sp>
        <p:nvSpPr>
          <p:cNvPr id="318" name="Text 15"/>
          <p:cNvSpPr txBox="1"/>
          <p:nvPr/>
        </p:nvSpPr>
        <p:spPr>
          <a:xfrm>
            <a:off x="902970" y="7520940"/>
            <a:ext cx="16482061"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a:lnSpc>
                <a:spcPct val="140000"/>
              </a:lnSpc>
              <a:defRPr b="1" spc="500">
                <a:solidFill>
                  <a:srgbClr val="1D6657"/>
                </a:solidFill>
                <a:latin typeface="Arial"/>
                <a:ea typeface="Arial"/>
                <a:cs typeface="Arial"/>
                <a:sym typeface="Arial"/>
              </a:defRPr>
            </a:lvl1pPr>
          </a:lstStyle>
          <a:p>
            <a:pPr/>
            <a:r>
              <a:t>SCAN TO FOLLOW UP</a:t>
            </a:r>
          </a:p>
        </p:txBody>
      </p:sp>
      <p:sp>
        <p:nvSpPr>
          <p:cNvPr id="319" name="Shape 16"/>
          <p:cNvSpPr/>
          <p:nvPr/>
        </p:nvSpPr>
        <p:spPr>
          <a:xfrm>
            <a:off x="1211898" y="7993380"/>
            <a:ext cx="1390651" cy="1390651"/>
          </a:xfrm>
          <a:prstGeom prst="rect">
            <a:avLst/>
          </a:prstGeom>
          <a:solidFill>
            <a:srgbClr val="FFFFFF"/>
          </a:solidFill>
          <a:ln>
            <a:solidFill>
              <a:srgbClr val="C8C0A8"/>
            </a:solidFill>
          </a:ln>
        </p:spPr>
        <p:txBody>
          <a:bodyPr lIns="45719" rIns="45719"/>
          <a:lstStyle/>
          <a:p>
            <a:pPr/>
          </a:p>
        </p:txBody>
      </p:sp>
      <p:pic>
        <p:nvPicPr>
          <p:cNvPr id="320" name="Image 0" descr="Image 0"/>
          <p:cNvPicPr>
            <a:picLocks noChangeAspect="1"/>
          </p:cNvPicPr>
          <p:nvPr/>
        </p:nvPicPr>
        <p:blipFill>
          <a:blip r:embed="rId3">
            <a:extLst/>
          </a:blip>
          <a:stretch>
            <a:fillRect/>
          </a:stretch>
        </p:blipFill>
        <p:spPr>
          <a:xfrm>
            <a:off x="1278573" y="8060055"/>
            <a:ext cx="1257301" cy="1257301"/>
          </a:xfrm>
          <a:prstGeom prst="rect">
            <a:avLst/>
          </a:prstGeom>
          <a:ln w="12700">
            <a:miter lim="400000"/>
          </a:ln>
        </p:spPr>
      </p:pic>
      <p:sp>
        <p:nvSpPr>
          <p:cNvPr id="321" name="Text 17"/>
          <p:cNvSpPr txBox="1"/>
          <p:nvPr/>
        </p:nvSpPr>
        <p:spPr>
          <a:xfrm>
            <a:off x="2812097" y="8397240"/>
            <a:ext cx="3232970"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b="1" sz="1512">
                <a:solidFill>
                  <a:srgbClr val="11243C"/>
                </a:solidFill>
                <a:latin typeface="Arial"/>
                <a:ea typeface="Arial"/>
                <a:cs typeface="Arial"/>
                <a:sym typeface="Arial"/>
              </a:defRPr>
            </a:lvl1pPr>
          </a:lstStyle>
          <a:p>
            <a:pPr/>
            <a:r>
              <a:t>Full paper</a:t>
            </a:r>
          </a:p>
        </p:txBody>
      </p:sp>
      <p:sp>
        <p:nvSpPr>
          <p:cNvPr id="322" name="Text 18"/>
          <p:cNvSpPr txBox="1"/>
          <p:nvPr/>
        </p:nvSpPr>
        <p:spPr>
          <a:xfrm>
            <a:off x="2812097" y="8682990"/>
            <a:ext cx="3232970" cy="3352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0000"/>
              </a:lnSpc>
              <a:defRPr>
                <a:solidFill>
                  <a:srgbClr val="7A7363"/>
                </a:solidFill>
                <a:latin typeface="Arial"/>
                <a:ea typeface="Arial"/>
                <a:cs typeface="Arial"/>
                <a:sym typeface="Arial"/>
              </a:defRPr>
            </a:lvl1pPr>
          </a:lstStyle>
          <a:p>
            <a:pPr/>
            <a:r>
              <a:t>OpenReview · Github</a:t>
            </a:r>
          </a:p>
        </p:txBody>
      </p:sp>
      <p:sp>
        <p:nvSpPr>
          <p:cNvPr id="323" name="Shape 19"/>
          <p:cNvSpPr/>
          <p:nvPr/>
        </p:nvSpPr>
        <p:spPr>
          <a:xfrm>
            <a:off x="7104856" y="7993380"/>
            <a:ext cx="1390651" cy="1390651"/>
          </a:xfrm>
          <a:prstGeom prst="rect">
            <a:avLst/>
          </a:prstGeom>
          <a:solidFill>
            <a:srgbClr val="FFFFFF"/>
          </a:solidFill>
          <a:ln>
            <a:solidFill>
              <a:srgbClr val="C8C0A8"/>
            </a:solidFill>
          </a:ln>
        </p:spPr>
        <p:txBody>
          <a:bodyPr lIns="45719" rIns="45719"/>
          <a:lstStyle/>
          <a:p>
            <a:pPr/>
          </a:p>
        </p:txBody>
      </p:sp>
      <p:pic>
        <p:nvPicPr>
          <p:cNvPr id="324" name="Image 1" descr="Image 1"/>
          <p:cNvPicPr>
            <a:picLocks noChangeAspect="1"/>
          </p:cNvPicPr>
          <p:nvPr/>
        </p:nvPicPr>
        <p:blipFill>
          <a:blip r:embed="rId4">
            <a:extLst/>
          </a:blip>
          <a:stretch>
            <a:fillRect/>
          </a:stretch>
        </p:blipFill>
        <p:spPr>
          <a:xfrm>
            <a:off x="7171531" y="8060055"/>
            <a:ext cx="1257301" cy="1257301"/>
          </a:xfrm>
          <a:prstGeom prst="rect">
            <a:avLst/>
          </a:prstGeom>
          <a:ln w="12700">
            <a:miter lim="400000"/>
          </a:ln>
        </p:spPr>
      </p:pic>
      <p:sp>
        <p:nvSpPr>
          <p:cNvPr id="325" name="Text 20"/>
          <p:cNvSpPr txBox="1"/>
          <p:nvPr/>
        </p:nvSpPr>
        <p:spPr>
          <a:xfrm>
            <a:off x="8705056" y="8397240"/>
            <a:ext cx="2554288"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b="1" sz="1512">
                <a:solidFill>
                  <a:srgbClr val="11243C"/>
                </a:solidFill>
                <a:latin typeface="Arial"/>
                <a:ea typeface="Arial"/>
                <a:cs typeface="Arial"/>
                <a:sym typeface="Arial"/>
              </a:defRPr>
            </a:lvl1pPr>
          </a:lstStyle>
          <a:p>
            <a:pPr/>
            <a:r>
              <a:t>Follow up</a:t>
            </a:r>
          </a:p>
        </p:txBody>
      </p:sp>
      <p:sp>
        <p:nvSpPr>
          <p:cNvPr id="326" name="Text 21"/>
          <p:cNvSpPr txBox="1"/>
          <p:nvPr/>
        </p:nvSpPr>
        <p:spPr>
          <a:xfrm>
            <a:off x="8705056" y="8682990"/>
            <a:ext cx="2554288" cy="3352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0000"/>
              </a:lnSpc>
              <a:defRPr>
                <a:solidFill>
                  <a:srgbClr val="7A7363"/>
                </a:solidFill>
                <a:latin typeface="Arial"/>
                <a:ea typeface="Arial"/>
                <a:cs typeface="Arial"/>
                <a:sym typeface="Arial"/>
              </a:defRPr>
            </a:lvl1pPr>
          </a:lstStyle>
          <a:p>
            <a:pPr/>
            <a:r>
              <a:t>LinkedIn · btmoriarty</a:t>
            </a:r>
          </a:p>
        </p:txBody>
      </p:sp>
      <p:sp>
        <p:nvSpPr>
          <p:cNvPr id="327" name="Shape 22"/>
          <p:cNvSpPr/>
          <p:nvPr/>
        </p:nvSpPr>
        <p:spPr>
          <a:xfrm>
            <a:off x="12718414" y="7993380"/>
            <a:ext cx="1390651" cy="1390651"/>
          </a:xfrm>
          <a:prstGeom prst="rect">
            <a:avLst/>
          </a:prstGeom>
          <a:solidFill>
            <a:srgbClr val="FFFFFF"/>
          </a:solidFill>
          <a:ln>
            <a:solidFill>
              <a:srgbClr val="C8C0A8"/>
            </a:solidFill>
          </a:ln>
        </p:spPr>
        <p:txBody>
          <a:bodyPr lIns="45719" rIns="45719"/>
          <a:lstStyle/>
          <a:p>
            <a:pPr/>
          </a:p>
        </p:txBody>
      </p:sp>
      <p:pic>
        <p:nvPicPr>
          <p:cNvPr id="328" name="Image 2" descr="Image 2"/>
          <p:cNvPicPr>
            <a:picLocks noChangeAspect="1"/>
          </p:cNvPicPr>
          <p:nvPr/>
        </p:nvPicPr>
        <p:blipFill>
          <a:blip r:embed="rId5">
            <a:extLst/>
          </a:blip>
          <a:stretch>
            <a:fillRect/>
          </a:stretch>
        </p:blipFill>
        <p:spPr>
          <a:xfrm>
            <a:off x="12785089" y="8060055"/>
            <a:ext cx="1257301" cy="1257301"/>
          </a:xfrm>
          <a:prstGeom prst="rect">
            <a:avLst/>
          </a:prstGeom>
          <a:ln w="12700">
            <a:miter lim="400000"/>
          </a:ln>
        </p:spPr>
      </p:pic>
      <p:sp>
        <p:nvSpPr>
          <p:cNvPr id="329" name="Text 23"/>
          <p:cNvSpPr txBox="1"/>
          <p:nvPr/>
        </p:nvSpPr>
        <p:spPr>
          <a:xfrm>
            <a:off x="14318614" y="8397240"/>
            <a:ext cx="2452371"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b="1" sz="1512">
                <a:solidFill>
                  <a:srgbClr val="11243C"/>
                </a:solidFill>
                <a:latin typeface="Arial"/>
                <a:ea typeface="Arial"/>
                <a:cs typeface="Arial"/>
                <a:sym typeface="Arial"/>
              </a:defRPr>
            </a:lvl1pPr>
          </a:lstStyle>
          <a:p>
            <a:pPr/>
            <a:r>
              <a:t>This deck</a:t>
            </a:r>
          </a:p>
        </p:txBody>
      </p:sp>
      <p:sp>
        <p:nvSpPr>
          <p:cNvPr id="330" name="Text 24"/>
          <p:cNvSpPr txBox="1"/>
          <p:nvPr/>
        </p:nvSpPr>
        <p:spPr>
          <a:xfrm>
            <a:off x="14318614" y="8682990"/>
            <a:ext cx="2452371" cy="33528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0000"/>
              </a:lnSpc>
              <a:defRPr>
                <a:solidFill>
                  <a:srgbClr val="7A7363"/>
                </a:solidFill>
                <a:latin typeface="Arial"/>
                <a:ea typeface="Arial"/>
                <a:cs typeface="Arial"/>
                <a:sym typeface="Arial"/>
              </a:defRPr>
            </a:lvl1pPr>
          </a:lstStyle>
          <a:p>
            <a:pPr/>
            <a:r>
              <a:t>PPTX</a:t>
            </a:r>
          </a:p>
        </p:txBody>
      </p:sp>
      <p:sp>
        <p:nvSpPr>
          <p:cNvPr id="331" name="Text 25"/>
          <p:cNvSpPr txBox="1"/>
          <p:nvPr/>
        </p:nvSpPr>
        <p:spPr>
          <a:xfrm>
            <a:off x="1142999" y="9700259"/>
            <a:ext cx="8092235"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A7363"/>
                </a:solidFill>
                <a:latin typeface="Arial"/>
                <a:ea typeface="Arial"/>
                <a:cs typeface="Arial"/>
                <a:sym typeface="Arial"/>
              </a:defRPr>
            </a:lvl1pPr>
          </a:lstStyle>
          <a:p>
            <a:pPr/>
            <a:r>
              <a:t>Brian Moriarty · brian.moriarty@stevens.edu · Stevens Institute of Technology</a:t>
            </a:r>
          </a:p>
        </p:txBody>
      </p:sp>
      <p:sp>
        <p:nvSpPr>
          <p:cNvPr id="332" name="Text 26"/>
          <p:cNvSpPr txBox="1"/>
          <p:nvPr/>
        </p:nvSpPr>
        <p:spPr>
          <a:xfrm>
            <a:off x="13179901" y="9700259"/>
            <a:ext cx="4084052" cy="3581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0000"/>
              </a:lnSpc>
              <a:defRPr>
                <a:solidFill>
                  <a:srgbClr val="7A7363"/>
                </a:solidFill>
                <a:latin typeface="Arial"/>
                <a:ea typeface="Arial"/>
                <a:cs typeface="Arial"/>
                <a:sym typeface="Arial"/>
              </a:defRPr>
            </a:lvl1pPr>
          </a:lstStyle>
          <a:p>
            <a:pPr/>
            <a:r>
              <a:t>AITC 2026 · Nuremberg · June 5 and 6</a:t>
            </a:r>
          </a:p>
        </p:txBody>
      </p:sp>
      <p:pic>
        <p:nvPicPr>
          <p:cNvPr id="333" name="pasted-movie.png" descr="pasted-movie.png"/>
          <p:cNvPicPr>
            <a:picLocks noChangeAspect="1"/>
          </p:cNvPicPr>
          <p:nvPr/>
        </p:nvPicPr>
        <p:blipFill>
          <a:blip r:embed="rId6">
            <a:extLst/>
          </a:blip>
          <a:stretch>
            <a:fillRect/>
          </a:stretch>
        </p:blipFill>
        <p:spPr>
          <a:xfrm>
            <a:off x="12743763" y="8021954"/>
            <a:ext cx="1370064" cy="1370064"/>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
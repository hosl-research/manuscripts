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Lst>
  <p:sldSz cx="18288000" cy="10287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7" name="Shape 17"/>
          <p:cNvSpPr/>
          <p:nvPr>
            <p:ph type="sldImg"/>
          </p:nvPr>
        </p:nvSpPr>
        <p:spPr>
          <a:xfrm>
            <a:off x="1143000" y="685800"/>
            <a:ext cx="4572000" cy="3429000"/>
          </a:xfrm>
          <a:prstGeom prst="rect">
            <a:avLst/>
          </a:prstGeom>
        </p:spPr>
        <p:txBody>
          <a:bodyPr/>
          <a:lstStyle/>
          <a:p>
            <a:pPr/>
          </a:p>
        </p:txBody>
      </p:sp>
      <p:sp>
        <p:nvSpPr>
          <p:cNvPr id="18" name="Shape 18"/>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Calibri"/>
      </a:defRPr>
    </a:lvl1pPr>
    <a:lvl2pPr indent="228600" latinLnBrk="0">
      <a:defRPr sz="1200">
        <a:latin typeface="+mj-lt"/>
        <a:ea typeface="+mj-ea"/>
        <a:cs typeface="+mj-cs"/>
        <a:sym typeface="Calibri"/>
      </a:defRPr>
    </a:lvl2pPr>
    <a:lvl3pPr indent="457200" latinLnBrk="0">
      <a:defRPr sz="1200">
        <a:latin typeface="+mj-lt"/>
        <a:ea typeface="+mj-ea"/>
        <a:cs typeface="+mj-cs"/>
        <a:sym typeface="Calibri"/>
      </a:defRPr>
    </a:lvl3pPr>
    <a:lvl4pPr indent="685800" latinLnBrk="0">
      <a:defRPr sz="1200">
        <a:latin typeface="+mj-lt"/>
        <a:ea typeface="+mj-ea"/>
        <a:cs typeface="+mj-cs"/>
        <a:sym typeface="Calibri"/>
      </a:defRPr>
    </a:lvl4pPr>
    <a:lvl5pPr indent="914400" latinLnBrk="0">
      <a:defRPr sz="1200">
        <a:latin typeface="+mj-lt"/>
        <a:ea typeface="+mj-ea"/>
        <a:cs typeface="+mj-cs"/>
        <a:sym typeface="Calibri"/>
      </a:defRPr>
    </a:lvl5pPr>
    <a:lvl6pPr indent="1143000" latinLnBrk="0">
      <a:defRPr sz="1200">
        <a:latin typeface="+mj-lt"/>
        <a:ea typeface="+mj-ea"/>
        <a:cs typeface="+mj-cs"/>
        <a:sym typeface="Calibri"/>
      </a:defRPr>
    </a:lvl6pPr>
    <a:lvl7pPr indent="1371600" latinLnBrk="0">
      <a:defRPr sz="1200">
        <a:latin typeface="+mj-lt"/>
        <a:ea typeface="+mj-ea"/>
        <a:cs typeface="+mj-cs"/>
        <a:sym typeface="Calibri"/>
      </a:defRPr>
    </a:lvl7pPr>
    <a:lvl8pPr indent="1600200" latinLnBrk="0">
      <a:defRPr sz="1200">
        <a:latin typeface="+mj-lt"/>
        <a:ea typeface="+mj-ea"/>
        <a:cs typeface="+mj-cs"/>
        <a:sym typeface="Calibri"/>
      </a:defRPr>
    </a:lvl8pPr>
    <a:lvl9pPr indent="1828800" latinLnBrk="0">
      <a:defRPr sz="1200">
        <a:latin typeface="+mj-lt"/>
        <a:ea typeface="+mj-ea"/>
        <a:cs typeface="+mj-cs"/>
        <a:sym typeface="Calibri"/>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 name="Shape 27"/>
          <p:cNvSpPr/>
          <p:nvPr>
            <p:ph type="sldImg"/>
          </p:nvPr>
        </p:nvSpPr>
        <p:spPr>
          <a:prstGeom prst="rect">
            <a:avLst/>
          </a:prstGeom>
        </p:spPr>
        <p:txBody>
          <a:bodyPr/>
          <a:lstStyle/>
          <a:p>
            <a:pPr/>
          </a:p>
        </p:txBody>
      </p:sp>
      <p:sp>
        <p:nvSpPr>
          <p:cNvPr id="28" name="Shape 28"/>
          <p:cNvSpPr/>
          <p:nvPr>
            <p:ph type="body" sz="quarter" idx="1"/>
          </p:nvPr>
        </p:nvSpPr>
        <p:spPr>
          <a:prstGeom prst="rect">
            <a:avLst/>
          </a:prstGeom>
        </p:spPr>
        <p:txBody>
          <a:bodyPr/>
          <a:lstStyle/>
          <a:p>
            <a:pPr/>
            <a:r>
              <a:t>Hi everyone. I'm Brian Moriarty from Stevens Institute of Technology, in New Jersey. I work on human oversight of AI systems. This is a paper about a gap in how AI transparency and control infrastructure observes that oversight function. The short version. Governance records show that review happened. They don't show whether the review was substantive. And the two states are observationally identical. I want you holding that idea by the end of the opener.</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7" name="Shape 77"/>
          <p:cNvSpPr/>
          <p:nvPr>
            <p:ph type="sldImg"/>
          </p:nvPr>
        </p:nvSpPr>
        <p:spPr>
          <a:prstGeom prst="rect">
            <a:avLst/>
          </a:prstGeom>
        </p:spPr>
        <p:txBody>
          <a:bodyPr/>
          <a:lstStyle/>
          <a:p>
            <a:pPr/>
          </a:p>
        </p:txBody>
      </p:sp>
      <p:sp>
        <p:nvSpPr>
          <p:cNvPr id="78" name="Shape 78"/>
          <p:cNvSpPr/>
          <p:nvPr>
            <p:ph type="body" sz="quarter" idx="1"/>
          </p:nvPr>
        </p:nvSpPr>
        <p:spPr>
          <a:prstGeom prst="rect">
            <a:avLst/>
          </a:prstGeom>
        </p:spPr>
        <p:txBody>
          <a:bodyPr/>
          <a:lstStyle/>
          <a:p>
            <a:pPr/>
            <a:r>
              <a:t>Here are two sample governance records from an AI-assisted review workflow. Both show a review occurred. Both show approval was granted. Both pass audit. One of these reviewers actually engaged with the output. One signed off in six seconds. Current governance infrastructure cannot tell you which is which. The pattern shows up everywhere process records get used as evidence of substantive work. I have reviewed code commits whose entire commit message was the letter D. The system required a commit message. A character had been entered. Compliance was logged. Nothing about the substantive work the message was supposed to capture had survived. Same pattern, different domain. This is partly a fact about people. Humans can perform substantive review or procedural confirmation, and from the outside the two can look identical. That observation is older than AI. What the paper develops is a structural property of the infrastructure that wraps the oversight function in AI-assisted workflows. It doesn't even try to surface the difference. It instruments the model and the artifacts the model produces. It does not instrument the cognitive function that gives human oversight its safety value. The human side and the infrastructure side compound. This talk is about why that gap matters, and what a measurement agenda for closing it looks like.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1" name="Shape 91"/>
          <p:cNvSpPr/>
          <p:nvPr>
            <p:ph type="sldImg"/>
          </p:nvPr>
        </p:nvSpPr>
        <p:spPr>
          <a:prstGeom prst="rect">
            <a:avLst/>
          </a:prstGeom>
        </p:spPr>
        <p:txBody>
          <a:bodyPr/>
          <a:lstStyle/>
          <a:p>
            <a:pPr/>
          </a:p>
        </p:txBody>
      </p:sp>
      <p:sp>
        <p:nvSpPr>
          <p:cNvPr id="92" name="Shape 92"/>
          <p:cNvSpPr/>
          <p:nvPr>
            <p:ph type="body" sz="quarter" idx="1"/>
          </p:nvPr>
        </p:nvSpPr>
        <p:spPr>
          <a:prstGeom prst="rect">
            <a:avLst/>
          </a:prstGeom>
        </p:spPr>
        <p:txBody>
          <a:bodyPr/>
          <a:lstStyle/>
          <a:p>
            <a:pPr/>
            <a:r>
              <a:t>Three claims hold up the paper. First, human oversight should be treated the way supervisory control theory treats any operator function, as a system component with state, workload, calibration, and characterizable failure modes. Not as a binary that's either present or absent. Second, oversight degrades on a predictable trajectory under operational conditions, and the degraded state and the engaged state are observationally identical in current governance records. Third, detection, interpretability, and governance each have real value, but none of them close this specific gap, because they instrument the model and its outputs rather than the oversight function. The fix is to extend transparency and control work to include the oversight layer itself.</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1" name="Shape 191"/>
          <p:cNvSpPr/>
          <p:nvPr>
            <p:ph type="sldImg"/>
          </p:nvPr>
        </p:nvSpPr>
        <p:spPr>
          <a:prstGeom prst="rect">
            <a:avLst/>
          </a:prstGeom>
        </p:spPr>
        <p:txBody>
          <a:bodyPr/>
          <a:lstStyle/>
          <a:p>
            <a:pPr/>
          </a:p>
        </p:txBody>
      </p:sp>
      <p:sp>
        <p:nvSpPr>
          <p:cNvPr id="192" name="Shape 192"/>
          <p:cNvSpPr/>
          <p:nvPr>
            <p:ph type="body" sz="quarter" idx="1"/>
          </p:nvPr>
        </p:nvSpPr>
        <p:spPr>
          <a:prstGeom prst="rect">
            <a:avLst/>
          </a:prstGeom>
        </p:spPr>
        <p:txBody>
          <a:bodyPr/>
          <a:lstStyle/>
          <a:p>
            <a:pPr/>
            <a:r>
              <a:t>The trajectory is three phases. Phase 1 is substantive engagement. The validation checkpoint is a genuine quality gate. Phase 2 is procedural scanning. The form of review persists. Scrutiny has been replaced by pattern recognition. Correction rates fall, not because quality improved, but because the threshold for intervention rose. Phase 3 is formality. Approval is recorded without substantive evaluation. The human role has shifted from controller to confirmer. Here is the part that matters. The governance record above the timeline does not change. Phase 1 and Phase 3 are operationally identical in the audit record. An external audit would find every required step documented, every approval recorded, every required party involved. The system that was designed to detect non-compliance does not register this. There is no alarm trigger, no threshold crossing, no incident.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7" name="Shape 237"/>
          <p:cNvSpPr/>
          <p:nvPr>
            <p:ph type="sldImg"/>
          </p:nvPr>
        </p:nvSpPr>
        <p:spPr>
          <a:prstGeom prst="rect">
            <a:avLst/>
          </a:prstGeom>
        </p:spPr>
        <p:txBody>
          <a:bodyPr/>
          <a:lstStyle/>
          <a:p>
            <a:pPr/>
          </a:p>
        </p:txBody>
      </p:sp>
      <p:sp>
        <p:nvSpPr>
          <p:cNvPr id="238" name="Shape 238"/>
          <p:cNvSpPr/>
          <p:nvPr>
            <p:ph type="body" sz="quarter" idx="1"/>
          </p:nvPr>
        </p:nvSpPr>
        <p:spPr>
          <a:prstGeom prst="rect">
            <a:avLst/>
          </a:prstGeom>
        </p:spPr>
        <p:txBody>
          <a:bodyPr/>
          <a:lstStyle/>
          <a:p>
            <a:pPr/>
            <a:r>
              <a:t>Detection, interpretability, and governance each compound the problem rather than closing it. Detection infrastructure was designed to surface anomalies in the model, but language-model fluency suppresses the surface error signals it depends on. Interpretability makes model reasoning legible, but legibility and engagement are not the same thing. Fok and Weld show that explanations only support oversight when they enable verification, and they usually don't. Governance frameworks certify that the process was followed, which they do well, but they were calibrated for intentional non-compliance, not for the failure mode where every step is followed and the cognitive function is absent. The pattern is not non-compliance. The framework reports green because green is occurring. The table on the slide is the shift. From instrumenting the model, to instrumenting the function the model's safety properties depend on.</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5" name="Shape 265"/>
          <p:cNvSpPr/>
          <p:nvPr>
            <p:ph type="sldImg"/>
          </p:nvPr>
        </p:nvSpPr>
        <p:spPr>
          <a:prstGeom prst="rect">
            <a:avLst/>
          </a:prstGeom>
        </p:spPr>
        <p:txBody>
          <a:bodyPr/>
          <a:lstStyle/>
          <a:p>
            <a:pPr/>
          </a:p>
        </p:txBody>
      </p:sp>
      <p:sp>
        <p:nvSpPr>
          <p:cNvPr id="266" name="Shape 266"/>
          <p:cNvSpPr/>
          <p:nvPr>
            <p:ph type="body" sz="quarter" idx="1"/>
          </p:nvPr>
        </p:nvSpPr>
        <p:spPr>
          <a:prstGeom prst="rect">
            <a:avLst/>
          </a:prstGeom>
        </p:spPr>
        <p:txBody>
          <a:bodyPr/>
          <a:lstStyle/>
          <a:p>
            <a:pPr/>
            <a:r>
              <a:t>Three candidate indicators get the agenda started. Correction-rate trajectory: the rate at which AI outputs receive substantive correction, tracked over deployment duration. Validation load: outputs requiring review per unit of reviewer capacity. Dependency accumulation: how many downstream workflow nodes depend on outputs passing a given checkpoint. The design constraint shaping all three is reviewer surveillance. A lot of resistance to oversight instrumentation, in my experience, comes from a reasonable concern that the moment you start measuring whether reviewers are paying attention, you have built a surveillance system pointed at individual people. The indicators here are designed to refuse that drift by construction. They report at the workflow or deployment level, not the reviewer level. The paper develops three requirements that keep instrumentation honest. Data architecture that makes individual-level access infeasible. Indicators that never wire into management evaluation or compensation. And threshold-triggered interventions that operate on aggregate workflow state. Without those guardrails, the cure becomes the disease. The interpretation discipline also matters. Declining correction rates can mean oversight degradation, or genuine system maturity, and discriminating those is its own protocol. The general design principle is on the slide. Satisfying the metric and exercising genuine oversight should be difficult to decouple. Goodhart's Law applies to oversight instrumentation as much as to the workflows it observes.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0" name="Shape 300"/>
          <p:cNvSpPr/>
          <p:nvPr>
            <p:ph type="sldImg"/>
          </p:nvPr>
        </p:nvSpPr>
        <p:spPr>
          <a:prstGeom prst="rect">
            <a:avLst/>
          </a:prstGeom>
        </p:spPr>
        <p:txBody>
          <a:bodyPr/>
          <a:lstStyle/>
          <a:p>
            <a:pPr/>
          </a:p>
        </p:txBody>
      </p:sp>
      <p:sp>
        <p:nvSpPr>
          <p:cNvPr id="301" name="Shape 301"/>
          <p:cNvSpPr/>
          <p:nvPr>
            <p:ph type="body" sz="quarter" idx="1"/>
          </p:nvPr>
        </p:nvSpPr>
        <p:spPr>
          <a:prstGeom prst="rect">
            <a:avLst/>
          </a:prstGeom>
        </p:spPr>
        <p:txBody>
          <a:bodyPr/>
          <a:lstStyle/>
          <a:p>
            <a:pPr/>
            <a:r>
              <a:t>Five concrete implementations. Each can be built with current workflow infrastructure and existing logging. Seeded calibration checks inject pre-validated outputs into the review queue. The reviewer's disagreement rate on those items tracks their engagement on everything else. Onboarding-period baselines log new reviewers' correction patterns before they're calibrated to operational norms. A persistent gap means the operational baseline has drifted. Dependency surfacing puts consequence information in front of the reviewer at decision time. Decision-point logging instruments agentic systems at each irreversible action, not just the final output. Workload ceilings turn an observational indicator into an architectural enforcement mechanism. The routing system refuses additional work to a saturated reviewer. None of these are validated for governance certification yet. They are candidates to deploy, observe, and refine.</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34" name="Shape 334"/>
          <p:cNvSpPr/>
          <p:nvPr>
            <p:ph type="sldImg"/>
          </p:nvPr>
        </p:nvSpPr>
        <p:spPr>
          <a:prstGeom prst="rect">
            <a:avLst/>
          </a:prstGeom>
        </p:spPr>
        <p:txBody>
          <a:bodyPr/>
          <a:lstStyle/>
          <a:p>
            <a:pPr/>
          </a:p>
        </p:txBody>
      </p:sp>
      <p:sp>
        <p:nvSpPr>
          <p:cNvPr id="335" name="Shape 335"/>
          <p:cNvSpPr/>
          <p:nvPr>
            <p:ph type="body" sz="quarter" idx="1"/>
          </p:nvPr>
        </p:nvSpPr>
        <p:spPr>
          <a:prstGeom prst="rect">
            <a:avLst/>
          </a:prstGeom>
        </p:spPr>
        <p:txBody>
          <a:bodyPr/>
          <a:lstStyle/>
          <a:p>
            <a:pPr/>
            <a:r>
              <a:t>What I'm asking for. Three partnership types, shaped by my time teaching and by my work in enterprise deployments. So these are specific asks, not generic ones. Deployment-context partners willing to instrument oversight quality in operational settings, under the structural-and-aggregate constraints I describe in the paper. Regulatory and standards partners working on how oversight requirements might be made functionally rather than procedurally auditable. Methodological partners with expertise in the cognitive dynamics of evaluative judgment under fluent-text review. The closing line is this. Process compliance was the right thing to measure when the risk was non-compliance. It is not the right thing to measure when the risk is procedural compliance coexisting with functional absence. The work is the measurement infrastructure that distinguishes those two states. The QR codes at the bottom are scannable now, and during Q&amp;A. Left, the full paper on OpenReview. Center, my LinkedIn. Right, the poster as a PDF. Thank you. I'm happy to take questions.</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914400" y="138112"/>
            <a:ext cx="16459200" cy="2262188"/>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p>
            <a:pPr/>
            <a:r>
              <a:t>Title Text</a:t>
            </a:r>
          </a:p>
        </p:txBody>
      </p:sp>
      <p:sp>
        <p:nvSpPr>
          <p:cNvPr id="3" name="Body Level One…"/>
          <p:cNvSpPr txBox="1"/>
          <p:nvPr>
            <p:ph type="body" idx="1"/>
          </p:nvPr>
        </p:nvSpPr>
        <p:spPr>
          <a:xfrm>
            <a:off x="914400" y="2400300"/>
            <a:ext cx="16459200" cy="7886700"/>
          </a:xfrm>
          <a:prstGeom prst="rect">
            <a:avLst/>
          </a:prstGeom>
          <a:ln w="12700">
            <a:miter lim="400000"/>
          </a:ln>
          <a:extLst>
            <a:ext uri="{C572A759-6A51-4108-AA02-DFA0A04FC94B}">
              <ma14:wrappingTextBoxFlag xmlns:ma14="http://schemas.microsoft.com/office/mac/drawingml/2011/main" val="1"/>
            </a:ext>
          </a:extLst>
        </p:spPr>
        <p:txBody>
          <a:bodyPr lIns="45719" rIns="45719"/>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8839200" y="9260681"/>
            <a:ext cx="4267200" cy="547688"/>
          </a:xfrm>
          <a:prstGeom prst="rect">
            <a:avLst/>
          </a:prstGeom>
          <a:ln w="12700">
            <a:miter lim="400000"/>
          </a:ln>
        </p:spPr>
        <p:txBody>
          <a:bodyPr wrap="none" lIns="45719" rIns="45719" anchor="ctr">
            <a:spAutoFit/>
          </a:bodyPr>
          <a:lstStyle>
            <a:lvl1pPr algn="r">
              <a:defRPr sz="12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15.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AF5E7"/>
        </a:solidFill>
      </p:bgPr>
    </p:bg>
    <p:spTree>
      <p:nvGrpSpPr>
        <p:cNvPr id="1" name=""/>
        <p:cNvGrpSpPr/>
        <p:nvPr/>
      </p:nvGrpSpPr>
      <p:grpSpPr>
        <a:xfrm>
          <a:off x="0" y="0"/>
          <a:ext cx="0" cy="0"/>
          <a:chOff x="0" y="0"/>
          <a:chExt cx="0" cy="0"/>
        </a:xfrm>
      </p:grpSpPr>
      <p:sp>
        <p:nvSpPr>
          <p:cNvPr id="20" name="Shape 0"/>
          <p:cNvSpPr/>
          <p:nvPr/>
        </p:nvSpPr>
        <p:spPr>
          <a:xfrm>
            <a:off x="0" y="0"/>
            <a:ext cx="18288000" cy="4114800"/>
          </a:xfrm>
          <a:prstGeom prst="rect">
            <a:avLst/>
          </a:prstGeom>
          <a:solidFill>
            <a:srgbClr val="0D2340"/>
          </a:solidFill>
          <a:ln w="12700">
            <a:miter lim="400000"/>
          </a:ln>
        </p:spPr>
        <p:txBody>
          <a:bodyPr lIns="45719" rIns="45719"/>
          <a:lstStyle/>
          <a:p>
            <a:pPr/>
          </a:p>
        </p:txBody>
      </p:sp>
      <p:sp>
        <p:nvSpPr>
          <p:cNvPr id="21" name="Text 1"/>
          <p:cNvSpPr txBox="1"/>
          <p:nvPr/>
        </p:nvSpPr>
        <p:spPr>
          <a:xfrm>
            <a:off x="1142999" y="171450"/>
            <a:ext cx="16089632" cy="2427605"/>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786384">
              <a:lnSpc>
                <a:spcPct val="97995"/>
              </a:lnSpc>
              <a:defRPr b="1" spc="-258" sz="8256">
                <a:solidFill>
                  <a:srgbClr val="FDF6E7"/>
                </a:solidFill>
                <a:latin typeface="Arial"/>
                <a:ea typeface="Arial"/>
                <a:cs typeface="Arial"/>
                <a:sym typeface="Arial"/>
              </a:defRPr>
            </a:lvl1pPr>
          </a:lstStyle>
          <a:p>
            <a:pPr/>
            <a:r>
              <a:t>Confirming Process, Missing Function.</a:t>
            </a:r>
          </a:p>
        </p:txBody>
      </p:sp>
      <p:sp>
        <p:nvSpPr>
          <p:cNvPr id="22" name="Text 2"/>
          <p:cNvSpPr txBox="1"/>
          <p:nvPr/>
        </p:nvSpPr>
        <p:spPr>
          <a:xfrm>
            <a:off x="1143000" y="2827654"/>
            <a:ext cx="14716125" cy="1153796"/>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77823">
              <a:lnSpc>
                <a:spcPct val="122014"/>
              </a:lnSpc>
              <a:defRPr sz="3455">
                <a:solidFill>
                  <a:srgbClr val="FDF6E7">
                    <a:alpha val="78000"/>
                  </a:srgbClr>
                </a:solidFill>
                <a:latin typeface="Arial"/>
                <a:ea typeface="Arial"/>
                <a:cs typeface="Arial"/>
                <a:sym typeface="Arial"/>
              </a:defRPr>
            </a:lvl1pPr>
          </a:lstStyle>
          <a:p>
            <a:pPr/>
            <a:r>
              <a:t>The uninstrumented oversight layer in AI transparency and control research.</a:t>
            </a:r>
          </a:p>
        </p:txBody>
      </p:sp>
      <p:pic>
        <p:nvPicPr>
          <p:cNvPr id="23" name="Image 0" descr="Image 0"/>
          <p:cNvPicPr>
            <a:picLocks noChangeAspect="1"/>
          </p:cNvPicPr>
          <p:nvPr/>
        </p:nvPicPr>
        <p:blipFill>
          <a:blip r:embed="rId3">
            <a:extLst/>
          </a:blip>
          <a:stretch>
            <a:fillRect/>
          </a:stretch>
        </p:blipFill>
        <p:spPr>
          <a:xfrm>
            <a:off x="1143000" y="6324600"/>
            <a:ext cx="2648426" cy="3048000"/>
          </a:xfrm>
          <a:prstGeom prst="rect">
            <a:avLst/>
          </a:prstGeom>
          <a:ln w="12700">
            <a:miter lim="400000"/>
          </a:ln>
        </p:spPr>
      </p:pic>
      <p:sp>
        <p:nvSpPr>
          <p:cNvPr id="24" name="Text 3"/>
          <p:cNvSpPr txBox="1"/>
          <p:nvPr/>
        </p:nvSpPr>
        <p:spPr>
          <a:xfrm>
            <a:off x="4629625" y="7628573"/>
            <a:ext cx="12890835" cy="57150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04672">
              <a:defRPr b="1" spc="-88" sz="3696">
                <a:solidFill>
                  <a:srgbClr val="11243C"/>
                </a:solidFill>
                <a:latin typeface="Arial"/>
                <a:ea typeface="Arial"/>
                <a:cs typeface="Arial"/>
                <a:sym typeface="Arial"/>
              </a:defRPr>
            </a:lvl1pPr>
          </a:lstStyle>
          <a:p>
            <a:pPr/>
            <a:r>
              <a:t>Brian Moriarty</a:t>
            </a:r>
          </a:p>
        </p:txBody>
      </p:sp>
      <p:sp>
        <p:nvSpPr>
          <p:cNvPr id="25" name="Text 4"/>
          <p:cNvSpPr txBox="1"/>
          <p:nvPr/>
        </p:nvSpPr>
        <p:spPr>
          <a:xfrm>
            <a:off x="4629625" y="8295323"/>
            <a:ext cx="12890835" cy="486729"/>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p>
            <a:pPr>
              <a:lnSpc>
                <a:spcPct val="120000"/>
              </a:lnSpc>
              <a:defRPr b="1" sz="2800">
                <a:solidFill>
                  <a:srgbClr val="A32638"/>
                </a:solidFill>
                <a:latin typeface="Arial"/>
                <a:ea typeface="Arial"/>
                <a:cs typeface="Arial"/>
                <a:sym typeface="Arial"/>
              </a:defRPr>
            </a:pPr>
            <a:r>
              <a:t>Stevens </a:t>
            </a:r>
            <a:r>
              <a:rPr b="0">
                <a:solidFill>
                  <a:srgbClr val="3D4659"/>
                </a:solidFill>
              </a:rPr>
              <a:t>Institute of Technology</a:t>
            </a:r>
          </a:p>
        </p:txBody>
      </p:sp>
      <p:sp>
        <p:nvSpPr>
          <p:cNvPr id="26" name="Text 5"/>
          <p:cNvSpPr txBox="1"/>
          <p:nvPr/>
        </p:nvSpPr>
        <p:spPr>
          <a:xfrm>
            <a:off x="4629625" y="8934450"/>
            <a:ext cx="12890835" cy="419100"/>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125000"/>
              </a:lnSpc>
              <a:defRPr sz="2400">
                <a:solidFill>
                  <a:srgbClr val="7A7363"/>
                </a:solidFill>
                <a:latin typeface="Arial"/>
                <a:ea typeface="Arial"/>
                <a:cs typeface="Arial"/>
                <a:sym typeface="Arial"/>
              </a:defRPr>
            </a:lvl1pPr>
          </a:lstStyle>
          <a:p>
            <a:pPr/>
            <a:r>
              <a:t>AITC 2026 · Nuremberg · June 5 and 6</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AF5E7"/>
        </a:solidFill>
      </p:bgPr>
    </p:bg>
    <p:spTree>
      <p:nvGrpSpPr>
        <p:cNvPr id="1" name=""/>
        <p:cNvGrpSpPr/>
        <p:nvPr/>
      </p:nvGrpSpPr>
      <p:grpSpPr>
        <a:xfrm>
          <a:off x="0" y="0"/>
          <a:ext cx="0" cy="0"/>
          <a:chOff x="0" y="0"/>
          <a:chExt cx="0" cy="0"/>
        </a:xfrm>
      </p:grpSpPr>
      <p:sp>
        <p:nvSpPr>
          <p:cNvPr id="30" name="Shape 0"/>
          <p:cNvSpPr/>
          <p:nvPr/>
        </p:nvSpPr>
        <p:spPr>
          <a:xfrm>
            <a:off x="0" y="0"/>
            <a:ext cx="18288000" cy="819150"/>
          </a:xfrm>
          <a:prstGeom prst="rect">
            <a:avLst/>
          </a:prstGeom>
          <a:solidFill>
            <a:srgbClr val="0D2340"/>
          </a:solidFill>
          <a:ln w="12700">
            <a:miter lim="400000"/>
          </a:ln>
        </p:spPr>
        <p:txBody>
          <a:bodyPr lIns="45719" rIns="45719"/>
          <a:lstStyle/>
          <a:p>
            <a:pPr/>
          </a:p>
        </p:txBody>
      </p:sp>
      <p:sp>
        <p:nvSpPr>
          <p:cNvPr id="31" name="Text 1"/>
          <p:cNvSpPr txBox="1"/>
          <p:nvPr/>
        </p:nvSpPr>
        <p:spPr>
          <a:xfrm>
            <a:off x="14431168" y="240982"/>
            <a:ext cx="417195" cy="38481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140000"/>
              </a:lnSpc>
              <a:defRPr b="1" spc="300" sz="1900">
                <a:solidFill>
                  <a:srgbClr val="ECC833"/>
                </a:solidFill>
                <a:latin typeface="Arial"/>
                <a:ea typeface="Arial"/>
                <a:cs typeface="Arial"/>
                <a:sym typeface="Arial"/>
              </a:defRPr>
            </a:lvl1pPr>
          </a:lstStyle>
          <a:p>
            <a:pPr/>
            <a:r>
              <a:t>01</a:t>
            </a:r>
          </a:p>
        </p:txBody>
      </p:sp>
      <p:sp>
        <p:nvSpPr>
          <p:cNvPr id="32" name="Text 2"/>
          <p:cNvSpPr txBox="1"/>
          <p:nvPr/>
        </p:nvSpPr>
        <p:spPr>
          <a:xfrm>
            <a:off x="14905513" y="231457"/>
            <a:ext cx="184627" cy="38481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140000"/>
              </a:lnSpc>
              <a:defRPr spc="300" sz="1900">
                <a:solidFill>
                  <a:srgbClr val="FFFDF2">
                    <a:alpha val="40000"/>
                  </a:srgbClr>
                </a:solidFill>
                <a:latin typeface="Arial"/>
                <a:ea typeface="Arial"/>
                <a:cs typeface="Arial"/>
                <a:sym typeface="Arial"/>
              </a:defRPr>
            </a:lvl1pPr>
          </a:lstStyle>
          <a:p>
            <a:pPr/>
            <a:r>
              <a:t>/</a:t>
            </a:r>
          </a:p>
        </p:txBody>
      </p:sp>
      <p:sp>
        <p:nvSpPr>
          <p:cNvPr id="33" name="Text 3"/>
          <p:cNvSpPr txBox="1"/>
          <p:nvPr/>
        </p:nvSpPr>
        <p:spPr>
          <a:xfrm>
            <a:off x="15147289" y="233361"/>
            <a:ext cx="2073911" cy="40005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defTabSz="886968">
              <a:lnSpc>
                <a:spcPct val="140000"/>
              </a:lnSpc>
              <a:defRPr b="1" spc="291" sz="1843">
                <a:solidFill>
                  <a:srgbClr val="FFFDF2">
                    <a:alpha val="92000"/>
                  </a:srgbClr>
                </a:solidFill>
                <a:latin typeface="Arial"/>
                <a:ea typeface="Arial"/>
                <a:cs typeface="Arial"/>
                <a:sym typeface="Arial"/>
              </a:defRPr>
            </a:lvl1pPr>
          </a:lstStyle>
          <a:p>
            <a:pPr/>
            <a:r>
              <a:t>THE PROBLEM</a:t>
            </a:r>
          </a:p>
        </p:txBody>
      </p:sp>
      <p:sp>
        <p:nvSpPr>
          <p:cNvPr id="34" name="Text 4"/>
          <p:cNvSpPr txBox="1"/>
          <p:nvPr/>
        </p:nvSpPr>
        <p:spPr>
          <a:xfrm>
            <a:off x="1143000" y="1200149"/>
            <a:ext cx="16482061" cy="830582"/>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104000"/>
              </a:lnSpc>
              <a:defRPr b="1" spc="-90" sz="5400">
                <a:solidFill>
                  <a:srgbClr val="B8451E"/>
                </a:solidFill>
                <a:latin typeface="Arial"/>
                <a:ea typeface="Arial"/>
                <a:cs typeface="Arial"/>
                <a:sym typeface="Arial"/>
              </a:defRPr>
            </a:lvl1pPr>
          </a:lstStyle>
          <a:p>
            <a:pPr/>
            <a:r>
              <a:t>Two states, one record.</a:t>
            </a:r>
          </a:p>
        </p:txBody>
      </p:sp>
      <p:sp>
        <p:nvSpPr>
          <p:cNvPr id="35" name="Text 5"/>
          <p:cNvSpPr txBox="1"/>
          <p:nvPr/>
        </p:nvSpPr>
        <p:spPr>
          <a:xfrm>
            <a:off x="1143000" y="2164079"/>
            <a:ext cx="16482061" cy="454343"/>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115000"/>
              </a:lnSpc>
              <a:defRPr sz="2800">
                <a:solidFill>
                  <a:srgbClr val="1D6657"/>
                </a:solidFill>
                <a:latin typeface="Arial"/>
                <a:ea typeface="Arial"/>
                <a:cs typeface="Arial"/>
                <a:sym typeface="Arial"/>
              </a:defRPr>
            </a:lvl1pPr>
          </a:lstStyle>
          <a:p>
            <a:pPr/>
            <a:r>
              <a:t>The contrast that matters is obscured in the audit trail.</a:t>
            </a:r>
          </a:p>
        </p:txBody>
      </p:sp>
      <p:sp>
        <p:nvSpPr>
          <p:cNvPr id="36" name="Shape 6"/>
          <p:cNvSpPr/>
          <p:nvPr/>
        </p:nvSpPr>
        <p:spPr>
          <a:xfrm>
            <a:off x="1143000" y="2923221"/>
            <a:ext cx="7696200" cy="5777867"/>
          </a:xfrm>
          <a:prstGeom prst="rect">
            <a:avLst/>
          </a:prstGeom>
          <a:solidFill>
            <a:srgbClr val="FFFCF0"/>
          </a:solidFill>
          <a:ln>
            <a:solidFill>
              <a:srgbClr val="C8C0A8"/>
            </a:solidFill>
          </a:ln>
        </p:spPr>
        <p:txBody>
          <a:bodyPr lIns="45719" rIns="45719"/>
          <a:lstStyle/>
          <a:p>
            <a:pPr/>
          </a:p>
        </p:txBody>
      </p:sp>
      <p:sp>
        <p:nvSpPr>
          <p:cNvPr id="37" name="Shape 7"/>
          <p:cNvSpPr/>
          <p:nvPr/>
        </p:nvSpPr>
        <p:spPr>
          <a:xfrm>
            <a:off x="1152525" y="2932746"/>
            <a:ext cx="7677150" cy="548641"/>
          </a:xfrm>
          <a:prstGeom prst="rect">
            <a:avLst/>
          </a:prstGeom>
          <a:solidFill>
            <a:srgbClr val="B8451E"/>
          </a:solidFill>
          <a:ln w="12700">
            <a:miter lim="400000"/>
          </a:ln>
        </p:spPr>
        <p:txBody>
          <a:bodyPr lIns="45719" rIns="45719"/>
          <a:lstStyle/>
          <a:p>
            <a:pPr/>
          </a:p>
        </p:txBody>
      </p:sp>
      <p:sp>
        <p:nvSpPr>
          <p:cNvPr id="38" name="Text 8"/>
          <p:cNvSpPr txBox="1"/>
          <p:nvPr/>
        </p:nvSpPr>
        <p:spPr>
          <a:xfrm>
            <a:off x="1381125" y="3047046"/>
            <a:ext cx="7450264" cy="35814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140000"/>
              </a:lnSpc>
              <a:defRPr b="1" spc="500">
                <a:solidFill>
                  <a:srgbClr val="FDF6E7"/>
                </a:solidFill>
                <a:latin typeface="Arial"/>
                <a:ea typeface="Arial"/>
                <a:cs typeface="Arial"/>
                <a:sym typeface="Arial"/>
              </a:defRPr>
            </a:lvl1pPr>
          </a:lstStyle>
          <a:p>
            <a:pPr/>
            <a:r>
              <a:t>SAMPLE</a:t>
            </a:r>
          </a:p>
        </p:txBody>
      </p:sp>
      <p:sp>
        <p:nvSpPr>
          <p:cNvPr id="39" name="Text 9"/>
          <p:cNvSpPr txBox="1"/>
          <p:nvPr/>
        </p:nvSpPr>
        <p:spPr>
          <a:xfrm>
            <a:off x="1495424" y="3719512"/>
            <a:ext cx="997269" cy="35814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86968">
              <a:lnSpc>
                <a:spcPct val="140000"/>
              </a:lnSpc>
              <a:defRPr b="1" spc="194" sz="1746">
                <a:solidFill>
                  <a:srgbClr val="7A7363"/>
                </a:solidFill>
                <a:latin typeface="Arial"/>
                <a:ea typeface="Arial"/>
                <a:cs typeface="Arial"/>
                <a:sym typeface="Arial"/>
              </a:defRPr>
            </a:lvl1pPr>
          </a:lstStyle>
          <a:p>
            <a:pPr/>
            <a:r>
              <a:t>LANE A</a:t>
            </a:r>
          </a:p>
        </p:txBody>
      </p:sp>
      <p:sp>
        <p:nvSpPr>
          <p:cNvPr id="40" name="Text 10"/>
          <p:cNvSpPr txBox="1"/>
          <p:nvPr/>
        </p:nvSpPr>
        <p:spPr>
          <a:xfrm>
            <a:off x="5313998" y="3709987"/>
            <a:ext cx="3267962" cy="35814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140000"/>
              </a:lnSpc>
              <a:defRPr b="1">
                <a:solidFill>
                  <a:srgbClr val="3D4659"/>
                </a:solidFill>
                <a:latin typeface="Courier New"/>
                <a:ea typeface="Courier New"/>
                <a:cs typeface="Courier New"/>
                <a:sym typeface="Courier New"/>
              </a:defRPr>
            </a:lvl1pPr>
          </a:lstStyle>
          <a:p>
            <a:pPr/>
            <a:r>
              <a:t>AX-4471 · reviewer #214</a:t>
            </a:r>
          </a:p>
        </p:txBody>
      </p:sp>
      <p:pic>
        <p:nvPicPr>
          <p:cNvPr id="41" name="Image 0" descr="Image 0"/>
          <p:cNvPicPr>
            <a:picLocks noChangeAspect="1"/>
          </p:cNvPicPr>
          <p:nvPr/>
        </p:nvPicPr>
        <p:blipFill>
          <a:blip r:embed="rId3">
            <a:extLst/>
          </a:blip>
          <a:stretch>
            <a:fillRect/>
          </a:stretch>
        </p:blipFill>
        <p:spPr>
          <a:xfrm>
            <a:off x="3914775" y="4268153"/>
            <a:ext cx="1047750" cy="1047751"/>
          </a:xfrm>
          <a:prstGeom prst="rect">
            <a:avLst/>
          </a:prstGeom>
          <a:ln w="12700">
            <a:miter lim="400000"/>
          </a:ln>
        </p:spPr>
      </p:pic>
      <p:sp>
        <p:nvSpPr>
          <p:cNvPr id="42" name="Shape 11"/>
          <p:cNvSpPr/>
          <p:nvPr/>
        </p:nvSpPr>
        <p:spPr>
          <a:xfrm>
            <a:off x="5229225" y="4372928"/>
            <a:ext cx="838200" cy="838201"/>
          </a:xfrm>
          <a:prstGeom prst="ellipse">
            <a:avLst/>
          </a:prstGeom>
          <a:solidFill>
            <a:srgbClr val="1D6657">
              <a:alpha val="12000"/>
            </a:srgbClr>
          </a:solidFill>
          <a:ln w="19050">
            <a:solidFill>
              <a:srgbClr val="1D6657"/>
            </a:solidFill>
          </a:ln>
        </p:spPr>
        <p:txBody>
          <a:bodyPr lIns="45719" rIns="45719"/>
          <a:lstStyle/>
          <a:p>
            <a:pPr/>
          </a:p>
        </p:txBody>
      </p:sp>
      <p:pic>
        <p:nvPicPr>
          <p:cNvPr id="43" name="Image 1" descr="Image 1"/>
          <p:cNvPicPr>
            <a:picLocks noChangeAspect="1"/>
          </p:cNvPicPr>
          <p:nvPr/>
        </p:nvPicPr>
        <p:blipFill>
          <a:blip r:embed="rId4">
            <a:extLst/>
          </a:blip>
          <a:stretch>
            <a:fillRect/>
          </a:stretch>
        </p:blipFill>
        <p:spPr>
          <a:xfrm>
            <a:off x="5429250" y="4572953"/>
            <a:ext cx="438150" cy="438151"/>
          </a:xfrm>
          <a:prstGeom prst="rect">
            <a:avLst/>
          </a:prstGeom>
          <a:ln w="12700">
            <a:miter lim="400000"/>
          </a:ln>
        </p:spPr>
      </p:pic>
      <p:sp>
        <p:nvSpPr>
          <p:cNvPr id="44" name="Text 12"/>
          <p:cNvSpPr txBox="1"/>
          <p:nvPr/>
        </p:nvSpPr>
        <p:spPr>
          <a:xfrm>
            <a:off x="1380268" y="5392101"/>
            <a:ext cx="7221664" cy="35814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gn="ctr">
              <a:lnSpc>
                <a:spcPct val="140000"/>
              </a:lnSpc>
              <a:defRPr b="1" spc="200">
                <a:solidFill>
                  <a:srgbClr val="1D6657"/>
                </a:solidFill>
                <a:latin typeface="Arial"/>
                <a:ea typeface="Arial"/>
                <a:cs typeface="Arial"/>
                <a:sym typeface="Arial"/>
              </a:defRPr>
            </a:lvl1pPr>
          </a:lstStyle>
          <a:p>
            <a:pPr/>
            <a:r>
              <a:t>ENGAGED · EXAMINED OUTPUT</a:t>
            </a:r>
          </a:p>
        </p:txBody>
      </p:sp>
      <p:sp>
        <p:nvSpPr>
          <p:cNvPr id="45" name="Shape 13"/>
          <p:cNvSpPr/>
          <p:nvPr/>
        </p:nvSpPr>
        <p:spPr>
          <a:xfrm>
            <a:off x="1152525" y="5862955"/>
            <a:ext cx="7677150" cy="12701"/>
          </a:xfrm>
          <a:prstGeom prst="rect">
            <a:avLst/>
          </a:prstGeom>
          <a:solidFill>
            <a:srgbClr val="DCD5C0"/>
          </a:solidFill>
          <a:ln w="12700">
            <a:miter lim="400000"/>
          </a:ln>
        </p:spPr>
        <p:txBody>
          <a:bodyPr lIns="45719" rIns="45719"/>
          <a:lstStyle/>
          <a:p>
            <a:pPr/>
          </a:p>
        </p:txBody>
      </p:sp>
      <p:sp>
        <p:nvSpPr>
          <p:cNvPr id="46" name="Text 14"/>
          <p:cNvSpPr txBox="1"/>
          <p:nvPr/>
        </p:nvSpPr>
        <p:spPr>
          <a:xfrm>
            <a:off x="1495425" y="6110287"/>
            <a:ext cx="2053907" cy="35814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140000"/>
              </a:lnSpc>
              <a:defRPr b="1" spc="100">
                <a:solidFill>
                  <a:srgbClr val="7A7363"/>
                </a:solidFill>
                <a:latin typeface="Arial"/>
                <a:ea typeface="Arial"/>
                <a:cs typeface="Arial"/>
                <a:sym typeface="Arial"/>
              </a:defRPr>
            </a:lvl1pPr>
          </a:lstStyle>
          <a:p>
            <a:pPr/>
            <a:r>
              <a:t>REVIEWED</a:t>
            </a:r>
          </a:p>
        </p:txBody>
      </p:sp>
      <p:sp>
        <p:nvSpPr>
          <p:cNvPr id="47" name="Text 15"/>
          <p:cNvSpPr txBox="1"/>
          <p:nvPr/>
        </p:nvSpPr>
        <p:spPr>
          <a:xfrm>
            <a:off x="3739832" y="6083617"/>
            <a:ext cx="4889352" cy="41148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140000"/>
              </a:lnSpc>
              <a:defRPr sz="2100">
                <a:solidFill>
                  <a:srgbClr val="11243C"/>
                </a:solidFill>
                <a:latin typeface="Courier New"/>
                <a:ea typeface="Courier New"/>
                <a:cs typeface="Courier New"/>
                <a:sym typeface="Courier New"/>
              </a:defRPr>
            </a:lvl1pPr>
          </a:lstStyle>
          <a:p>
            <a:pPr/>
            <a:r>
              <a:t>14 : 32 : 07</a:t>
            </a:r>
          </a:p>
        </p:txBody>
      </p:sp>
      <p:sp>
        <p:nvSpPr>
          <p:cNvPr id="48" name="Text 16"/>
          <p:cNvSpPr txBox="1"/>
          <p:nvPr/>
        </p:nvSpPr>
        <p:spPr>
          <a:xfrm>
            <a:off x="1495425" y="6750367"/>
            <a:ext cx="2053907" cy="35814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140000"/>
              </a:lnSpc>
              <a:defRPr b="1" spc="100">
                <a:solidFill>
                  <a:srgbClr val="7A7363"/>
                </a:solidFill>
                <a:latin typeface="Arial"/>
                <a:ea typeface="Arial"/>
                <a:cs typeface="Arial"/>
                <a:sym typeface="Arial"/>
              </a:defRPr>
            </a:lvl1pPr>
          </a:lstStyle>
          <a:p>
            <a:pPr/>
            <a:r>
              <a:t>DECISION</a:t>
            </a:r>
          </a:p>
        </p:txBody>
      </p:sp>
      <p:sp>
        <p:nvSpPr>
          <p:cNvPr id="49" name="Text 17"/>
          <p:cNvSpPr txBox="1"/>
          <p:nvPr/>
        </p:nvSpPr>
        <p:spPr>
          <a:xfrm>
            <a:off x="3739832" y="6723698"/>
            <a:ext cx="4889352" cy="41148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140000"/>
              </a:lnSpc>
              <a:defRPr sz="2100">
                <a:solidFill>
                  <a:srgbClr val="11243C"/>
                </a:solidFill>
                <a:latin typeface="Courier New"/>
                <a:ea typeface="Courier New"/>
                <a:cs typeface="Courier New"/>
                <a:sym typeface="Courier New"/>
              </a:defRPr>
            </a:lvl1pPr>
          </a:lstStyle>
          <a:p>
            <a:pPr/>
            <a:r>
              <a:t>14 : 50 : 14 (+18 min)</a:t>
            </a:r>
          </a:p>
        </p:txBody>
      </p:sp>
      <p:sp>
        <p:nvSpPr>
          <p:cNvPr id="50" name="Text 18"/>
          <p:cNvSpPr txBox="1"/>
          <p:nvPr/>
        </p:nvSpPr>
        <p:spPr>
          <a:xfrm>
            <a:off x="1495425" y="7390448"/>
            <a:ext cx="2053907" cy="35814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50391">
              <a:lnSpc>
                <a:spcPct val="140000"/>
              </a:lnSpc>
              <a:defRPr b="1" spc="93" sz="1674">
                <a:solidFill>
                  <a:srgbClr val="7A7363"/>
                </a:solidFill>
                <a:latin typeface="Arial"/>
                <a:ea typeface="Arial"/>
                <a:cs typeface="Arial"/>
                <a:sym typeface="Arial"/>
              </a:defRPr>
            </a:lvl1pPr>
          </a:lstStyle>
          <a:p>
            <a:pPr/>
            <a:r>
              <a:t>DOCUMENTATION</a:t>
            </a:r>
          </a:p>
        </p:txBody>
      </p:sp>
      <p:sp>
        <p:nvSpPr>
          <p:cNvPr id="51" name="Text 19"/>
          <p:cNvSpPr txBox="1"/>
          <p:nvPr/>
        </p:nvSpPr>
        <p:spPr>
          <a:xfrm>
            <a:off x="3739832" y="7363776"/>
            <a:ext cx="4889352" cy="41148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140000"/>
              </a:lnSpc>
              <a:defRPr sz="2100">
                <a:solidFill>
                  <a:srgbClr val="11243C"/>
                </a:solidFill>
                <a:latin typeface="Courier New"/>
                <a:ea typeface="Courier New"/>
                <a:cs typeface="Courier New"/>
                <a:sym typeface="Courier New"/>
              </a:defRPr>
            </a:lvl1pPr>
          </a:lstStyle>
          <a:p>
            <a:pPr/>
            <a:r>
              <a:t>4 of 4 fields</a:t>
            </a:r>
          </a:p>
        </p:txBody>
      </p:sp>
      <p:sp>
        <p:nvSpPr>
          <p:cNvPr id="52" name="Shape 20"/>
          <p:cNvSpPr/>
          <p:nvPr/>
        </p:nvSpPr>
        <p:spPr>
          <a:xfrm>
            <a:off x="1152525" y="7965757"/>
            <a:ext cx="7677150" cy="725806"/>
          </a:xfrm>
          <a:prstGeom prst="rect">
            <a:avLst/>
          </a:prstGeom>
          <a:solidFill>
            <a:srgbClr val="CFE1D3"/>
          </a:solidFill>
          <a:ln w="12700">
            <a:miter lim="400000"/>
          </a:ln>
        </p:spPr>
        <p:txBody>
          <a:bodyPr lIns="45719" rIns="45719"/>
          <a:lstStyle/>
          <a:p>
            <a:pPr/>
          </a:p>
        </p:txBody>
      </p:sp>
      <p:sp>
        <p:nvSpPr>
          <p:cNvPr id="53" name="Shape 21"/>
          <p:cNvSpPr/>
          <p:nvPr/>
        </p:nvSpPr>
        <p:spPr>
          <a:xfrm>
            <a:off x="1152525" y="7964169"/>
            <a:ext cx="7677150" cy="12701"/>
          </a:xfrm>
          <a:prstGeom prst="rect">
            <a:avLst/>
          </a:prstGeom>
          <a:solidFill>
            <a:srgbClr val="DCD5C0"/>
          </a:solidFill>
          <a:ln w="12700">
            <a:miter lim="400000"/>
          </a:ln>
        </p:spPr>
        <p:txBody>
          <a:bodyPr lIns="45719" rIns="45719"/>
          <a:lstStyle/>
          <a:p>
            <a:pPr/>
          </a:p>
        </p:txBody>
      </p:sp>
      <p:pic>
        <p:nvPicPr>
          <p:cNvPr id="54" name="Image 2" descr="Image 2"/>
          <p:cNvPicPr>
            <a:picLocks noChangeAspect="1"/>
          </p:cNvPicPr>
          <p:nvPr/>
        </p:nvPicPr>
        <p:blipFill>
          <a:blip r:embed="rId5">
            <a:extLst/>
          </a:blip>
          <a:stretch>
            <a:fillRect/>
          </a:stretch>
        </p:blipFill>
        <p:spPr>
          <a:xfrm>
            <a:off x="1495425" y="8200073"/>
            <a:ext cx="266700" cy="266701"/>
          </a:xfrm>
          <a:prstGeom prst="rect">
            <a:avLst/>
          </a:prstGeom>
          <a:ln w="12700">
            <a:miter lim="400000"/>
          </a:ln>
        </p:spPr>
      </p:pic>
      <p:sp>
        <p:nvSpPr>
          <p:cNvPr id="55" name="Text 22"/>
          <p:cNvSpPr txBox="1"/>
          <p:nvPr/>
        </p:nvSpPr>
        <p:spPr>
          <a:xfrm>
            <a:off x="1895475" y="8138159"/>
            <a:ext cx="2038826" cy="428626"/>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defTabSz="886968">
              <a:lnSpc>
                <a:spcPct val="140000"/>
              </a:lnSpc>
              <a:defRPr b="1" spc="485" sz="2037">
                <a:solidFill>
                  <a:srgbClr val="2D7A4D"/>
                </a:solidFill>
                <a:latin typeface="Arial"/>
                <a:ea typeface="Arial"/>
                <a:cs typeface="Arial"/>
                <a:sym typeface="Arial"/>
              </a:defRPr>
            </a:lvl1pPr>
          </a:lstStyle>
          <a:p>
            <a:pPr/>
            <a:r>
              <a:t>COMPLIANT</a:t>
            </a:r>
          </a:p>
        </p:txBody>
      </p:sp>
      <p:sp>
        <p:nvSpPr>
          <p:cNvPr id="56" name="Shape 23"/>
          <p:cNvSpPr/>
          <p:nvPr/>
        </p:nvSpPr>
        <p:spPr>
          <a:xfrm>
            <a:off x="9448800" y="2923221"/>
            <a:ext cx="7696200" cy="5777867"/>
          </a:xfrm>
          <a:prstGeom prst="rect">
            <a:avLst/>
          </a:prstGeom>
          <a:solidFill>
            <a:srgbClr val="FFFCF0"/>
          </a:solidFill>
          <a:ln>
            <a:solidFill>
              <a:srgbClr val="C8C0A8"/>
            </a:solidFill>
          </a:ln>
        </p:spPr>
        <p:txBody>
          <a:bodyPr lIns="45719" rIns="45719"/>
          <a:lstStyle/>
          <a:p>
            <a:pPr/>
          </a:p>
        </p:txBody>
      </p:sp>
      <p:sp>
        <p:nvSpPr>
          <p:cNvPr id="57" name="Shape 24"/>
          <p:cNvSpPr/>
          <p:nvPr/>
        </p:nvSpPr>
        <p:spPr>
          <a:xfrm>
            <a:off x="9458325" y="2932746"/>
            <a:ext cx="7677150" cy="548641"/>
          </a:xfrm>
          <a:prstGeom prst="rect">
            <a:avLst/>
          </a:prstGeom>
          <a:solidFill>
            <a:srgbClr val="B8451E"/>
          </a:solidFill>
          <a:ln w="12700">
            <a:miter lim="400000"/>
          </a:ln>
        </p:spPr>
        <p:txBody>
          <a:bodyPr lIns="45719" rIns="45719"/>
          <a:lstStyle/>
          <a:p>
            <a:pPr/>
          </a:p>
        </p:txBody>
      </p:sp>
      <p:sp>
        <p:nvSpPr>
          <p:cNvPr id="58" name="Text 25"/>
          <p:cNvSpPr txBox="1"/>
          <p:nvPr/>
        </p:nvSpPr>
        <p:spPr>
          <a:xfrm>
            <a:off x="9686925" y="3047046"/>
            <a:ext cx="7450264" cy="35814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140000"/>
              </a:lnSpc>
              <a:defRPr b="1" spc="500">
                <a:solidFill>
                  <a:srgbClr val="FDF6E7"/>
                </a:solidFill>
                <a:latin typeface="Arial"/>
                <a:ea typeface="Arial"/>
                <a:cs typeface="Arial"/>
                <a:sym typeface="Arial"/>
              </a:defRPr>
            </a:lvl1pPr>
          </a:lstStyle>
          <a:p>
            <a:pPr/>
            <a:r>
              <a:t>SAMPLE</a:t>
            </a:r>
          </a:p>
        </p:txBody>
      </p:sp>
      <p:sp>
        <p:nvSpPr>
          <p:cNvPr id="59" name="Text 26"/>
          <p:cNvSpPr txBox="1"/>
          <p:nvPr/>
        </p:nvSpPr>
        <p:spPr>
          <a:xfrm>
            <a:off x="9801225" y="3719512"/>
            <a:ext cx="1004570" cy="35814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86968">
              <a:lnSpc>
                <a:spcPct val="140000"/>
              </a:lnSpc>
              <a:defRPr b="1" spc="194" sz="1746">
                <a:solidFill>
                  <a:srgbClr val="7A7363"/>
                </a:solidFill>
                <a:latin typeface="Arial"/>
                <a:ea typeface="Arial"/>
                <a:cs typeface="Arial"/>
                <a:sym typeface="Arial"/>
              </a:defRPr>
            </a:lvl1pPr>
          </a:lstStyle>
          <a:p>
            <a:pPr/>
            <a:r>
              <a:t>LANE B</a:t>
            </a:r>
          </a:p>
        </p:txBody>
      </p:sp>
      <p:sp>
        <p:nvSpPr>
          <p:cNvPr id="60" name="Text 27"/>
          <p:cNvSpPr txBox="1"/>
          <p:nvPr/>
        </p:nvSpPr>
        <p:spPr>
          <a:xfrm>
            <a:off x="13619798" y="3709987"/>
            <a:ext cx="3267962" cy="35814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140000"/>
              </a:lnSpc>
              <a:defRPr b="1">
                <a:solidFill>
                  <a:srgbClr val="3D4659"/>
                </a:solidFill>
                <a:latin typeface="Courier New"/>
                <a:ea typeface="Courier New"/>
                <a:cs typeface="Courier New"/>
                <a:sym typeface="Courier New"/>
              </a:defRPr>
            </a:lvl1pPr>
          </a:lstStyle>
          <a:p>
            <a:pPr/>
            <a:r>
              <a:t>AX-4471 · reviewer #338</a:t>
            </a:r>
          </a:p>
        </p:txBody>
      </p:sp>
      <p:pic>
        <p:nvPicPr>
          <p:cNvPr id="61" name="Image 3" descr="Image 3"/>
          <p:cNvPicPr>
            <a:picLocks noChangeAspect="1"/>
          </p:cNvPicPr>
          <p:nvPr/>
        </p:nvPicPr>
        <p:blipFill>
          <a:blip r:embed="rId6">
            <a:extLst/>
          </a:blip>
          <a:stretch>
            <a:fillRect/>
          </a:stretch>
        </p:blipFill>
        <p:spPr>
          <a:xfrm>
            <a:off x="12220575" y="4268153"/>
            <a:ext cx="1047750" cy="1047751"/>
          </a:xfrm>
          <a:prstGeom prst="rect">
            <a:avLst/>
          </a:prstGeom>
          <a:ln w="12700">
            <a:miter lim="400000"/>
          </a:ln>
        </p:spPr>
      </p:pic>
      <p:sp>
        <p:nvSpPr>
          <p:cNvPr id="62" name="Shape 28"/>
          <p:cNvSpPr/>
          <p:nvPr/>
        </p:nvSpPr>
        <p:spPr>
          <a:xfrm>
            <a:off x="13535025" y="4372928"/>
            <a:ext cx="838200" cy="838201"/>
          </a:xfrm>
          <a:prstGeom prst="ellipse">
            <a:avLst/>
          </a:prstGeom>
          <a:solidFill>
            <a:srgbClr val="7A7363">
              <a:alpha val="12000"/>
            </a:srgbClr>
          </a:solidFill>
          <a:ln w="19050">
            <a:solidFill>
              <a:srgbClr val="7A7363"/>
            </a:solidFill>
            <a:prstDash val="dash"/>
          </a:ln>
        </p:spPr>
        <p:txBody>
          <a:bodyPr lIns="45719" rIns="45719"/>
          <a:lstStyle/>
          <a:p>
            <a:pPr/>
          </a:p>
        </p:txBody>
      </p:sp>
      <p:pic>
        <p:nvPicPr>
          <p:cNvPr id="63" name="Image 4" descr="Image 4"/>
          <p:cNvPicPr>
            <a:picLocks noChangeAspect="1"/>
          </p:cNvPicPr>
          <p:nvPr/>
        </p:nvPicPr>
        <p:blipFill>
          <a:blip r:embed="rId7">
            <a:extLst/>
          </a:blip>
          <a:stretch>
            <a:fillRect/>
          </a:stretch>
        </p:blipFill>
        <p:spPr>
          <a:xfrm>
            <a:off x="13735050" y="4572953"/>
            <a:ext cx="438150" cy="438151"/>
          </a:xfrm>
          <a:prstGeom prst="rect">
            <a:avLst/>
          </a:prstGeom>
          <a:ln w="12700">
            <a:miter lim="400000"/>
          </a:ln>
        </p:spPr>
      </p:pic>
      <p:sp>
        <p:nvSpPr>
          <p:cNvPr id="64" name="Text 29"/>
          <p:cNvSpPr txBox="1"/>
          <p:nvPr/>
        </p:nvSpPr>
        <p:spPr>
          <a:xfrm>
            <a:off x="9686067" y="5392101"/>
            <a:ext cx="7221665" cy="35814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gn="ctr">
              <a:lnSpc>
                <a:spcPct val="140000"/>
              </a:lnSpc>
              <a:defRPr b="1" spc="200">
                <a:solidFill>
                  <a:srgbClr val="7A7363"/>
                </a:solidFill>
                <a:latin typeface="Arial"/>
                <a:ea typeface="Arial"/>
                <a:cs typeface="Arial"/>
                <a:sym typeface="Arial"/>
              </a:defRPr>
            </a:lvl1pPr>
          </a:lstStyle>
          <a:p>
            <a:pPr/>
            <a:r>
              <a:t>NOT ENGAGED · CLICKED THROUGH</a:t>
            </a:r>
          </a:p>
        </p:txBody>
      </p:sp>
      <p:sp>
        <p:nvSpPr>
          <p:cNvPr id="65" name="Shape 30"/>
          <p:cNvSpPr/>
          <p:nvPr/>
        </p:nvSpPr>
        <p:spPr>
          <a:xfrm>
            <a:off x="9458325" y="5862955"/>
            <a:ext cx="7677150" cy="12701"/>
          </a:xfrm>
          <a:prstGeom prst="rect">
            <a:avLst/>
          </a:prstGeom>
          <a:solidFill>
            <a:srgbClr val="DCD5C0"/>
          </a:solidFill>
          <a:ln w="12700">
            <a:miter lim="400000"/>
          </a:ln>
        </p:spPr>
        <p:txBody>
          <a:bodyPr lIns="45719" rIns="45719"/>
          <a:lstStyle/>
          <a:p>
            <a:pPr/>
          </a:p>
        </p:txBody>
      </p:sp>
      <p:sp>
        <p:nvSpPr>
          <p:cNvPr id="66" name="Text 31"/>
          <p:cNvSpPr txBox="1"/>
          <p:nvPr/>
        </p:nvSpPr>
        <p:spPr>
          <a:xfrm>
            <a:off x="9801225" y="6110287"/>
            <a:ext cx="2053907" cy="35814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140000"/>
              </a:lnSpc>
              <a:defRPr b="1" spc="100">
                <a:solidFill>
                  <a:srgbClr val="7A7363"/>
                </a:solidFill>
                <a:latin typeface="Arial"/>
                <a:ea typeface="Arial"/>
                <a:cs typeface="Arial"/>
                <a:sym typeface="Arial"/>
              </a:defRPr>
            </a:lvl1pPr>
          </a:lstStyle>
          <a:p>
            <a:pPr/>
            <a:r>
              <a:t>REVIEWED</a:t>
            </a:r>
          </a:p>
        </p:txBody>
      </p:sp>
      <p:sp>
        <p:nvSpPr>
          <p:cNvPr id="67" name="Text 32"/>
          <p:cNvSpPr txBox="1"/>
          <p:nvPr/>
        </p:nvSpPr>
        <p:spPr>
          <a:xfrm>
            <a:off x="12045632" y="6083617"/>
            <a:ext cx="4889352" cy="41148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140000"/>
              </a:lnSpc>
              <a:defRPr sz="2100">
                <a:solidFill>
                  <a:srgbClr val="11243C"/>
                </a:solidFill>
                <a:latin typeface="Courier New"/>
                <a:ea typeface="Courier New"/>
                <a:cs typeface="Courier New"/>
                <a:sym typeface="Courier New"/>
              </a:defRPr>
            </a:lvl1pPr>
          </a:lstStyle>
          <a:p>
            <a:pPr/>
            <a:r>
              <a:t>14 : 32 : 07</a:t>
            </a:r>
          </a:p>
        </p:txBody>
      </p:sp>
      <p:sp>
        <p:nvSpPr>
          <p:cNvPr id="68" name="Text 33"/>
          <p:cNvSpPr txBox="1"/>
          <p:nvPr/>
        </p:nvSpPr>
        <p:spPr>
          <a:xfrm>
            <a:off x="9801225" y="6750367"/>
            <a:ext cx="2053907" cy="35814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140000"/>
              </a:lnSpc>
              <a:defRPr b="1" spc="100">
                <a:solidFill>
                  <a:srgbClr val="7A7363"/>
                </a:solidFill>
                <a:latin typeface="Arial"/>
                <a:ea typeface="Arial"/>
                <a:cs typeface="Arial"/>
                <a:sym typeface="Arial"/>
              </a:defRPr>
            </a:lvl1pPr>
          </a:lstStyle>
          <a:p>
            <a:pPr/>
            <a:r>
              <a:t>DECISION</a:t>
            </a:r>
          </a:p>
        </p:txBody>
      </p:sp>
      <p:sp>
        <p:nvSpPr>
          <p:cNvPr id="69" name="Text 34"/>
          <p:cNvSpPr txBox="1"/>
          <p:nvPr/>
        </p:nvSpPr>
        <p:spPr>
          <a:xfrm>
            <a:off x="12045632" y="6723698"/>
            <a:ext cx="4889352" cy="41148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140000"/>
              </a:lnSpc>
              <a:defRPr sz="2100">
                <a:solidFill>
                  <a:srgbClr val="11243C"/>
                </a:solidFill>
                <a:latin typeface="Courier New"/>
                <a:ea typeface="Courier New"/>
                <a:cs typeface="Courier New"/>
                <a:sym typeface="Courier New"/>
              </a:defRPr>
            </a:lvl1pPr>
          </a:lstStyle>
          <a:p>
            <a:pPr/>
            <a:r>
              <a:t>14 : 32 : 13 (+6 sec)</a:t>
            </a:r>
          </a:p>
        </p:txBody>
      </p:sp>
      <p:sp>
        <p:nvSpPr>
          <p:cNvPr id="70" name="Text 35"/>
          <p:cNvSpPr txBox="1"/>
          <p:nvPr/>
        </p:nvSpPr>
        <p:spPr>
          <a:xfrm>
            <a:off x="9801225" y="7390448"/>
            <a:ext cx="2053907" cy="35814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50391">
              <a:lnSpc>
                <a:spcPct val="140000"/>
              </a:lnSpc>
              <a:defRPr b="1" spc="93" sz="1674">
                <a:solidFill>
                  <a:srgbClr val="7A7363"/>
                </a:solidFill>
                <a:latin typeface="Arial"/>
                <a:ea typeface="Arial"/>
                <a:cs typeface="Arial"/>
                <a:sym typeface="Arial"/>
              </a:defRPr>
            </a:lvl1pPr>
          </a:lstStyle>
          <a:p>
            <a:pPr/>
            <a:r>
              <a:t>DOCUMENTATION</a:t>
            </a:r>
          </a:p>
        </p:txBody>
      </p:sp>
      <p:sp>
        <p:nvSpPr>
          <p:cNvPr id="71" name="Text 36"/>
          <p:cNvSpPr txBox="1"/>
          <p:nvPr/>
        </p:nvSpPr>
        <p:spPr>
          <a:xfrm>
            <a:off x="12045632" y="7363776"/>
            <a:ext cx="4889352" cy="41148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140000"/>
              </a:lnSpc>
              <a:defRPr sz="2100">
                <a:solidFill>
                  <a:srgbClr val="11243C"/>
                </a:solidFill>
                <a:latin typeface="Courier New"/>
                <a:ea typeface="Courier New"/>
                <a:cs typeface="Courier New"/>
                <a:sym typeface="Courier New"/>
              </a:defRPr>
            </a:lvl1pPr>
          </a:lstStyle>
          <a:p>
            <a:pPr/>
            <a:r>
              <a:t>4 of 4 fields</a:t>
            </a:r>
          </a:p>
        </p:txBody>
      </p:sp>
      <p:sp>
        <p:nvSpPr>
          <p:cNvPr id="72" name="Shape 37"/>
          <p:cNvSpPr/>
          <p:nvPr/>
        </p:nvSpPr>
        <p:spPr>
          <a:xfrm>
            <a:off x="9458325" y="7965757"/>
            <a:ext cx="7677150" cy="725806"/>
          </a:xfrm>
          <a:prstGeom prst="rect">
            <a:avLst/>
          </a:prstGeom>
          <a:solidFill>
            <a:srgbClr val="CFE1D3"/>
          </a:solidFill>
          <a:ln w="12700">
            <a:miter lim="400000"/>
          </a:ln>
        </p:spPr>
        <p:txBody>
          <a:bodyPr lIns="45719" rIns="45719"/>
          <a:lstStyle/>
          <a:p>
            <a:pPr/>
          </a:p>
        </p:txBody>
      </p:sp>
      <p:sp>
        <p:nvSpPr>
          <p:cNvPr id="73" name="Shape 38"/>
          <p:cNvSpPr/>
          <p:nvPr/>
        </p:nvSpPr>
        <p:spPr>
          <a:xfrm>
            <a:off x="9458325" y="7964169"/>
            <a:ext cx="7677150" cy="12701"/>
          </a:xfrm>
          <a:prstGeom prst="rect">
            <a:avLst/>
          </a:prstGeom>
          <a:solidFill>
            <a:srgbClr val="DCD5C0"/>
          </a:solidFill>
          <a:ln w="12700">
            <a:miter lim="400000"/>
          </a:ln>
        </p:spPr>
        <p:txBody>
          <a:bodyPr lIns="45719" rIns="45719"/>
          <a:lstStyle/>
          <a:p>
            <a:pPr/>
          </a:p>
        </p:txBody>
      </p:sp>
      <p:pic>
        <p:nvPicPr>
          <p:cNvPr id="74" name="Image 5" descr="Image 5"/>
          <p:cNvPicPr>
            <a:picLocks noChangeAspect="1"/>
          </p:cNvPicPr>
          <p:nvPr/>
        </p:nvPicPr>
        <p:blipFill>
          <a:blip r:embed="rId5">
            <a:extLst/>
          </a:blip>
          <a:stretch>
            <a:fillRect/>
          </a:stretch>
        </p:blipFill>
        <p:spPr>
          <a:xfrm>
            <a:off x="9801225" y="8200073"/>
            <a:ext cx="266700" cy="266701"/>
          </a:xfrm>
          <a:prstGeom prst="rect">
            <a:avLst/>
          </a:prstGeom>
          <a:ln w="12700">
            <a:miter lim="400000"/>
          </a:ln>
        </p:spPr>
      </p:pic>
      <p:sp>
        <p:nvSpPr>
          <p:cNvPr id="75" name="Text 39"/>
          <p:cNvSpPr txBox="1"/>
          <p:nvPr/>
        </p:nvSpPr>
        <p:spPr>
          <a:xfrm>
            <a:off x="10201275" y="8138159"/>
            <a:ext cx="2038826" cy="428626"/>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defTabSz="886968">
              <a:lnSpc>
                <a:spcPct val="140000"/>
              </a:lnSpc>
              <a:defRPr b="1" spc="485" sz="2037">
                <a:solidFill>
                  <a:srgbClr val="2D7A4D"/>
                </a:solidFill>
                <a:latin typeface="Arial"/>
                <a:ea typeface="Arial"/>
                <a:cs typeface="Arial"/>
                <a:sym typeface="Arial"/>
              </a:defRPr>
            </a:lvl1pPr>
          </a:lstStyle>
          <a:p>
            <a:pPr/>
            <a:r>
              <a:t>COMPLIANT</a:t>
            </a:r>
          </a:p>
        </p:txBody>
      </p:sp>
      <p:sp>
        <p:nvSpPr>
          <p:cNvPr id="76" name="Text 40"/>
          <p:cNvSpPr txBox="1"/>
          <p:nvPr/>
        </p:nvSpPr>
        <p:spPr>
          <a:xfrm>
            <a:off x="1785938" y="9082088"/>
            <a:ext cx="14716126" cy="952518"/>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p>
            <a:pPr algn="ctr" defTabSz="877823">
              <a:lnSpc>
                <a:spcPct val="131991"/>
              </a:lnSpc>
              <a:defRPr sz="2592">
                <a:solidFill>
                  <a:srgbClr val="11243C"/>
                </a:solidFill>
                <a:latin typeface="Arial"/>
                <a:ea typeface="Arial"/>
                <a:cs typeface="Arial"/>
                <a:sym typeface="Arial"/>
              </a:defRPr>
            </a:pPr>
            <a:r>
              <a:t>One review took </a:t>
            </a:r>
            <a:r>
              <a:rPr b="1">
                <a:solidFill>
                  <a:srgbClr val="B8451E"/>
                </a:solidFill>
              </a:rPr>
              <a:t>eighteen minutes </a:t>
            </a:r>
            <a:r>
              <a:t>of substantive evaluation. One took </a:t>
            </a:r>
            <a:r>
              <a:rPr b="1">
                <a:solidFill>
                  <a:srgbClr val="B8451E"/>
                </a:solidFill>
              </a:rPr>
              <a:t>six seconds </a:t>
            </a:r>
            <a:r>
              <a:t>of procedural confirmation. The audit record does not distinguish them.</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AF5E7"/>
        </a:solidFill>
      </p:bgPr>
    </p:bg>
    <p:spTree>
      <p:nvGrpSpPr>
        <p:cNvPr id="1" name=""/>
        <p:cNvGrpSpPr/>
        <p:nvPr/>
      </p:nvGrpSpPr>
      <p:grpSpPr>
        <a:xfrm>
          <a:off x="0" y="0"/>
          <a:ext cx="0" cy="0"/>
          <a:chOff x="0" y="0"/>
          <a:chExt cx="0" cy="0"/>
        </a:xfrm>
      </p:grpSpPr>
      <p:sp>
        <p:nvSpPr>
          <p:cNvPr id="80" name="Shape 0"/>
          <p:cNvSpPr/>
          <p:nvPr/>
        </p:nvSpPr>
        <p:spPr>
          <a:xfrm>
            <a:off x="0" y="0"/>
            <a:ext cx="18288000" cy="819150"/>
          </a:xfrm>
          <a:prstGeom prst="rect">
            <a:avLst/>
          </a:prstGeom>
          <a:solidFill>
            <a:srgbClr val="0D2340"/>
          </a:solidFill>
          <a:ln w="12700">
            <a:miter lim="400000"/>
          </a:ln>
        </p:spPr>
        <p:txBody>
          <a:bodyPr lIns="45719" rIns="45719"/>
          <a:lstStyle/>
          <a:p>
            <a:pPr/>
          </a:p>
        </p:txBody>
      </p:sp>
      <p:sp>
        <p:nvSpPr>
          <p:cNvPr id="81" name="Text 1"/>
          <p:cNvSpPr txBox="1"/>
          <p:nvPr/>
        </p:nvSpPr>
        <p:spPr>
          <a:xfrm>
            <a:off x="14431168" y="240982"/>
            <a:ext cx="417195" cy="38481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140000"/>
              </a:lnSpc>
              <a:defRPr b="1" spc="300" sz="1900">
                <a:solidFill>
                  <a:srgbClr val="ECC833"/>
                </a:solidFill>
                <a:latin typeface="Arial"/>
                <a:ea typeface="Arial"/>
                <a:cs typeface="Arial"/>
                <a:sym typeface="Arial"/>
              </a:defRPr>
            </a:lvl1pPr>
          </a:lstStyle>
          <a:p>
            <a:pPr/>
            <a:r>
              <a:t>01</a:t>
            </a:r>
          </a:p>
        </p:txBody>
      </p:sp>
      <p:sp>
        <p:nvSpPr>
          <p:cNvPr id="82" name="Text 2"/>
          <p:cNvSpPr txBox="1"/>
          <p:nvPr/>
        </p:nvSpPr>
        <p:spPr>
          <a:xfrm>
            <a:off x="14905513" y="231457"/>
            <a:ext cx="184627" cy="38481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140000"/>
              </a:lnSpc>
              <a:defRPr spc="300" sz="1900">
                <a:solidFill>
                  <a:srgbClr val="FFFDF2">
                    <a:alpha val="40000"/>
                  </a:srgbClr>
                </a:solidFill>
                <a:latin typeface="Arial"/>
                <a:ea typeface="Arial"/>
                <a:cs typeface="Arial"/>
                <a:sym typeface="Arial"/>
              </a:defRPr>
            </a:lvl1pPr>
          </a:lstStyle>
          <a:p>
            <a:pPr/>
            <a:r>
              <a:t>/</a:t>
            </a:r>
          </a:p>
        </p:txBody>
      </p:sp>
      <p:sp>
        <p:nvSpPr>
          <p:cNvPr id="83" name="Text 3"/>
          <p:cNvSpPr txBox="1"/>
          <p:nvPr/>
        </p:nvSpPr>
        <p:spPr>
          <a:xfrm>
            <a:off x="15147289" y="233361"/>
            <a:ext cx="2073911" cy="40005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defTabSz="886968">
              <a:lnSpc>
                <a:spcPct val="140000"/>
              </a:lnSpc>
              <a:defRPr b="1" spc="291" sz="1843">
                <a:solidFill>
                  <a:srgbClr val="FFFDF2">
                    <a:alpha val="92000"/>
                  </a:srgbClr>
                </a:solidFill>
                <a:latin typeface="Arial"/>
                <a:ea typeface="Arial"/>
                <a:cs typeface="Arial"/>
                <a:sym typeface="Arial"/>
              </a:defRPr>
            </a:lvl1pPr>
          </a:lstStyle>
          <a:p>
            <a:pPr/>
            <a:r>
              <a:t>THE PROBLEM</a:t>
            </a:r>
          </a:p>
        </p:txBody>
      </p:sp>
      <p:sp>
        <p:nvSpPr>
          <p:cNvPr id="84" name="Text 4"/>
          <p:cNvSpPr txBox="1"/>
          <p:nvPr/>
        </p:nvSpPr>
        <p:spPr>
          <a:xfrm>
            <a:off x="1143000" y="1200149"/>
            <a:ext cx="16482061" cy="830582"/>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104000"/>
              </a:lnSpc>
              <a:defRPr b="1" spc="-90" sz="5400">
                <a:solidFill>
                  <a:srgbClr val="11243C"/>
                </a:solidFill>
                <a:latin typeface="Arial"/>
                <a:ea typeface="Arial"/>
                <a:cs typeface="Arial"/>
                <a:sym typeface="Arial"/>
              </a:defRPr>
            </a:lvl1pPr>
          </a:lstStyle>
          <a:p>
            <a:pPr/>
            <a:r>
              <a:t>Three claims hold up the paper.</a:t>
            </a:r>
          </a:p>
        </p:txBody>
      </p:sp>
      <p:sp>
        <p:nvSpPr>
          <p:cNvPr id="85" name="Text 5"/>
          <p:cNvSpPr txBox="1"/>
          <p:nvPr/>
        </p:nvSpPr>
        <p:spPr>
          <a:xfrm>
            <a:off x="1828800" y="2439193"/>
            <a:ext cx="1123950" cy="72390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gn="r" defTabSz="786384">
              <a:defRPr b="1" spc="-172" sz="4644">
                <a:solidFill>
                  <a:srgbClr val="1D6657"/>
                </a:solidFill>
                <a:latin typeface="Arial"/>
                <a:ea typeface="Arial"/>
                <a:cs typeface="Arial"/>
                <a:sym typeface="Arial"/>
              </a:defRPr>
            </a:lvl1pPr>
          </a:lstStyle>
          <a:p>
            <a:pPr/>
            <a:r>
              <a:t>1.</a:t>
            </a:r>
          </a:p>
        </p:txBody>
      </p:sp>
      <p:sp>
        <p:nvSpPr>
          <p:cNvPr id="86" name="Text 6"/>
          <p:cNvSpPr txBox="1"/>
          <p:nvPr/>
        </p:nvSpPr>
        <p:spPr>
          <a:xfrm>
            <a:off x="3295650" y="2485389"/>
            <a:ext cx="13479971" cy="1358425"/>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p>
            <a:pPr defTabSz="896111">
              <a:lnSpc>
                <a:spcPct val="121994"/>
              </a:lnSpc>
              <a:defRPr spc="-98" sz="4116">
                <a:solidFill>
                  <a:srgbClr val="11243C"/>
                </a:solidFill>
                <a:latin typeface="Arial"/>
                <a:ea typeface="Arial"/>
                <a:cs typeface="Arial"/>
                <a:sym typeface="Arial"/>
              </a:defRPr>
            </a:pPr>
            <a:r>
              <a:t>The oversight function is a </a:t>
            </a:r>
            <a:r>
              <a:rPr b="1"/>
              <a:t>system component </a:t>
            </a:r>
            <a:r>
              <a:t>, not a binary switch.</a:t>
            </a:r>
          </a:p>
        </p:txBody>
      </p:sp>
      <p:sp>
        <p:nvSpPr>
          <p:cNvPr id="87" name="Text 7"/>
          <p:cNvSpPr txBox="1"/>
          <p:nvPr/>
        </p:nvSpPr>
        <p:spPr>
          <a:xfrm>
            <a:off x="1828800" y="4415313"/>
            <a:ext cx="1123950" cy="72390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gn="r" defTabSz="786384">
              <a:defRPr b="1" spc="-172" sz="4644">
                <a:solidFill>
                  <a:srgbClr val="1D6657"/>
                </a:solidFill>
                <a:latin typeface="Arial"/>
                <a:ea typeface="Arial"/>
                <a:cs typeface="Arial"/>
                <a:sym typeface="Arial"/>
              </a:defRPr>
            </a:lvl1pPr>
          </a:lstStyle>
          <a:p>
            <a:pPr/>
            <a:r>
              <a:t>2.</a:t>
            </a:r>
          </a:p>
        </p:txBody>
      </p:sp>
      <p:sp>
        <p:nvSpPr>
          <p:cNvPr id="88" name="Text 8"/>
          <p:cNvSpPr txBox="1"/>
          <p:nvPr/>
        </p:nvSpPr>
        <p:spPr>
          <a:xfrm>
            <a:off x="3295650" y="4461509"/>
            <a:ext cx="13479971" cy="200914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p>
            <a:pPr defTabSz="868680">
              <a:lnSpc>
                <a:spcPct val="121994"/>
              </a:lnSpc>
              <a:defRPr spc="-95" sz="3989">
                <a:solidFill>
                  <a:srgbClr val="11243C"/>
                </a:solidFill>
                <a:latin typeface="Arial"/>
                <a:ea typeface="Arial"/>
                <a:cs typeface="Arial"/>
                <a:sym typeface="Arial"/>
              </a:defRPr>
            </a:pPr>
            <a:r>
              <a:t>It degrades predictably under operational conditions. The degraded state and the functional state leave </a:t>
            </a:r>
            <a:r>
              <a:rPr b="1">
                <a:solidFill>
                  <a:srgbClr val="B8451E"/>
                </a:solidFill>
              </a:rPr>
              <a:t>identical governance traces</a:t>
            </a:r>
            <a:r>
              <a:t>.</a:t>
            </a:r>
          </a:p>
        </p:txBody>
      </p:sp>
      <p:sp>
        <p:nvSpPr>
          <p:cNvPr id="89" name="Text 9"/>
          <p:cNvSpPr txBox="1"/>
          <p:nvPr/>
        </p:nvSpPr>
        <p:spPr>
          <a:xfrm>
            <a:off x="1828800" y="7042150"/>
            <a:ext cx="1123950" cy="723900"/>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gn="r" defTabSz="786384">
              <a:defRPr b="1" spc="-172" sz="4644">
                <a:solidFill>
                  <a:srgbClr val="1D6657"/>
                </a:solidFill>
                <a:latin typeface="Arial"/>
                <a:ea typeface="Arial"/>
                <a:cs typeface="Arial"/>
                <a:sym typeface="Arial"/>
              </a:defRPr>
            </a:lvl1pPr>
          </a:lstStyle>
          <a:p>
            <a:pPr/>
            <a:r>
              <a:t>3.</a:t>
            </a:r>
          </a:p>
        </p:txBody>
      </p:sp>
      <p:sp>
        <p:nvSpPr>
          <p:cNvPr id="90" name="Text 10"/>
          <p:cNvSpPr txBox="1"/>
          <p:nvPr/>
        </p:nvSpPr>
        <p:spPr>
          <a:xfrm>
            <a:off x="3295650" y="7088345"/>
            <a:ext cx="13479971" cy="2028032"/>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p>
            <a:pPr defTabSz="868680">
              <a:lnSpc>
                <a:spcPct val="121994"/>
              </a:lnSpc>
              <a:defRPr spc="-95" sz="3989">
                <a:solidFill>
                  <a:srgbClr val="11243C"/>
                </a:solidFill>
                <a:latin typeface="Arial"/>
                <a:ea typeface="Arial"/>
                <a:cs typeface="Arial"/>
                <a:sym typeface="Arial"/>
              </a:defRPr>
            </a:pPr>
            <a:r>
              <a:t>Current detection, interpretability, and governance methods do not close the gap, because they </a:t>
            </a:r>
            <a:r>
              <a:rPr b="1">
                <a:solidFill>
                  <a:srgbClr val="B8451E"/>
                </a:solidFill>
              </a:rPr>
              <a:t>instrument the wrong layer </a:t>
            </a:r>
            <a:r>
              <a:t>.</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AF5E7"/>
        </a:solidFill>
      </p:bgPr>
    </p:bg>
    <p:spTree>
      <p:nvGrpSpPr>
        <p:cNvPr id="1" name=""/>
        <p:cNvGrpSpPr/>
        <p:nvPr/>
      </p:nvGrpSpPr>
      <p:grpSpPr>
        <a:xfrm>
          <a:off x="0" y="0"/>
          <a:ext cx="0" cy="0"/>
          <a:chOff x="0" y="0"/>
          <a:chExt cx="0" cy="0"/>
        </a:xfrm>
      </p:grpSpPr>
      <p:sp>
        <p:nvSpPr>
          <p:cNvPr id="94" name="Shape 0"/>
          <p:cNvSpPr/>
          <p:nvPr/>
        </p:nvSpPr>
        <p:spPr>
          <a:xfrm>
            <a:off x="0" y="0"/>
            <a:ext cx="18288000" cy="819150"/>
          </a:xfrm>
          <a:prstGeom prst="rect">
            <a:avLst/>
          </a:prstGeom>
          <a:solidFill>
            <a:srgbClr val="0D2340"/>
          </a:solidFill>
          <a:ln w="12700">
            <a:miter lim="400000"/>
          </a:ln>
        </p:spPr>
        <p:txBody>
          <a:bodyPr lIns="45719" rIns="45719"/>
          <a:lstStyle/>
          <a:p>
            <a:pPr/>
          </a:p>
        </p:txBody>
      </p:sp>
      <p:sp>
        <p:nvSpPr>
          <p:cNvPr id="95" name="Text 1"/>
          <p:cNvSpPr txBox="1"/>
          <p:nvPr/>
        </p:nvSpPr>
        <p:spPr>
          <a:xfrm>
            <a:off x="14514036" y="240982"/>
            <a:ext cx="417195" cy="38481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140000"/>
              </a:lnSpc>
              <a:defRPr b="1" spc="300" sz="1900">
                <a:solidFill>
                  <a:srgbClr val="ECC833"/>
                </a:solidFill>
                <a:latin typeface="Arial"/>
                <a:ea typeface="Arial"/>
                <a:cs typeface="Arial"/>
                <a:sym typeface="Arial"/>
              </a:defRPr>
            </a:lvl1pPr>
          </a:lstStyle>
          <a:p>
            <a:pPr/>
            <a:r>
              <a:t>02</a:t>
            </a:r>
          </a:p>
        </p:txBody>
      </p:sp>
      <p:sp>
        <p:nvSpPr>
          <p:cNvPr id="96" name="Text 2"/>
          <p:cNvSpPr txBox="1"/>
          <p:nvPr/>
        </p:nvSpPr>
        <p:spPr>
          <a:xfrm>
            <a:off x="14988381" y="231457"/>
            <a:ext cx="184627" cy="38481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140000"/>
              </a:lnSpc>
              <a:defRPr spc="300" sz="1900">
                <a:solidFill>
                  <a:srgbClr val="FFFDF2">
                    <a:alpha val="40000"/>
                  </a:srgbClr>
                </a:solidFill>
                <a:latin typeface="Arial"/>
                <a:ea typeface="Arial"/>
                <a:cs typeface="Arial"/>
                <a:sym typeface="Arial"/>
              </a:defRPr>
            </a:lvl1pPr>
          </a:lstStyle>
          <a:p>
            <a:pPr/>
            <a:r>
              <a:t>/</a:t>
            </a:r>
          </a:p>
        </p:txBody>
      </p:sp>
      <p:sp>
        <p:nvSpPr>
          <p:cNvPr id="97" name="Text 3"/>
          <p:cNvSpPr txBox="1"/>
          <p:nvPr/>
        </p:nvSpPr>
        <p:spPr>
          <a:xfrm>
            <a:off x="15230158" y="233361"/>
            <a:ext cx="1991044" cy="40005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defTabSz="886968">
              <a:lnSpc>
                <a:spcPct val="140000"/>
              </a:lnSpc>
              <a:defRPr b="1" spc="291" sz="1843">
                <a:solidFill>
                  <a:srgbClr val="FFFDF2">
                    <a:alpha val="92000"/>
                  </a:srgbClr>
                </a:solidFill>
                <a:latin typeface="Arial"/>
                <a:ea typeface="Arial"/>
                <a:cs typeface="Arial"/>
                <a:sym typeface="Arial"/>
              </a:defRPr>
            </a:lvl1pPr>
          </a:lstStyle>
          <a:p>
            <a:pPr/>
            <a:r>
              <a:t>THE PATTERN</a:t>
            </a:r>
          </a:p>
        </p:txBody>
      </p:sp>
      <p:sp>
        <p:nvSpPr>
          <p:cNvPr id="98" name="Text 4"/>
          <p:cNvSpPr txBox="1"/>
          <p:nvPr/>
        </p:nvSpPr>
        <p:spPr>
          <a:xfrm>
            <a:off x="1143000" y="1200149"/>
            <a:ext cx="16482061" cy="830582"/>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104000"/>
              </a:lnSpc>
              <a:defRPr b="1" spc="-90" sz="5400">
                <a:solidFill>
                  <a:srgbClr val="11243C"/>
                </a:solidFill>
                <a:latin typeface="Arial"/>
                <a:ea typeface="Arial"/>
                <a:cs typeface="Arial"/>
                <a:sym typeface="Arial"/>
              </a:defRPr>
            </a:lvl1pPr>
          </a:lstStyle>
          <a:p>
            <a:pPr/>
            <a:r>
              <a:t>Behavior degrades. The record stays uniform.</a:t>
            </a:r>
          </a:p>
        </p:txBody>
      </p:sp>
      <p:sp>
        <p:nvSpPr>
          <p:cNvPr id="99" name="Shape 5"/>
          <p:cNvSpPr/>
          <p:nvPr/>
        </p:nvSpPr>
        <p:spPr>
          <a:xfrm>
            <a:off x="1143000" y="2259329"/>
            <a:ext cx="5029200" cy="1550671"/>
          </a:xfrm>
          <a:prstGeom prst="rect">
            <a:avLst/>
          </a:prstGeom>
          <a:solidFill>
            <a:srgbClr val="FFFCF0"/>
          </a:solidFill>
          <a:ln>
            <a:solidFill>
              <a:srgbClr val="C8C0A8"/>
            </a:solidFill>
          </a:ln>
        </p:spPr>
        <p:txBody>
          <a:bodyPr lIns="45719" rIns="45719"/>
          <a:lstStyle/>
          <a:p>
            <a:pPr/>
          </a:p>
        </p:txBody>
      </p:sp>
      <p:sp>
        <p:nvSpPr>
          <p:cNvPr id="100" name="Text 6"/>
          <p:cNvSpPr txBox="1"/>
          <p:nvPr/>
        </p:nvSpPr>
        <p:spPr>
          <a:xfrm>
            <a:off x="1381125" y="2440304"/>
            <a:ext cx="4689539" cy="35814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140000"/>
              </a:lnSpc>
              <a:defRPr b="1" spc="300">
                <a:solidFill>
                  <a:srgbClr val="7A7363"/>
                </a:solidFill>
                <a:latin typeface="Arial"/>
                <a:ea typeface="Arial"/>
                <a:cs typeface="Arial"/>
                <a:sym typeface="Arial"/>
              </a:defRPr>
            </a:lvl1pPr>
          </a:lstStyle>
          <a:p>
            <a:pPr/>
            <a:r>
              <a:t>GOVERNANCE RECORD</a:t>
            </a:r>
          </a:p>
        </p:txBody>
      </p:sp>
      <p:sp>
        <p:nvSpPr>
          <p:cNvPr id="101" name="Text 7"/>
          <p:cNvSpPr txBox="1"/>
          <p:nvPr/>
        </p:nvSpPr>
        <p:spPr>
          <a:xfrm>
            <a:off x="1381124" y="2874645"/>
            <a:ext cx="899162" cy="35814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140000"/>
              </a:lnSpc>
              <a:defRPr>
                <a:solidFill>
                  <a:srgbClr val="11243C"/>
                </a:solidFill>
                <a:latin typeface="Courier New"/>
                <a:ea typeface="Courier New"/>
                <a:cs typeface="Courier New"/>
                <a:sym typeface="Courier New"/>
              </a:defRPr>
            </a:lvl1pPr>
          </a:lstStyle>
          <a:p>
            <a:pPr/>
            <a:r>
              <a:t>status</a:t>
            </a:r>
          </a:p>
        </p:txBody>
      </p:sp>
      <p:sp>
        <p:nvSpPr>
          <p:cNvPr id="102" name="Text 8"/>
          <p:cNvSpPr txBox="1"/>
          <p:nvPr/>
        </p:nvSpPr>
        <p:spPr>
          <a:xfrm>
            <a:off x="4699634" y="2874645"/>
            <a:ext cx="1310641" cy="35814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140000"/>
              </a:lnSpc>
              <a:defRPr b="1">
                <a:solidFill>
                  <a:srgbClr val="2D7A4D"/>
                </a:solidFill>
                <a:latin typeface="Courier New"/>
                <a:ea typeface="Courier New"/>
                <a:cs typeface="Courier New"/>
                <a:sym typeface="Courier New"/>
              </a:defRPr>
            </a:lvl1pPr>
          </a:lstStyle>
          <a:p>
            <a:pPr/>
            <a:r>
              <a:t>COMPLIANT</a:t>
            </a:r>
          </a:p>
        </p:txBody>
      </p:sp>
      <p:sp>
        <p:nvSpPr>
          <p:cNvPr id="103" name="Text 9"/>
          <p:cNvSpPr txBox="1"/>
          <p:nvPr/>
        </p:nvSpPr>
        <p:spPr>
          <a:xfrm>
            <a:off x="1381124" y="3270884"/>
            <a:ext cx="1310642" cy="35814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140000"/>
              </a:lnSpc>
              <a:defRPr>
                <a:solidFill>
                  <a:srgbClr val="11243C"/>
                </a:solidFill>
                <a:latin typeface="Courier New"/>
                <a:ea typeface="Courier New"/>
                <a:cs typeface="Courier New"/>
                <a:sym typeface="Courier New"/>
              </a:defRPr>
            </a:lvl1pPr>
          </a:lstStyle>
          <a:p>
            <a:pPr/>
            <a:r>
              <a:t>approvals</a:t>
            </a:r>
          </a:p>
        </p:txBody>
      </p:sp>
      <p:sp>
        <p:nvSpPr>
          <p:cNvPr id="104" name="Text 10"/>
          <p:cNvSpPr txBox="1"/>
          <p:nvPr/>
        </p:nvSpPr>
        <p:spPr>
          <a:xfrm>
            <a:off x="5659754" y="3270884"/>
            <a:ext cx="350521" cy="35814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140000"/>
              </a:lnSpc>
              <a:defRPr>
                <a:solidFill>
                  <a:srgbClr val="11243C"/>
                </a:solidFill>
                <a:latin typeface="Courier New"/>
                <a:ea typeface="Courier New"/>
                <a:cs typeface="Courier New"/>
                <a:sym typeface="Courier New"/>
              </a:defRPr>
            </a:lvl1pPr>
          </a:lstStyle>
          <a:p>
            <a:pPr/>
            <a:r>
              <a:t>47</a:t>
            </a:r>
          </a:p>
        </p:txBody>
      </p:sp>
      <p:sp>
        <p:nvSpPr>
          <p:cNvPr id="105" name="Shape 11"/>
          <p:cNvSpPr/>
          <p:nvPr/>
        </p:nvSpPr>
        <p:spPr>
          <a:xfrm>
            <a:off x="6629400" y="2259329"/>
            <a:ext cx="5029200" cy="1550671"/>
          </a:xfrm>
          <a:prstGeom prst="rect">
            <a:avLst/>
          </a:prstGeom>
          <a:solidFill>
            <a:srgbClr val="FFFCF0"/>
          </a:solidFill>
          <a:ln>
            <a:solidFill>
              <a:srgbClr val="C8C0A8"/>
            </a:solidFill>
          </a:ln>
        </p:spPr>
        <p:txBody>
          <a:bodyPr lIns="45719" rIns="45719"/>
          <a:lstStyle/>
          <a:p>
            <a:pPr/>
          </a:p>
        </p:txBody>
      </p:sp>
      <p:sp>
        <p:nvSpPr>
          <p:cNvPr id="106" name="Text 12"/>
          <p:cNvSpPr txBox="1"/>
          <p:nvPr/>
        </p:nvSpPr>
        <p:spPr>
          <a:xfrm>
            <a:off x="6867525" y="2440304"/>
            <a:ext cx="4689539" cy="35814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140000"/>
              </a:lnSpc>
              <a:defRPr b="1" spc="300">
                <a:solidFill>
                  <a:srgbClr val="7A7363"/>
                </a:solidFill>
                <a:latin typeface="Arial"/>
                <a:ea typeface="Arial"/>
                <a:cs typeface="Arial"/>
                <a:sym typeface="Arial"/>
              </a:defRPr>
            </a:lvl1pPr>
          </a:lstStyle>
          <a:p>
            <a:pPr/>
            <a:r>
              <a:t>GOVERNANCE RECORD</a:t>
            </a:r>
          </a:p>
        </p:txBody>
      </p:sp>
      <p:sp>
        <p:nvSpPr>
          <p:cNvPr id="107" name="Text 13"/>
          <p:cNvSpPr txBox="1"/>
          <p:nvPr/>
        </p:nvSpPr>
        <p:spPr>
          <a:xfrm>
            <a:off x="6867524" y="2874645"/>
            <a:ext cx="899162" cy="35814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140000"/>
              </a:lnSpc>
              <a:defRPr>
                <a:solidFill>
                  <a:srgbClr val="11243C"/>
                </a:solidFill>
                <a:latin typeface="Courier New"/>
                <a:ea typeface="Courier New"/>
                <a:cs typeface="Courier New"/>
                <a:sym typeface="Courier New"/>
              </a:defRPr>
            </a:lvl1pPr>
          </a:lstStyle>
          <a:p>
            <a:pPr/>
            <a:r>
              <a:t>status</a:t>
            </a:r>
          </a:p>
        </p:txBody>
      </p:sp>
      <p:sp>
        <p:nvSpPr>
          <p:cNvPr id="108" name="Text 14"/>
          <p:cNvSpPr txBox="1"/>
          <p:nvPr/>
        </p:nvSpPr>
        <p:spPr>
          <a:xfrm>
            <a:off x="10186034" y="2874645"/>
            <a:ext cx="1310641" cy="35814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140000"/>
              </a:lnSpc>
              <a:defRPr b="1">
                <a:solidFill>
                  <a:srgbClr val="2D7A4D"/>
                </a:solidFill>
                <a:latin typeface="Courier New"/>
                <a:ea typeface="Courier New"/>
                <a:cs typeface="Courier New"/>
                <a:sym typeface="Courier New"/>
              </a:defRPr>
            </a:lvl1pPr>
          </a:lstStyle>
          <a:p>
            <a:pPr/>
            <a:r>
              <a:t>COMPLIANT</a:t>
            </a:r>
          </a:p>
        </p:txBody>
      </p:sp>
      <p:sp>
        <p:nvSpPr>
          <p:cNvPr id="109" name="Text 15"/>
          <p:cNvSpPr txBox="1"/>
          <p:nvPr/>
        </p:nvSpPr>
        <p:spPr>
          <a:xfrm>
            <a:off x="6867524" y="3270884"/>
            <a:ext cx="1310642" cy="35814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140000"/>
              </a:lnSpc>
              <a:defRPr>
                <a:solidFill>
                  <a:srgbClr val="11243C"/>
                </a:solidFill>
                <a:latin typeface="Courier New"/>
                <a:ea typeface="Courier New"/>
                <a:cs typeface="Courier New"/>
                <a:sym typeface="Courier New"/>
              </a:defRPr>
            </a:lvl1pPr>
          </a:lstStyle>
          <a:p>
            <a:pPr/>
            <a:r>
              <a:t>approvals</a:t>
            </a:r>
          </a:p>
        </p:txBody>
      </p:sp>
      <p:sp>
        <p:nvSpPr>
          <p:cNvPr id="110" name="Text 16"/>
          <p:cNvSpPr txBox="1"/>
          <p:nvPr/>
        </p:nvSpPr>
        <p:spPr>
          <a:xfrm>
            <a:off x="11146155" y="3270884"/>
            <a:ext cx="350521" cy="35814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140000"/>
              </a:lnSpc>
              <a:defRPr>
                <a:solidFill>
                  <a:srgbClr val="11243C"/>
                </a:solidFill>
                <a:latin typeface="Courier New"/>
                <a:ea typeface="Courier New"/>
                <a:cs typeface="Courier New"/>
                <a:sym typeface="Courier New"/>
              </a:defRPr>
            </a:lvl1pPr>
          </a:lstStyle>
          <a:p>
            <a:pPr/>
            <a:r>
              <a:t>47</a:t>
            </a:r>
          </a:p>
        </p:txBody>
      </p:sp>
      <p:sp>
        <p:nvSpPr>
          <p:cNvPr id="111" name="Shape 17"/>
          <p:cNvSpPr/>
          <p:nvPr/>
        </p:nvSpPr>
        <p:spPr>
          <a:xfrm>
            <a:off x="12115800" y="2259329"/>
            <a:ext cx="5029200" cy="1550671"/>
          </a:xfrm>
          <a:prstGeom prst="rect">
            <a:avLst/>
          </a:prstGeom>
          <a:solidFill>
            <a:srgbClr val="FFFCF0"/>
          </a:solidFill>
          <a:ln>
            <a:solidFill>
              <a:srgbClr val="C8C0A8"/>
            </a:solidFill>
          </a:ln>
        </p:spPr>
        <p:txBody>
          <a:bodyPr lIns="45719" rIns="45719"/>
          <a:lstStyle/>
          <a:p>
            <a:pPr/>
          </a:p>
        </p:txBody>
      </p:sp>
      <p:sp>
        <p:nvSpPr>
          <p:cNvPr id="112" name="Text 18"/>
          <p:cNvSpPr txBox="1"/>
          <p:nvPr/>
        </p:nvSpPr>
        <p:spPr>
          <a:xfrm>
            <a:off x="12353925" y="2440304"/>
            <a:ext cx="4689539" cy="35814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140000"/>
              </a:lnSpc>
              <a:defRPr b="1" spc="300">
                <a:solidFill>
                  <a:srgbClr val="7A7363"/>
                </a:solidFill>
                <a:latin typeface="Arial"/>
                <a:ea typeface="Arial"/>
                <a:cs typeface="Arial"/>
                <a:sym typeface="Arial"/>
              </a:defRPr>
            </a:lvl1pPr>
          </a:lstStyle>
          <a:p>
            <a:pPr/>
            <a:r>
              <a:t>GOVERNANCE RECORD</a:t>
            </a:r>
          </a:p>
        </p:txBody>
      </p:sp>
      <p:sp>
        <p:nvSpPr>
          <p:cNvPr id="113" name="Text 19"/>
          <p:cNvSpPr txBox="1"/>
          <p:nvPr/>
        </p:nvSpPr>
        <p:spPr>
          <a:xfrm>
            <a:off x="12353924" y="2874645"/>
            <a:ext cx="899162" cy="35814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140000"/>
              </a:lnSpc>
              <a:defRPr>
                <a:solidFill>
                  <a:srgbClr val="11243C"/>
                </a:solidFill>
                <a:latin typeface="Courier New"/>
                <a:ea typeface="Courier New"/>
                <a:cs typeface="Courier New"/>
                <a:sym typeface="Courier New"/>
              </a:defRPr>
            </a:lvl1pPr>
          </a:lstStyle>
          <a:p>
            <a:pPr/>
            <a:r>
              <a:t>status</a:t>
            </a:r>
          </a:p>
        </p:txBody>
      </p:sp>
      <p:sp>
        <p:nvSpPr>
          <p:cNvPr id="114" name="Text 20"/>
          <p:cNvSpPr txBox="1"/>
          <p:nvPr/>
        </p:nvSpPr>
        <p:spPr>
          <a:xfrm>
            <a:off x="15672435" y="2874645"/>
            <a:ext cx="1310641" cy="35814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140000"/>
              </a:lnSpc>
              <a:defRPr b="1">
                <a:solidFill>
                  <a:srgbClr val="2D7A4D"/>
                </a:solidFill>
                <a:latin typeface="Courier New"/>
                <a:ea typeface="Courier New"/>
                <a:cs typeface="Courier New"/>
                <a:sym typeface="Courier New"/>
              </a:defRPr>
            </a:lvl1pPr>
          </a:lstStyle>
          <a:p>
            <a:pPr/>
            <a:r>
              <a:t>COMPLIANT</a:t>
            </a:r>
          </a:p>
        </p:txBody>
      </p:sp>
      <p:sp>
        <p:nvSpPr>
          <p:cNvPr id="115" name="Text 21"/>
          <p:cNvSpPr txBox="1"/>
          <p:nvPr/>
        </p:nvSpPr>
        <p:spPr>
          <a:xfrm>
            <a:off x="12353924" y="3270884"/>
            <a:ext cx="1310642" cy="35814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140000"/>
              </a:lnSpc>
              <a:defRPr>
                <a:solidFill>
                  <a:srgbClr val="11243C"/>
                </a:solidFill>
                <a:latin typeface="Courier New"/>
                <a:ea typeface="Courier New"/>
                <a:cs typeface="Courier New"/>
                <a:sym typeface="Courier New"/>
              </a:defRPr>
            </a:lvl1pPr>
          </a:lstStyle>
          <a:p>
            <a:pPr/>
            <a:r>
              <a:t>approvals</a:t>
            </a:r>
          </a:p>
        </p:txBody>
      </p:sp>
      <p:sp>
        <p:nvSpPr>
          <p:cNvPr id="116" name="Text 22"/>
          <p:cNvSpPr txBox="1"/>
          <p:nvPr/>
        </p:nvSpPr>
        <p:spPr>
          <a:xfrm>
            <a:off x="16632555" y="3270884"/>
            <a:ext cx="350521" cy="35814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140000"/>
              </a:lnSpc>
              <a:defRPr>
                <a:solidFill>
                  <a:srgbClr val="11243C"/>
                </a:solidFill>
                <a:latin typeface="Courier New"/>
                <a:ea typeface="Courier New"/>
                <a:cs typeface="Courier New"/>
                <a:sym typeface="Courier New"/>
              </a:defRPr>
            </a:lvl1pPr>
          </a:lstStyle>
          <a:p>
            <a:pPr/>
            <a:r>
              <a:t>47</a:t>
            </a:r>
          </a:p>
        </p:txBody>
      </p:sp>
      <p:pic>
        <p:nvPicPr>
          <p:cNvPr id="117" name="Image 0" descr="Image 0"/>
          <p:cNvPicPr>
            <a:picLocks noChangeAspect="1"/>
          </p:cNvPicPr>
          <p:nvPr/>
        </p:nvPicPr>
        <p:blipFill>
          <a:blip r:embed="rId3">
            <a:alphaModFix amt="70000"/>
            <a:extLst/>
          </a:blip>
          <a:stretch>
            <a:fillRect/>
          </a:stretch>
        </p:blipFill>
        <p:spPr>
          <a:xfrm>
            <a:off x="1143000" y="3943350"/>
            <a:ext cx="5029200" cy="171450"/>
          </a:xfrm>
          <a:prstGeom prst="rect">
            <a:avLst/>
          </a:prstGeom>
          <a:ln w="12700">
            <a:miter lim="400000"/>
          </a:ln>
        </p:spPr>
      </p:pic>
      <p:pic>
        <p:nvPicPr>
          <p:cNvPr id="118" name="Image 1" descr="Image 1"/>
          <p:cNvPicPr>
            <a:picLocks noChangeAspect="1"/>
          </p:cNvPicPr>
          <p:nvPr/>
        </p:nvPicPr>
        <p:blipFill>
          <a:blip r:embed="rId3">
            <a:alphaModFix amt="70000"/>
            <a:extLst/>
          </a:blip>
          <a:stretch>
            <a:fillRect/>
          </a:stretch>
        </p:blipFill>
        <p:spPr>
          <a:xfrm>
            <a:off x="6629400" y="3943350"/>
            <a:ext cx="5029200" cy="171450"/>
          </a:xfrm>
          <a:prstGeom prst="rect">
            <a:avLst/>
          </a:prstGeom>
          <a:ln w="12700">
            <a:miter lim="400000"/>
          </a:ln>
        </p:spPr>
      </p:pic>
      <p:sp>
        <p:nvSpPr>
          <p:cNvPr id="119" name="Shape 23"/>
          <p:cNvSpPr/>
          <p:nvPr/>
        </p:nvSpPr>
        <p:spPr>
          <a:xfrm>
            <a:off x="1143000" y="4248149"/>
            <a:ext cx="5029200" cy="3489168"/>
          </a:xfrm>
          <a:prstGeom prst="rect">
            <a:avLst/>
          </a:prstGeom>
          <a:solidFill>
            <a:srgbClr val="FFFCF0"/>
          </a:solidFill>
          <a:ln>
            <a:solidFill>
              <a:srgbClr val="C8C0A8"/>
            </a:solidFill>
          </a:ln>
        </p:spPr>
        <p:txBody>
          <a:bodyPr lIns="45719" rIns="45719"/>
          <a:lstStyle/>
          <a:p>
            <a:pPr/>
          </a:p>
        </p:txBody>
      </p:sp>
      <p:sp>
        <p:nvSpPr>
          <p:cNvPr id="120" name="Shape 24"/>
          <p:cNvSpPr/>
          <p:nvPr/>
        </p:nvSpPr>
        <p:spPr>
          <a:xfrm>
            <a:off x="1152525" y="4257675"/>
            <a:ext cx="5010150" cy="996314"/>
          </a:xfrm>
          <a:prstGeom prst="rect">
            <a:avLst/>
          </a:prstGeom>
          <a:solidFill>
            <a:srgbClr val="1D6657"/>
          </a:solidFill>
          <a:ln w="12700">
            <a:miter lim="400000"/>
          </a:ln>
        </p:spPr>
        <p:txBody>
          <a:bodyPr lIns="45719" rIns="45719"/>
          <a:lstStyle/>
          <a:p>
            <a:pPr/>
          </a:p>
        </p:txBody>
      </p:sp>
      <p:sp>
        <p:nvSpPr>
          <p:cNvPr id="121" name="Text 25"/>
          <p:cNvSpPr txBox="1"/>
          <p:nvPr/>
        </p:nvSpPr>
        <p:spPr>
          <a:xfrm>
            <a:off x="1381124" y="4410074"/>
            <a:ext cx="1268573" cy="358142"/>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140000"/>
              </a:lnSpc>
              <a:defRPr b="1" spc="300">
                <a:solidFill>
                  <a:srgbClr val="FDF6E7">
                    <a:alpha val="85000"/>
                  </a:srgbClr>
                </a:solidFill>
                <a:latin typeface="Arial"/>
                <a:ea typeface="Arial"/>
                <a:cs typeface="Arial"/>
                <a:sym typeface="Arial"/>
              </a:defRPr>
            </a:lvl1pPr>
          </a:lstStyle>
          <a:p>
            <a:pPr/>
            <a:r>
              <a:t>PHASE 1</a:t>
            </a:r>
          </a:p>
        </p:txBody>
      </p:sp>
      <p:sp>
        <p:nvSpPr>
          <p:cNvPr id="122" name="Text 26"/>
          <p:cNvSpPr txBox="1"/>
          <p:nvPr/>
        </p:nvSpPr>
        <p:spPr>
          <a:xfrm>
            <a:off x="1381124" y="4787265"/>
            <a:ext cx="3203539" cy="352426"/>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77823">
              <a:lnSpc>
                <a:spcPct val="110000"/>
              </a:lnSpc>
              <a:defRPr b="1" spc="-96" sz="2112">
                <a:solidFill>
                  <a:srgbClr val="FDF6E7"/>
                </a:solidFill>
                <a:latin typeface="Arial"/>
                <a:ea typeface="Arial"/>
                <a:cs typeface="Arial"/>
                <a:sym typeface="Arial"/>
              </a:defRPr>
            </a:lvl1pPr>
          </a:lstStyle>
          <a:p>
            <a:pPr/>
            <a:r>
              <a:t>Substantive Engagement</a:t>
            </a:r>
          </a:p>
        </p:txBody>
      </p:sp>
      <p:sp>
        <p:nvSpPr>
          <p:cNvPr id="123" name="Shape 27"/>
          <p:cNvSpPr/>
          <p:nvPr/>
        </p:nvSpPr>
        <p:spPr>
          <a:xfrm>
            <a:off x="1152525" y="5253990"/>
            <a:ext cx="5010150" cy="1400176"/>
          </a:xfrm>
          <a:prstGeom prst="rect">
            <a:avLst/>
          </a:prstGeom>
          <a:solidFill>
            <a:srgbClr val="F1EAD4"/>
          </a:solidFill>
          <a:ln w="12700">
            <a:miter lim="400000"/>
          </a:ln>
        </p:spPr>
        <p:txBody>
          <a:bodyPr lIns="45719" rIns="45719"/>
          <a:lstStyle/>
          <a:p>
            <a:pPr/>
          </a:p>
        </p:txBody>
      </p:sp>
      <p:sp>
        <p:nvSpPr>
          <p:cNvPr id="124" name="Shape 28"/>
          <p:cNvSpPr/>
          <p:nvPr/>
        </p:nvSpPr>
        <p:spPr>
          <a:xfrm>
            <a:off x="1152525" y="6643052"/>
            <a:ext cx="5010150" cy="12701"/>
          </a:xfrm>
          <a:prstGeom prst="rect">
            <a:avLst/>
          </a:prstGeom>
          <a:solidFill>
            <a:srgbClr val="DCD5C0"/>
          </a:solidFill>
          <a:ln w="12700">
            <a:miter lim="400000"/>
          </a:ln>
        </p:spPr>
        <p:txBody>
          <a:bodyPr lIns="45719" rIns="45719"/>
          <a:lstStyle/>
          <a:p>
            <a:pPr/>
          </a:p>
        </p:txBody>
      </p:sp>
      <p:sp>
        <p:nvSpPr>
          <p:cNvPr id="125" name="Shape 29"/>
          <p:cNvSpPr/>
          <p:nvPr/>
        </p:nvSpPr>
        <p:spPr>
          <a:xfrm>
            <a:off x="1381125" y="5756909"/>
            <a:ext cx="250191" cy="754381"/>
          </a:xfrm>
          <a:prstGeom prst="roundRect">
            <a:avLst>
              <a:gd name="adj" fmla="val 7614"/>
            </a:avLst>
          </a:prstGeom>
          <a:solidFill>
            <a:srgbClr val="1D6657"/>
          </a:solidFill>
          <a:ln w="12700">
            <a:miter lim="400000"/>
          </a:ln>
        </p:spPr>
        <p:txBody>
          <a:bodyPr lIns="45719" rIns="45719"/>
          <a:lstStyle/>
          <a:p>
            <a:pPr/>
          </a:p>
        </p:txBody>
      </p:sp>
      <p:sp>
        <p:nvSpPr>
          <p:cNvPr id="126" name="Shape 30"/>
          <p:cNvSpPr/>
          <p:nvPr/>
        </p:nvSpPr>
        <p:spPr>
          <a:xfrm>
            <a:off x="1688464" y="5589270"/>
            <a:ext cx="250191" cy="922021"/>
          </a:xfrm>
          <a:prstGeom prst="roundRect">
            <a:avLst>
              <a:gd name="adj" fmla="val 7614"/>
            </a:avLst>
          </a:prstGeom>
          <a:solidFill>
            <a:srgbClr val="1D6657"/>
          </a:solidFill>
          <a:ln w="12700">
            <a:miter lim="400000"/>
          </a:ln>
        </p:spPr>
        <p:txBody>
          <a:bodyPr lIns="45719" rIns="45719"/>
          <a:lstStyle/>
          <a:p>
            <a:pPr/>
          </a:p>
        </p:txBody>
      </p:sp>
      <p:sp>
        <p:nvSpPr>
          <p:cNvPr id="127" name="Shape 31"/>
          <p:cNvSpPr/>
          <p:nvPr/>
        </p:nvSpPr>
        <p:spPr>
          <a:xfrm>
            <a:off x="1995804" y="5924550"/>
            <a:ext cx="250191" cy="586741"/>
          </a:xfrm>
          <a:prstGeom prst="roundRect">
            <a:avLst>
              <a:gd name="adj" fmla="val 7614"/>
            </a:avLst>
          </a:prstGeom>
          <a:solidFill>
            <a:srgbClr val="1D6657"/>
          </a:solidFill>
          <a:ln w="12700">
            <a:miter lim="400000"/>
          </a:ln>
        </p:spPr>
        <p:txBody>
          <a:bodyPr lIns="45719" rIns="45719"/>
          <a:lstStyle/>
          <a:p>
            <a:pPr/>
          </a:p>
        </p:txBody>
      </p:sp>
      <p:sp>
        <p:nvSpPr>
          <p:cNvPr id="128" name="Shape 32"/>
          <p:cNvSpPr/>
          <p:nvPr/>
        </p:nvSpPr>
        <p:spPr>
          <a:xfrm>
            <a:off x="2303145" y="5547359"/>
            <a:ext cx="250191" cy="963931"/>
          </a:xfrm>
          <a:prstGeom prst="roundRect">
            <a:avLst>
              <a:gd name="adj" fmla="val 7614"/>
            </a:avLst>
          </a:prstGeom>
          <a:solidFill>
            <a:srgbClr val="1D6657"/>
          </a:solidFill>
          <a:ln w="12700">
            <a:miter lim="400000"/>
          </a:ln>
        </p:spPr>
        <p:txBody>
          <a:bodyPr lIns="45719" rIns="45719"/>
          <a:lstStyle/>
          <a:p>
            <a:pPr/>
          </a:p>
        </p:txBody>
      </p:sp>
      <p:sp>
        <p:nvSpPr>
          <p:cNvPr id="129" name="Shape 33"/>
          <p:cNvSpPr/>
          <p:nvPr/>
        </p:nvSpPr>
        <p:spPr>
          <a:xfrm>
            <a:off x="2610485" y="5840729"/>
            <a:ext cx="250191" cy="670561"/>
          </a:xfrm>
          <a:prstGeom prst="roundRect">
            <a:avLst>
              <a:gd name="adj" fmla="val 7614"/>
            </a:avLst>
          </a:prstGeom>
          <a:solidFill>
            <a:srgbClr val="1D6657"/>
          </a:solidFill>
          <a:ln w="12700">
            <a:miter lim="400000"/>
          </a:ln>
        </p:spPr>
        <p:txBody>
          <a:bodyPr lIns="45719" rIns="45719"/>
          <a:lstStyle/>
          <a:p>
            <a:pPr/>
          </a:p>
        </p:txBody>
      </p:sp>
      <p:sp>
        <p:nvSpPr>
          <p:cNvPr id="130" name="Shape 34"/>
          <p:cNvSpPr/>
          <p:nvPr/>
        </p:nvSpPr>
        <p:spPr>
          <a:xfrm>
            <a:off x="2917825" y="5694045"/>
            <a:ext cx="250191" cy="817246"/>
          </a:xfrm>
          <a:prstGeom prst="roundRect">
            <a:avLst>
              <a:gd name="adj" fmla="val 7614"/>
            </a:avLst>
          </a:prstGeom>
          <a:solidFill>
            <a:srgbClr val="1D6657"/>
          </a:solidFill>
          <a:ln w="12700">
            <a:miter lim="400000"/>
          </a:ln>
        </p:spPr>
        <p:txBody>
          <a:bodyPr lIns="45719" rIns="45719"/>
          <a:lstStyle/>
          <a:p>
            <a:pPr/>
          </a:p>
        </p:txBody>
      </p:sp>
      <p:sp>
        <p:nvSpPr>
          <p:cNvPr id="131" name="Shape 35"/>
          <p:cNvSpPr/>
          <p:nvPr/>
        </p:nvSpPr>
        <p:spPr>
          <a:xfrm>
            <a:off x="3225164" y="5631179"/>
            <a:ext cx="250191" cy="880111"/>
          </a:xfrm>
          <a:prstGeom prst="roundRect">
            <a:avLst>
              <a:gd name="adj" fmla="val 7614"/>
            </a:avLst>
          </a:prstGeom>
          <a:solidFill>
            <a:srgbClr val="1D6657"/>
          </a:solidFill>
          <a:ln w="12700">
            <a:miter lim="400000"/>
          </a:ln>
        </p:spPr>
        <p:txBody>
          <a:bodyPr lIns="45719" rIns="45719"/>
          <a:lstStyle/>
          <a:p>
            <a:pPr/>
          </a:p>
        </p:txBody>
      </p:sp>
      <p:sp>
        <p:nvSpPr>
          <p:cNvPr id="132" name="Shape 36"/>
          <p:cNvSpPr/>
          <p:nvPr/>
        </p:nvSpPr>
        <p:spPr>
          <a:xfrm>
            <a:off x="3532504" y="5987415"/>
            <a:ext cx="250191" cy="523876"/>
          </a:xfrm>
          <a:prstGeom prst="roundRect">
            <a:avLst>
              <a:gd name="adj" fmla="val 7614"/>
            </a:avLst>
          </a:prstGeom>
          <a:solidFill>
            <a:srgbClr val="1D6657"/>
          </a:solidFill>
          <a:ln w="12700">
            <a:miter lim="400000"/>
          </a:ln>
        </p:spPr>
        <p:txBody>
          <a:bodyPr lIns="45719" rIns="45719"/>
          <a:lstStyle/>
          <a:p>
            <a:pPr/>
          </a:p>
        </p:txBody>
      </p:sp>
      <p:sp>
        <p:nvSpPr>
          <p:cNvPr id="133" name="Shape 37"/>
          <p:cNvSpPr/>
          <p:nvPr/>
        </p:nvSpPr>
        <p:spPr>
          <a:xfrm>
            <a:off x="3839845" y="5568315"/>
            <a:ext cx="250191" cy="942976"/>
          </a:xfrm>
          <a:prstGeom prst="roundRect">
            <a:avLst>
              <a:gd name="adj" fmla="val 7614"/>
            </a:avLst>
          </a:prstGeom>
          <a:solidFill>
            <a:srgbClr val="1D6657"/>
          </a:solidFill>
          <a:ln w="12700">
            <a:miter lim="400000"/>
          </a:ln>
        </p:spPr>
        <p:txBody>
          <a:bodyPr lIns="45719" rIns="45719"/>
          <a:lstStyle/>
          <a:p>
            <a:pPr/>
          </a:p>
        </p:txBody>
      </p:sp>
      <p:sp>
        <p:nvSpPr>
          <p:cNvPr id="134" name="Shape 38"/>
          <p:cNvSpPr/>
          <p:nvPr/>
        </p:nvSpPr>
        <p:spPr>
          <a:xfrm>
            <a:off x="4147184" y="5798820"/>
            <a:ext cx="250191" cy="712471"/>
          </a:xfrm>
          <a:prstGeom prst="roundRect">
            <a:avLst>
              <a:gd name="adj" fmla="val 7614"/>
            </a:avLst>
          </a:prstGeom>
          <a:solidFill>
            <a:srgbClr val="1D6657"/>
          </a:solidFill>
          <a:ln w="12700">
            <a:miter lim="400000"/>
          </a:ln>
        </p:spPr>
        <p:txBody>
          <a:bodyPr lIns="45719" rIns="45719"/>
          <a:lstStyle/>
          <a:p>
            <a:pPr/>
          </a:p>
        </p:txBody>
      </p:sp>
      <p:sp>
        <p:nvSpPr>
          <p:cNvPr id="135" name="Shape 39"/>
          <p:cNvSpPr/>
          <p:nvPr/>
        </p:nvSpPr>
        <p:spPr>
          <a:xfrm>
            <a:off x="4454525" y="5652134"/>
            <a:ext cx="250191" cy="859156"/>
          </a:xfrm>
          <a:prstGeom prst="roundRect">
            <a:avLst>
              <a:gd name="adj" fmla="val 7614"/>
            </a:avLst>
          </a:prstGeom>
          <a:solidFill>
            <a:srgbClr val="1D6657"/>
          </a:solidFill>
          <a:ln w="12700">
            <a:miter lim="400000"/>
          </a:ln>
        </p:spPr>
        <p:txBody>
          <a:bodyPr lIns="45719" rIns="45719"/>
          <a:lstStyle/>
          <a:p>
            <a:pPr/>
          </a:p>
        </p:txBody>
      </p:sp>
      <p:sp>
        <p:nvSpPr>
          <p:cNvPr id="136" name="Shape 40"/>
          <p:cNvSpPr/>
          <p:nvPr/>
        </p:nvSpPr>
        <p:spPr>
          <a:xfrm>
            <a:off x="4761865" y="5882640"/>
            <a:ext cx="250191" cy="628651"/>
          </a:xfrm>
          <a:prstGeom prst="roundRect">
            <a:avLst>
              <a:gd name="adj" fmla="val 7614"/>
            </a:avLst>
          </a:prstGeom>
          <a:solidFill>
            <a:srgbClr val="1D6657"/>
          </a:solidFill>
          <a:ln w="12700">
            <a:miter lim="400000"/>
          </a:ln>
        </p:spPr>
        <p:txBody>
          <a:bodyPr lIns="45719" rIns="45719"/>
          <a:lstStyle/>
          <a:p>
            <a:pPr/>
          </a:p>
        </p:txBody>
      </p:sp>
      <p:sp>
        <p:nvSpPr>
          <p:cNvPr id="137" name="Shape 41"/>
          <p:cNvSpPr/>
          <p:nvPr/>
        </p:nvSpPr>
        <p:spPr>
          <a:xfrm>
            <a:off x="5069204" y="5610225"/>
            <a:ext cx="250191" cy="901065"/>
          </a:xfrm>
          <a:prstGeom prst="roundRect">
            <a:avLst>
              <a:gd name="adj" fmla="val 7614"/>
            </a:avLst>
          </a:prstGeom>
          <a:solidFill>
            <a:srgbClr val="1D6657"/>
          </a:solidFill>
          <a:ln w="12700">
            <a:miter lim="400000"/>
          </a:ln>
        </p:spPr>
        <p:txBody>
          <a:bodyPr lIns="45719" rIns="45719"/>
          <a:lstStyle/>
          <a:p>
            <a:pPr/>
          </a:p>
        </p:txBody>
      </p:sp>
      <p:sp>
        <p:nvSpPr>
          <p:cNvPr id="138" name="Shape 42"/>
          <p:cNvSpPr/>
          <p:nvPr/>
        </p:nvSpPr>
        <p:spPr>
          <a:xfrm>
            <a:off x="5376545" y="5735954"/>
            <a:ext cx="250191" cy="775336"/>
          </a:xfrm>
          <a:prstGeom prst="roundRect">
            <a:avLst>
              <a:gd name="adj" fmla="val 7614"/>
            </a:avLst>
          </a:prstGeom>
          <a:solidFill>
            <a:srgbClr val="1D6657"/>
          </a:solidFill>
          <a:ln w="12700">
            <a:miter lim="400000"/>
          </a:ln>
        </p:spPr>
        <p:txBody>
          <a:bodyPr lIns="45719" rIns="45719"/>
          <a:lstStyle/>
          <a:p>
            <a:pPr/>
          </a:p>
        </p:txBody>
      </p:sp>
      <p:sp>
        <p:nvSpPr>
          <p:cNvPr id="139" name="Shape 43"/>
          <p:cNvSpPr/>
          <p:nvPr/>
        </p:nvSpPr>
        <p:spPr>
          <a:xfrm>
            <a:off x="5683884" y="5547359"/>
            <a:ext cx="250191" cy="963931"/>
          </a:xfrm>
          <a:prstGeom prst="roundRect">
            <a:avLst>
              <a:gd name="adj" fmla="val 7614"/>
            </a:avLst>
          </a:prstGeom>
          <a:solidFill>
            <a:srgbClr val="1D6657"/>
          </a:solidFill>
          <a:ln w="12700">
            <a:miter lim="400000"/>
          </a:ln>
        </p:spPr>
        <p:txBody>
          <a:bodyPr lIns="45719" rIns="45719"/>
          <a:lstStyle/>
          <a:p>
            <a:pPr/>
          </a:p>
        </p:txBody>
      </p:sp>
      <p:sp>
        <p:nvSpPr>
          <p:cNvPr id="140" name="Text 44"/>
          <p:cNvSpPr txBox="1"/>
          <p:nvPr/>
        </p:nvSpPr>
        <p:spPr>
          <a:xfrm>
            <a:off x="1381124" y="6808151"/>
            <a:ext cx="3769619" cy="40005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defTabSz="886968">
              <a:lnSpc>
                <a:spcPct val="131987"/>
              </a:lnSpc>
              <a:defRPr sz="1843">
                <a:solidFill>
                  <a:srgbClr val="11243C"/>
                </a:solidFill>
                <a:latin typeface="Arial"/>
                <a:ea typeface="Arial"/>
                <a:cs typeface="Arial"/>
                <a:sym typeface="Arial"/>
              </a:defRPr>
            </a:lvl1pPr>
          </a:lstStyle>
          <a:p>
            <a:pPr/>
            <a:r>
              <a:t>Catches errors. Modifies. Escalates.</a:t>
            </a:r>
          </a:p>
        </p:txBody>
      </p:sp>
      <p:sp>
        <p:nvSpPr>
          <p:cNvPr id="141" name="Text 45"/>
          <p:cNvSpPr txBox="1"/>
          <p:nvPr/>
        </p:nvSpPr>
        <p:spPr>
          <a:xfrm>
            <a:off x="1381125" y="7209631"/>
            <a:ext cx="4689539" cy="34671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135000"/>
              </a:lnSpc>
              <a:defRPr>
                <a:solidFill>
                  <a:srgbClr val="7A7363"/>
                </a:solidFill>
                <a:latin typeface="Arial"/>
                <a:ea typeface="Arial"/>
                <a:cs typeface="Arial"/>
                <a:sym typeface="Arial"/>
              </a:defRPr>
            </a:lvl1pPr>
          </a:lstStyle>
          <a:p>
            <a:pPr/>
            <a:r>
              <a:t>Takes time and attention.</a:t>
            </a:r>
          </a:p>
        </p:txBody>
      </p:sp>
      <p:sp>
        <p:nvSpPr>
          <p:cNvPr id="142" name="Shape 46"/>
          <p:cNvSpPr/>
          <p:nvPr/>
        </p:nvSpPr>
        <p:spPr>
          <a:xfrm>
            <a:off x="6629400" y="4248149"/>
            <a:ext cx="5029200" cy="3489168"/>
          </a:xfrm>
          <a:prstGeom prst="rect">
            <a:avLst/>
          </a:prstGeom>
          <a:solidFill>
            <a:srgbClr val="FFFCF0"/>
          </a:solidFill>
          <a:ln>
            <a:solidFill>
              <a:srgbClr val="C8C0A8"/>
            </a:solidFill>
          </a:ln>
        </p:spPr>
        <p:txBody>
          <a:bodyPr lIns="45719" rIns="45719"/>
          <a:lstStyle/>
          <a:p>
            <a:pPr/>
          </a:p>
        </p:txBody>
      </p:sp>
      <p:sp>
        <p:nvSpPr>
          <p:cNvPr id="143" name="Shape 47"/>
          <p:cNvSpPr/>
          <p:nvPr/>
        </p:nvSpPr>
        <p:spPr>
          <a:xfrm>
            <a:off x="6638925" y="4257675"/>
            <a:ext cx="5010150" cy="996314"/>
          </a:xfrm>
          <a:prstGeom prst="rect">
            <a:avLst/>
          </a:prstGeom>
          <a:solidFill>
            <a:srgbClr val="7A7363"/>
          </a:solidFill>
          <a:ln w="12700">
            <a:miter lim="400000"/>
          </a:ln>
        </p:spPr>
        <p:txBody>
          <a:bodyPr lIns="45719" rIns="45719"/>
          <a:lstStyle/>
          <a:p>
            <a:pPr/>
          </a:p>
        </p:txBody>
      </p:sp>
      <p:sp>
        <p:nvSpPr>
          <p:cNvPr id="144" name="Text 48"/>
          <p:cNvSpPr txBox="1"/>
          <p:nvPr/>
        </p:nvSpPr>
        <p:spPr>
          <a:xfrm>
            <a:off x="6867524" y="4410074"/>
            <a:ext cx="1268573" cy="358142"/>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140000"/>
              </a:lnSpc>
              <a:defRPr b="1" spc="300">
                <a:solidFill>
                  <a:srgbClr val="FDF6E7">
                    <a:alpha val="85000"/>
                  </a:srgbClr>
                </a:solidFill>
                <a:latin typeface="Arial"/>
                <a:ea typeface="Arial"/>
                <a:cs typeface="Arial"/>
                <a:sym typeface="Arial"/>
              </a:defRPr>
            </a:lvl1pPr>
          </a:lstStyle>
          <a:p>
            <a:pPr/>
            <a:r>
              <a:t>PHASE 2</a:t>
            </a:r>
          </a:p>
        </p:txBody>
      </p:sp>
      <p:sp>
        <p:nvSpPr>
          <p:cNvPr id="145" name="Text 49"/>
          <p:cNvSpPr txBox="1"/>
          <p:nvPr/>
        </p:nvSpPr>
        <p:spPr>
          <a:xfrm>
            <a:off x="6867524" y="4787265"/>
            <a:ext cx="2647106" cy="352426"/>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77823">
              <a:lnSpc>
                <a:spcPct val="110000"/>
              </a:lnSpc>
              <a:defRPr b="1" spc="-96" sz="2112">
                <a:solidFill>
                  <a:srgbClr val="FDF6E7"/>
                </a:solidFill>
                <a:latin typeface="Arial"/>
                <a:ea typeface="Arial"/>
                <a:cs typeface="Arial"/>
                <a:sym typeface="Arial"/>
              </a:defRPr>
            </a:lvl1pPr>
          </a:lstStyle>
          <a:p>
            <a:pPr/>
            <a:r>
              <a:t>Procedural Scanning</a:t>
            </a:r>
          </a:p>
        </p:txBody>
      </p:sp>
      <p:sp>
        <p:nvSpPr>
          <p:cNvPr id="146" name="Shape 50"/>
          <p:cNvSpPr/>
          <p:nvPr/>
        </p:nvSpPr>
        <p:spPr>
          <a:xfrm>
            <a:off x="6638925" y="5253990"/>
            <a:ext cx="5010150" cy="1400176"/>
          </a:xfrm>
          <a:prstGeom prst="rect">
            <a:avLst/>
          </a:prstGeom>
          <a:solidFill>
            <a:srgbClr val="F1EAD4"/>
          </a:solidFill>
          <a:ln w="12700">
            <a:miter lim="400000"/>
          </a:ln>
        </p:spPr>
        <p:txBody>
          <a:bodyPr lIns="45719" rIns="45719"/>
          <a:lstStyle/>
          <a:p>
            <a:pPr/>
          </a:p>
        </p:txBody>
      </p:sp>
      <p:sp>
        <p:nvSpPr>
          <p:cNvPr id="147" name="Shape 51"/>
          <p:cNvSpPr/>
          <p:nvPr/>
        </p:nvSpPr>
        <p:spPr>
          <a:xfrm>
            <a:off x="6638925" y="6643052"/>
            <a:ext cx="5010150" cy="12701"/>
          </a:xfrm>
          <a:prstGeom prst="rect">
            <a:avLst/>
          </a:prstGeom>
          <a:solidFill>
            <a:srgbClr val="DCD5C0"/>
          </a:solidFill>
          <a:ln w="12700">
            <a:miter lim="400000"/>
          </a:ln>
        </p:spPr>
        <p:txBody>
          <a:bodyPr lIns="45719" rIns="45719"/>
          <a:lstStyle/>
          <a:p>
            <a:pPr/>
          </a:p>
        </p:txBody>
      </p:sp>
      <p:sp>
        <p:nvSpPr>
          <p:cNvPr id="148" name="Shape 52"/>
          <p:cNvSpPr/>
          <p:nvPr/>
        </p:nvSpPr>
        <p:spPr>
          <a:xfrm>
            <a:off x="6867525" y="6239033"/>
            <a:ext cx="250191" cy="272257"/>
          </a:xfrm>
          <a:prstGeom prst="roundRect">
            <a:avLst>
              <a:gd name="adj" fmla="val 7614"/>
            </a:avLst>
          </a:prstGeom>
          <a:solidFill>
            <a:srgbClr val="C08A2E"/>
          </a:solidFill>
          <a:ln w="12700">
            <a:miter lim="400000"/>
          </a:ln>
        </p:spPr>
        <p:txBody>
          <a:bodyPr lIns="45719" rIns="45719"/>
          <a:lstStyle/>
          <a:p>
            <a:pPr/>
          </a:p>
        </p:txBody>
      </p:sp>
      <p:sp>
        <p:nvSpPr>
          <p:cNvPr id="149" name="Shape 53"/>
          <p:cNvSpPr/>
          <p:nvPr/>
        </p:nvSpPr>
        <p:spPr>
          <a:xfrm>
            <a:off x="7174865" y="6492240"/>
            <a:ext cx="250191" cy="19051"/>
          </a:xfrm>
          <a:prstGeom prst="roundRect">
            <a:avLst>
              <a:gd name="adj" fmla="val 50000"/>
            </a:avLst>
          </a:prstGeom>
          <a:solidFill>
            <a:srgbClr val="C08A2E"/>
          </a:solidFill>
          <a:ln w="12700">
            <a:miter lim="400000"/>
          </a:ln>
        </p:spPr>
        <p:txBody>
          <a:bodyPr lIns="45719" rIns="45719"/>
          <a:lstStyle/>
          <a:p>
            <a:pPr/>
          </a:p>
        </p:txBody>
      </p:sp>
      <p:sp>
        <p:nvSpPr>
          <p:cNvPr id="150" name="Shape 54"/>
          <p:cNvSpPr/>
          <p:nvPr/>
        </p:nvSpPr>
        <p:spPr>
          <a:xfrm>
            <a:off x="7482205" y="6155054"/>
            <a:ext cx="250191" cy="356236"/>
          </a:xfrm>
          <a:prstGeom prst="roundRect">
            <a:avLst>
              <a:gd name="adj" fmla="val 7614"/>
            </a:avLst>
          </a:prstGeom>
          <a:solidFill>
            <a:srgbClr val="C08A2E"/>
          </a:solidFill>
          <a:ln w="12700">
            <a:miter lim="400000"/>
          </a:ln>
        </p:spPr>
        <p:txBody>
          <a:bodyPr lIns="45719" rIns="45719"/>
          <a:lstStyle/>
          <a:p>
            <a:pPr/>
          </a:p>
        </p:txBody>
      </p:sp>
      <p:sp>
        <p:nvSpPr>
          <p:cNvPr id="151" name="Shape 55"/>
          <p:cNvSpPr/>
          <p:nvPr/>
        </p:nvSpPr>
        <p:spPr>
          <a:xfrm>
            <a:off x="7789544" y="6492240"/>
            <a:ext cx="250191" cy="19051"/>
          </a:xfrm>
          <a:prstGeom prst="roundRect">
            <a:avLst>
              <a:gd name="adj" fmla="val 50000"/>
            </a:avLst>
          </a:prstGeom>
          <a:solidFill>
            <a:srgbClr val="C08A2E"/>
          </a:solidFill>
          <a:ln w="12700">
            <a:miter lim="400000"/>
          </a:ln>
        </p:spPr>
        <p:txBody>
          <a:bodyPr lIns="45719" rIns="45719"/>
          <a:lstStyle/>
          <a:p>
            <a:pPr/>
          </a:p>
        </p:txBody>
      </p:sp>
      <p:sp>
        <p:nvSpPr>
          <p:cNvPr id="152" name="Shape 56"/>
          <p:cNvSpPr/>
          <p:nvPr/>
        </p:nvSpPr>
        <p:spPr>
          <a:xfrm>
            <a:off x="8096884" y="6280784"/>
            <a:ext cx="250191" cy="230506"/>
          </a:xfrm>
          <a:prstGeom prst="roundRect">
            <a:avLst>
              <a:gd name="adj" fmla="val 8264"/>
            </a:avLst>
          </a:prstGeom>
          <a:solidFill>
            <a:srgbClr val="C08A2E"/>
          </a:solidFill>
          <a:ln w="12700">
            <a:miter lim="400000"/>
          </a:ln>
        </p:spPr>
        <p:txBody>
          <a:bodyPr lIns="45719" rIns="45719"/>
          <a:lstStyle/>
          <a:p>
            <a:pPr/>
          </a:p>
        </p:txBody>
      </p:sp>
      <p:sp>
        <p:nvSpPr>
          <p:cNvPr id="153" name="Shape 57"/>
          <p:cNvSpPr/>
          <p:nvPr/>
        </p:nvSpPr>
        <p:spPr>
          <a:xfrm>
            <a:off x="8404225" y="6492240"/>
            <a:ext cx="250191" cy="19051"/>
          </a:xfrm>
          <a:prstGeom prst="roundRect">
            <a:avLst>
              <a:gd name="adj" fmla="val 50000"/>
            </a:avLst>
          </a:prstGeom>
          <a:solidFill>
            <a:srgbClr val="C08A2E"/>
          </a:solidFill>
          <a:ln w="12700">
            <a:miter lim="400000"/>
          </a:ln>
        </p:spPr>
        <p:txBody>
          <a:bodyPr lIns="45719" rIns="45719"/>
          <a:lstStyle/>
          <a:p>
            <a:pPr/>
          </a:p>
        </p:txBody>
      </p:sp>
      <p:sp>
        <p:nvSpPr>
          <p:cNvPr id="154" name="Shape 58"/>
          <p:cNvSpPr/>
          <p:nvPr/>
        </p:nvSpPr>
        <p:spPr>
          <a:xfrm>
            <a:off x="8711565" y="6322695"/>
            <a:ext cx="250191" cy="188596"/>
          </a:xfrm>
          <a:prstGeom prst="roundRect">
            <a:avLst>
              <a:gd name="adj" fmla="val 10101"/>
            </a:avLst>
          </a:prstGeom>
          <a:solidFill>
            <a:srgbClr val="C08A2E"/>
          </a:solidFill>
          <a:ln w="12700">
            <a:miter lim="400000"/>
          </a:ln>
        </p:spPr>
        <p:txBody>
          <a:bodyPr lIns="45719" rIns="45719"/>
          <a:lstStyle/>
          <a:p>
            <a:pPr/>
          </a:p>
        </p:txBody>
      </p:sp>
      <p:sp>
        <p:nvSpPr>
          <p:cNvPr id="155" name="Shape 59"/>
          <p:cNvSpPr/>
          <p:nvPr/>
        </p:nvSpPr>
        <p:spPr>
          <a:xfrm>
            <a:off x="9018905" y="6196965"/>
            <a:ext cx="250191" cy="314326"/>
          </a:xfrm>
          <a:prstGeom prst="roundRect">
            <a:avLst>
              <a:gd name="adj" fmla="val 7614"/>
            </a:avLst>
          </a:prstGeom>
          <a:solidFill>
            <a:srgbClr val="C08A2E"/>
          </a:solidFill>
          <a:ln w="12700">
            <a:miter lim="400000"/>
          </a:ln>
        </p:spPr>
        <p:txBody>
          <a:bodyPr lIns="45719" rIns="45719"/>
          <a:lstStyle/>
          <a:p>
            <a:pPr/>
          </a:p>
        </p:txBody>
      </p:sp>
      <p:sp>
        <p:nvSpPr>
          <p:cNvPr id="156" name="Shape 60"/>
          <p:cNvSpPr/>
          <p:nvPr/>
        </p:nvSpPr>
        <p:spPr>
          <a:xfrm>
            <a:off x="9326244" y="6492240"/>
            <a:ext cx="250191" cy="19051"/>
          </a:xfrm>
          <a:prstGeom prst="roundRect">
            <a:avLst>
              <a:gd name="adj" fmla="val 50000"/>
            </a:avLst>
          </a:prstGeom>
          <a:solidFill>
            <a:srgbClr val="C08A2E"/>
          </a:solidFill>
          <a:ln w="12700">
            <a:miter lim="400000"/>
          </a:ln>
        </p:spPr>
        <p:txBody>
          <a:bodyPr lIns="45719" rIns="45719"/>
          <a:lstStyle/>
          <a:p>
            <a:pPr/>
          </a:p>
        </p:txBody>
      </p:sp>
      <p:sp>
        <p:nvSpPr>
          <p:cNvPr id="157" name="Shape 61"/>
          <p:cNvSpPr/>
          <p:nvPr/>
        </p:nvSpPr>
        <p:spPr>
          <a:xfrm>
            <a:off x="9633584" y="6343650"/>
            <a:ext cx="250191" cy="167640"/>
          </a:xfrm>
          <a:prstGeom prst="roundRect">
            <a:avLst>
              <a:gd name="adj" fmla="val 11364"/>
            </a:avLst>
          </a:prstGeom>
          <a:solidFill>
            <a:srgbClr val="C08A2E"/>
          </a:solidFill>
          <a:ln w="12700">
            <a:miter lim="400000"/>
          </a:ln>
        </p:spPr>
        <p:txBody>
          <a:bodyPr lIns="45719" rIns="45719"/>
          <a:lstStyle/>
          <a:p>
            <a:pPr/>
          </a:p>
        </p:txBody>
      </p:sp>
      <p:sp>
        <p:nvSpPr>
          <p:cNvPr id="158" name="Shape 62"/>
          <p:cNvSpPr/>
          <p:nvPr/>
        </p:nvSpPr>
        <p:spPr>
          <a:xfrm>
            <a:off x="9940925" y="6492240"/>
            <a:ext cx="250191" cy="19051"/>
          </a:xfrm>
          <a:prstGeom prst="roundRect">
            <a:avLst>
              <a:gd name="adj" fmla="val 50000"/>
            </a:avLst>
          </a:prstGeom>
          <a:solidFill>
            <a:srgbClr val="C08A2E"/>
          </a:solidFill>
          <a:ln w="12700">
            <a:miter lim="400000"/>
          </a:ln>
        </p:spPr>
        <p:txBody>
          <a:bodyPr lIns="45719" rIns="45719"/>
          <a:lstStyle/>
          <a:p>
            <a:pPr/>
          </a:p>
        </p:txBody>
      </p:sp>
      <p:sp>
        <p:nvSpPr>
          <p:cNvPr id="159" name="Shape 63"/>
          <p:cNvSpPr/>
          <p:nvPr/>
        </p:nvSpPr>
        <p:spPr>
          <a:xfrm>
            <a:off x="10248265" y="6259829"/>
            <a:ext cx="250191" cy="251461"/>
          </a:xfrm>
          <a:prstGeom prst="roundRect">
            <a:avLst>
              <a:gd name="adj" fmla="val 7614"/>
            </a:avLst>
          </a:prstGeom>
          <a:solidFill>
            <a:srgbClr val="C08A2E"/>
          </a:solidFill>
          <a:ln w="12700">
            <a:miter lim="400000"/>
          </a:ln>
        </p:spPr>
        <p:txBody>
          <a:bodyPr lIns="45719" rIns="45719"/>
          <a:lstStyle/>
          <a:p>
            <a:pPr/>
          </a:p>
        </p:txBody>
      </p:sp>
      <p:sp>
        <p:nvSpPr>
          <p:cNvPr id="160" name="Shape 64"/>
          <p:cNvSpPr/>
          <p:nvPr/>
        </p:nvSpPr>
        <p:spPr>
          <a:xfrm>
            <a:off x="10555605" y="6492240"/>
            <a:ext cx="250191" cy="19051"/>
          </a:xfrm>
          <a:prstGeom prst="roundRect">
            <a:avLst>
              <a:gd name="adj" fmla="val 50000"/>
            </a:avLst>
          </a:prstGeom>
          <a:solidFill>
            <a:srgbClr val="C08A2E"/>
          </a:solidFill>
          <a:ln w="12700">
            <a:miter lim="400000"/>
          </a:ln>
        </p:spPr>
        <p:txBody>
          <a:bodyPr lIns="45719" rIns="45719"/>
          <a:lstStyle/>
          <a:p>
            <a:pPr/>
          </a:p>
        </p:txBody>
      </p:sp>
      <p:sp>
        <p:nvSpPr>
          <p:cNvPr id="161" name="Shape 65"/>
          <p:cNvSpPr/>
          <p:nvPr/>
        </p:nvSpPr>
        <p:spPr>
          <a:xfrm>
            <a:off x="10862944" y="6364604"/>
            <a:ext cx="250191" cy="146686"/>
          </a:xfrm>
          <a:prstGeom prst="roundRect">
            <a:avLst>
              <a:gd name="adj" fmla="val 12987"/>
            </a:avLst>
          </a:prstGeom>
          <a:solidFill>
            <a:srgbClr val="C08A2E"/>
          </a:solidFill>
          <a:ln w="12700">
            <a:miter lim="400000"/>
          </a:ln>
        </p:spPr>
        <p:txBody>
          <a:bodyPr lIns="45719" rIns="45719"/>
          <a:lstStyle/>
          <a:p>
            <a:pPr/>
          </a:p>
        </p:txBody>
      </p:sp>
      <p:sp>
        <p:nvSpPr>
          <p:cNvPr id="162" name="Shape 66"/>
          <p:cNvSpPr/>
          <p:nvPr/>
        </p:nvSpPr>
        <p:spPr>
          <a:xfrm>
            <a:off x="11170285" y="6492240"/>
            <a:ext cx="250191" cy="19051"/>
          </a:xfrm>
          <a:prstGeom prst="roundRect">
            <a:avLst>
              <a:gd name="adj" fmla="val 50000"/>
            </a:avLst>
          </a:prstGeom>
          <a:solidFill>
            <a:srgbClr val="C08A2E"/>
          </a:solidFill>
          <a:ln w="12700">
            <a:miter lim="400000"/>
          </a:ln>
        </p:spPr>
        <p:txBody>
          <a:bodyPr lIns="45719" rIns="45719"/>
          <a:lstStyle/>
          <a:p>
            <a:pPr/>
          </a:p>
        </p:txBody>
      </p:sp>
      <p:sp>
        <p:nvSpPr>
          <p:cNvPr id="163" name="Text 67"/>
          <p:cNvSpPr txBox="1"/>
          <p:nvPr/>
        </p:nvSpPr>
        <p:spPr>
          <a:xfrm>
            <a:off x="6867525" y="6808151"/>
            <a:ext cx="3583867" cy="40005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ct val="131987"/>
              </a:lnSpc>
              <a:defRPr sz="1900">
                <a:solidFill>
                  <a:srgbClr val="11243C"/>
                </a:solidFill>
                <a:latin typeface="Arial"/>
                <a:ea typeface="Arial"/>
                <a:cs typeface="Arial"/>
                <a:sym typeface="Arial"/>
              </a:defRPr>
            </a:lvl1pPr>
          </a:lstStyle>
          <a:p>
            <a:pPr/>
            <a:r>
              <a:t>Pattern-matches. Approves most.</a:t>
            </a:r>
          </a:p>
        </p:txBody>
      </p:sp>
      <p:sp>
        <p:nvSpPr>
          <p:cNvPr id="164" name="Text 68"/>
          <p:cNvSpPr txBox="1"/>
          <p:nvPr/>
        </p:nvSpPr>
        <p:spPr>
          <a:xfrm>
            <a:off x="6867525" y="7209631"/>
            <a:ext cx="4689539" cy="34671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135000"/>
              </a:lnSpc>
              <a:defRPr>
                <a:solidFill>
                  <a:srgbClr val="7A7363"/>
                </a:solidFill>
                <a:latin typeface="Arial"/>
                <a:ea typeface="Arial"/>
                <a:cs typeface="Arial"/>
                <a:sym typeface="Arial"/>
              </a:defRPr>
            </a:lvl1pPr>
          </a:lstStyle>
          <a:p>
            <a:pPr/>
            <a:r>
              <a:t>Threshold rose. Quality didn't.</a:t>
            </a:r>
          </a:p>
        </p:txBody>
      </p:sp>
      <p:sp>
        <p:nvSpPr>
          <p:cNvPr id="165" name="Shape 69"/>
          <p:cNvSpPr/>
          <p:nvPr/>
        </p:nvSpPr>
        <p:spPr>
          <a:xfrm>
            <a:off x="12115800" y="4248149"/>
            <a:ext cx="5029200" cy="3489168"/>
          </a:xfrm>
          <a:prstGeom prst="rect">
            <a:avLst/>
          </a:prstGeom>
          <a:solidFill>
            <a:srgbClr val="FFFCF0"/>
          </a:solidFill>
          <a:ln>
            <a:solidFill>
              <a:srgbClr val="C8C0A8"/>
            </a:solidFill>
          </a:ln>
        </p:spPr>
        <p:txBody>
          <a:bodyPr lIns="45719" rIns="45719"/>
          <a:lstStyle/>
          <a:p>
            <a:pPr/>
          </a:p>
        </p:txBody>
      </p:sp>
      <p:sp>
        <p:nvSpPr>
          <p:cNvPr id="166" name="Shape 70"/>
          <p:cNvSpPr/>
          <p:nvPr/>
        </p:nvSpPr>
        <p:spPr>
          <a:xfrm>
            <a:off x="12125325" y="4257675"/>
            <a:ext cx="5010150" cy="996314"/>
          </a:xfrm>
          <a:prstGeom prst="rect">
            <a:avLst/>
          </a:prstGeom>
          <a:solidFill>
            <a:srgbClr val="B8451E"/>
          </a:solidFill>
          <a:ln w="12700">
            <a:miter lim="400000"/>
          </a:ln>
        </p:spPr>
        <p:txBody>
          <a:bodyPr lIns="45719" rIns="45719"/>
          <a:lstStyle/>
          <a:p>
            <a:pPr/>
          </a:p>
        </p:txBody>
      </p:sp>
      <p:sp>
        <p:nvSpPr>
          <p:cNvPr id="167" name="Text 71"/>
          <p:cNvSpPr txBox="1"/>
          <p:nvPr/>
        </p:nvSpPr>
        <p:spPr>
          <a:xfrm>
            <a:off x="12353924" y="4410074"/>
            <a:ext cx="1268573" cy="358142"/>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140000"/>
              </a:lnSpc>
              <a:defRPr b="1" spc="300">
                <a:solidFill>
                  <a:srgbClr val="FDF6E7">
                    <a:alpha val="85000"/>
                  </a:srgbClr>
                </a:solidFill>
                <a:latin typeface="Arial"/>
                <a:ea typeface="Arial"/>
                <a:cs typeface="Arial"/>
                <a:sym typeface="Arial"/>
              </a:defRPr>
            </a:lvl1pPr>
          </a:lstStyle>
          <a:p>
            <a:pPr/>
            <a:r>
              <a:t>PHASE 3</a:t>
            </a:r>
          </a:p>
        </p:txBody>
      </p:sp>
      <p:sp>
        <p:nvSpPr>
          <p:cNvPr id="168" name="Text 72"/>
          <p:cNvSpPr txBox="1"/>
          <p:nvPr/>
        </p:nvSpPr>
        <p:spPr>
          <a:xfrm>
            <a:off x="12353924" y="4787265"/>
            <a:ext cx="1294608" cy="352426"/>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77823">
              <a:lnSpc>
                <a:spcPct val="110000"/>
              </a:lnSpc>
              <a:defRPr b="1" spc="-96" sz="2112">
                <a:solidFill>
                  <a:srgbClr val="FDF6E7"/>
                </a:solidFill>
                <a:latin typeface="Arial"/>
                <a:ea typeface="Arial"/>
                <a:cs typeface="Arial"/>
                <a:sym typeface="Arial"/>
              </a:defRPr>
            </a:lvl1pPr>
          </a:lstStyle>
          <a:p>
            <a:pPr/>
            <a:r>
              <a:t>Formality</a:t>
            </a:r>
          </a:p>
        </p:txBody>
      </p:sp>
      <p:sp>
        <p:nvSpPr>
          <p:cNvPr id="169" name="Shape 73"/>
          <p:cNvSpPr/>
          <p:nvPr/>
        </p:nvSpPr>
        <p:spPr>
          <a:xfrm>
            <a:off x="12125325" y="5253990"/>
            <a:ext cx="5010150" cy="1400176"/>
          </a:xfrm>
          <a:prstGeom prst="rect">
            <a:avLst/>
          </a:prstGeom>
          <a:solidFill>
            <a:srgbClr val="F1EAD4"/>
          </a:solidFill>
          <a:ln w="12700">
            <a:miter lim="400000"/>
          </a:ln>
        </p:spPr>
        <p:txBody>
          <a:bodyPr lIns="45719" rIns="45719"/>
          <a:lstStyle/>
          <a:p>
            <a:pPr/>
          </a:p>
        </p:txBody>
      </p:sp>
      <p:sp>
        <p:nvSpPr>
          <p:cNvPr id="170" name="Shape 74"/>
          <p:cNvSpPr/>
          <p:nvPr/>
        </p:nvSpPr>
        <p:spPr>
          <a:xfrm>
            <a:off x="12125325" y="6643052"/>
            <a:ext cx="5010150" cy="12701"/>
          </a:xfrm>
          <a:prstGeom prst="rect">
            <a:avLst/>
          </a:prstGeom>
          <a:solidFill>
            <a:srgbClr val="DCD5C0"/>
          </a:solidFill>
          <a:ln w="12700">
            <a:miter lim="400000"/>
          </a:ln>
        </p:spPr>
        <p:txBody>
          <a:bodyPr lIns="45719" rIns="45719"/>
          <a:lstStyle/>
          <a:p>
            <a:pPr/>
          </a:p>
        </p:txBody>
      </p:sp>
      <p:sp>
        <p:nvSpPr>
          <p:cNvPr id="171" name="Shape 75"/>
          <p:cNvSpPr/>
          <p:nvPr/>
        </p:nvSpPr>
        <p:spPr>
          <a:xfrm>
            <a:off x="12353925" y="6492240"/>
            <a:ext cx="250191" cy="19051"/>
          </a:xfrm>
          <a:prstGeom prst="roundRect">
            <a:avLst>
              <a:gd name="adj" fmla="val 50000"/>
            </a:avLst>
          </a:prstGeom>
          <a:solidFill>
            <a:srgbClr val="B8451E"/>
          </a:solidFill>
          <a:ln w="12700">
            <a:miter lim="400000"/>
          </a:ln>
        </p:spPr>
        <p:txBody>
          <a:bodyPr lIns="45719" rIns="45719"/>
          <a:lstStyle/>
          <a:p>
            <a:pPr/>
          </a:p>
        </p:txBody>
      </p:sp>
      <p:sp>
        <p:nvSpPr>
          <p:cNvPr id="172" name="Shape 76"/>
          <p:cNvSpPr/>
          <p:nvPr/>
        </p:nvSpPr>
        <p:spPr>
          <a:xfrm>
            <a:off x="12661264" y="6492240"/>
            <a:ext cx="250191" cy="19051"/>
          </a:xfrm>
          <a:prstGeom prst="roundRect">
            <a:avLst>
              <a:gd name="adj" fmla="val 50000"/>
            </a:avLst>
          </a:prstGeom>
          <a:solidFill>
            <a:srgbClr val="B8451E"/>
          </a:solidFill>
          <a:ln w="12700">
            <a:miter lim="400000"/>
          </a:ln>
        </p:spPr>
        <p:txBody>
          <a:bodyPr lIns="45719" rIns="45719"/>
          <a:lstStyle/>
          <a:p>
            <a:pPr/>
          </a:p>
        </p:txBody>
      </p:sp>
      <p:sp>
        <p:nvSpPr>
          <p:cNvPr id="173" name="Shape 77"/>
          <p:cNvSpPr/>
          <p:nvPr/>
        </p:nvSpPr>
        <p:spPr>
          <a:xfrm>
            <a:off x="12968605" y="6492240"/>
            <a:ext cx="250191" cy="19051"/>
          </a:xfrm>
          <a:prstGeom prst="roundRect">
            <a:avLst>
              <a:gd name="adj" fmla="val 50000"/>
            </a:avLst>
          </a:prstGeom>
          <a:solidFill>
            <a:srgbClr val="B8451E"/>
          </a:solidFill>
          <a:ln w="12700">
            <a:miter lim="400000"/>
          </a:ln>
        </p:spPr>
        <p:txBody>
          <a:bodyPr lIns="45719" rIns="45719"/>
          <a:lstStyle/>
          <a:p>
            <a:pPr/>
          </a:p>
        </p:txBody>
      </p:sp>
      <p:sp>
        <p:nvSpPr>
          <p:cNvPr id="174" name="Shape 78"/>
          <p:cNvSpPr/>
          <p:nvPr/>
        </p:nvSpPr>
        <p:spPr>
          <a:xfrm>
            <a:off x="13275944" y="6469379"/>
            <a:ext cx="250191" cy="41911"/>
          </a:xfrm>
          <a:prstGeom prst="roundRect">
            <a:avLst>
              <a:gd name="adj" fmla="val 45455"/>
            </a:avLst>
          </a:prstGeom>
          <a:solidFill>
            <a:srgbClr val="B8451E"/>
          </a:solidFill>
          <a:ln w="12700">
            <a:miter lim="400000"/>
          </a:ln>
        </p:spPr>
        <p:txBody>
          <a:bodyPr lIns="45719" rIns="45719"/>
          <a:lstStyle/>
          <a:p>
            <a:pPr/>
          </a:p>
        </p:txBody>
      </p:sp>
      <p:sp>
        <p:nvSpPr>
          <p:cNvPr id="175" name="Shape 79"/>
          <p:cNvSpPr/>
          <p:nvPr/>
        </p:nvSpPr>
        <p:spPr>
          <a:xfrm>
            <a:off x="13583285" y="6492240"/>
            <a:ext cx="250191" cy="19051"/>
          </a:xfrm>
          <a:prstGeom prst="roundRect">
            <a:avLst>
              <a:gd name="adj" fmla="val 50000"/>
            </a:avLst>
          </a:prstGeom>
          <a:solidFill>
            <a:srgbClr val="B8451E"/>
          </a:solidFill>
          <a:ln w="12700">
            <a:miter lim="400000"/>
          </a:ln>
        </p:spPr>
        <p:txBody>
          <a:bodyPr lIns="45719" rIns="45719"/>
          <a:lstStyle/>
          <a:p>
            <a:pPr/>
          </a:p>
        </p:txBody>
      </p:sp>
      <p:sp>
        <p:nvSpPr>
          <p:cNvPr id="176" name="Shape 80"/>
          <p:cNvSpPr/>
          <p:nvPr/>
        </p:nvSpPr>
        <p:spPr>
          <a:xfrm>
            <a:off x="13890625" y="6492240"/>
            <a:ext cx="250191" cy="19051"/>
          </a:xfrm>
          <a:prstGeom prst="roundRect">
            <a:avLst>
              <a:gd name="adj" fmla="val 50000"/>
            </a:avLst>
          </a:prstGeom>
          <a:solidFill>
            <a:srgbClr val="B8451E"/>
          </a:solidFill>
          <a:ln w="12700">
            <a:miter lim="400000"/>
          </a:ln>
        </p:spPr>
        <p:txBody>
          <a:bodyPr lIns="45719" rIns="45719"/>
          <a:lstStyle/>
          <a:p>
            <a:pPr/>
          </a:p>
        </p:txBody>
      </p:sp>
      <p:sp>
        <p:nvSpPr>
          <p:cNvPr id="177" name="Shape 81"/>
          <p:cNvSpPr/>
          <p:nvPr/>
        </p:nvSpPr>
        <p:spPr>
          <a:xfrm>
            <a:off x="14197964" y="6492240"/>
            <a:ext cx="250191" cy="19051"/>
          </a:xfrm>
          <a:prstGeom prst="roundRect">
            <a:avLst>
              <a:gd name="adj" fmla="val 50000"/>
            </a:avLst>
          </a:prstGeom>
          <a:solidFill>
            <a:srgbClr val="B8451E"/>
          </a:solidFill>
          <a:ln w="12700">
            <a:miter lim="400000"/>
          </a:ln>
        </p:spPr>
        <p:txBody>
          <a:bodyPr lIns="45719" rIns="45719"/>
          <a:lstStyle/>
          <a:p>
            <a:pPr/>
          </a:p>
        </p:txBody>
      </p:sp>
      <p:sp>
        <p:nvSpPr>
          <p:cNvPr id="178" name="Shape 82"/>
          <p:cNvSpPr/>
          <p:nvPr/>
        </p:nvSpPr>
        <p:spPr>
          <a:xfrm>
            <a:off x="14505305" y="6492240"/>
            <a:ext cx="250191" cy="19051"/>
          </a:xfrm>
          <a:prstGeom prst="roundRect">
            <a:avLst>
              <a:gd name="adj" fmla="val 50000"/>
            </a:avLst>
          </a:prstGeom>
          <a:solidFill>
            <a:srgbClr val="B8451E"/>
          </a:solidFill>
          <a:ln w="12700">
            <a:miter lim="400000"/>
          </a:ln>
        </p:spPr>
        <p:txBody>
          <a:bodyPr lIns="45719" rIns="45719"/>
          <a:lstStyle/>
          <a:p>
            <a:pPr/>
          </a:p>
        </p:txBody>
      </p:sp>
      <p:sp>
        <p:nvSpPr>
          <p:cNvPr id="179" name="Shape 83"/>
          <p:cNvSpPr/>
          <p:nvPr/>
        </p:nvSpPr>
        <p:spPr>
          <a:xfrm>
            <a:off x="14812644" y="6448425"/>
            <a:ext cx="250191" cy="62865"/>
          </a:xfrm>
          <a:prstGeom prst="roundRect">
            <a:avLst>
              <a:gd name="adj" fmla="val 30303"/>
            </a:avLst>
          </a:prstGeom>
          <a:solidFill>
            <a:srgbClr val="B8451E"/>
          </a:solidFill>
          <a:ln w="12700">
            <a:miter lim="400000"/>
          </a:ln>
        </p:spPr>
        <p:txBody>
          <a:bodyPr lIns="45719" rIns="45719"/>
          <a:lstStyle/>
          <a:p>
            <a:pPr/>
          </a:p>
        </p:txBody>
      </p:sp>
      <p:sp>
        <p:nvSpPr>
          <p:cNvPr id="180" name="Shape 84"/>
          <p:cNvSpPr/>
          <p:nvPr/>
        </p:nvSpPr>
        <p:spPr>
          <a:xfrm>
            <a:off x="15119985" y="6492240"/>
            <a:ext cx="250191" cy="19051"/>
          </a:xfrm>
          <a:prstGeom prst="roundRect">
            <a:avLst>
              <a:gd name="adj" fmla="val 50000"/>
            </a:avLst>
          </a:prstGeom>
          <a:solidFill>
            <a:srgbClr val="B8451E"/>
          </a:solidFill>
          <a:ln w="12700">
            <a:miter lim="400000"/>
          </a:ln>
        </p:spPr>
        <p:txBody>
          <a:bodyPr lIns="45719" rIns="45719"/>
          <a:lstStyle/>
          <a:p>
            <a:pPr/>
          </a:p>
        </p:txBody>
      </p:sp>
      <p:sp>
        <p:nvSpPr>
          <p:cNvPr id="181" name="Shape 85"/>
          <p:cNvSpPr/>
          <p:nvPr/>
        </p:nvSpPr>
        <p:spPr>
          <a:xfrm>
            <a:off x="15427325" y="6492240"/>
            <a:ext cx="250191" cy="19051"/>
          </a:xfrm>
          <a:prstGeom prst="roundRect">
            <a:avLst>
              <a:gd name="adj" fmla="val 50000"/>
            </a:avLst>
          </a:prstGeom>
          <a:solidFill>
            <a:srgbClr val="B8451E"/>
          </a:solidFill>
          <a:ln w="12700">
            <a:miter lim="400000"/>
          </a:ln>
        </p:spPr>
        <p:txBody>
          <a:bodyPr lIns="45719" rIns="45719"/>
          <a:lstStyle/>
          <a:p>
            <a:pPr/>
          </a:p>
        </p:txBody>
      </p:sp>
      <p:sp>
        <p:nvSpPr>
          <p:cNvPr id="182" name="Shape 86"/>
          <p:cNvSpPr/>
          <p:nvPr/>
        </p:nvSpPr>
        <p:spPr>
          <a:xfrm>
            <a:off x="15734664" y="6492240"/>
            <a:ext cx="250191" cy="19051"/>
          </a:xfrm>
          <a:prstGeom prst="roundRect">
            <a:avLst>
              <a:gd name="adj" fmla="val 50000"/>
            </a:avLst>
          </a:prstGeom>
          <a:solidFill>
            <a:srgbClr val="B8451E"/>
          </a:solidFill>
          <a:ln w="12700">
            <a:miter lim="400000"/>
          </a:ln>
        </p:spPr>
        <p:txBody>
          <a:bodyPr lIns="45719" rIns="45719"/>
          <a:lstStyle/>
          <a:p>
            <a:pPr/>
          </a:p>
        </p:txBody>
      </p:sp>
      <p:sp>
        <p:nvSpPr>
          <p:cNvPr id="183" name="Shape 87"/>
          <p:cNvSpPr/>
          <p:nvPr/>
        </p:nvSpPr>
        <p:spPr>
          <a:xfrm>
            <a:off x="16042005" y="6492240"/>
            <a:ext cx="250191" cy="19051"/>
          </a:xfrm>
          <a:prstGeom prst="roundRect">
            <a:avLst>
              <a:gd name="adj" fmla="val 50000"/>
            </a:avLst>
          </a:prstGeom>
          <a:solidFill>
            <a:srgbClr val="B8451E"/>
          </a:solidFill>
          <a:ln w="12700">
            <a:miter lim="400000"/>
          </a:ln>
        </p:spPr>
        <p:txBody>
          <a:bodyPr lIns="45719" rIns="45719"/>
          <a:lstStyle/>
          <a:p>
            <a:pPr/>
          </a:p>
        </p:txBody>
      </p:sp>
      <p:sp>
        <p:nvSpPr>
          <p:cNvPr id="184" name="Shape 88"/>
          <p:cNvSpPr/>
          <p:nvPr/>
        </p:nvSpPr>
        <p:spPr>
          <a:xfrm>
            <a:off x="16349344" y="6492240"/>
            <a:ext cx="250191" cy="19051"/>
          </a:xfrm>
          <a:prstGeom prst="roundRect">
            <a:avLst>
              <a:gd name="adj" fmla="val 50000"/>
            </a:avLst>
          </a:prstGeom>
          <a:solidFill>
            <a:srgbClr val="B8451E"/>
          </a:solidFill>
          <a:ln w="12700">
            <a:miter lim="400000"/>
          </a:ln>
        </p:spPr>
        <p:txBody>
          <a:bodyPr lIns="45719" rIns="45719"/>
          <a:lstStyle/>
          <a:p>
            <a:pPr/>
          </a:p>
        </p:txBody>
      </p:sp>
      <p:sp>
        <p:nvSpPr>
          <p:cNvPr id="185" name="Shape 89"/>
          <p:cNvSpPr/>
          <p:nvPr/>
        </p:nvSpPr>
        <p:spPr>
          <a:xfrm>
            <a:off x="16656685" y="6492240"/>
            <a:ext cx="250191" cy="19051"/>
          </a:xfrm>
          <a:prstGeom prst="roundRect">
            <a:avLst>
              <a:gd name="adj" fmla="val 50000"/>
            </a:avLst>
          </a:prstGeom>
          <a:solidFill>
            <a:srgbClr val="B8451E"/>
          </a:solidFill>
          <a:ln w="12700">
            <a:miter lim="400000"/>
          </a:ln>
        </p:spPr>
        <p:txBody>
          <a:bodyPr lIns="45719" rIns="45719"/>
          <a:lstStyle/>
          <a:p>
            <a:pPr/>
          </a:p>
        </p:txBody>
      </p:sp>
      <p:sp>
        <p:nvSpPr>
          <p:cNvPr id="186" name="Text 90"/>
          <p:cNvSpPr txBox="1"/>
          <p:nvPr/>
        </p:nvSpPr>
        <p:spPr>
          <a:xfrm>
            <a:off x="12353924" y="6808151"/>
            <a:ext cx="3740841" cy="40005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defTabSz="905255">
              <a:lnSpc>
                <a:spcPct val="131987"/>
              </a:lnSpc>
              <a:defRPr sz="1881">
                <a:solidFill>
                  <a:srgbClr val="11243C"/>
                </a:solidFill>
                <a:latin typeface="Arial"/>
                <a:ea typeface="Arial"/>
                <a:cs typeface="Arial"/>
                <a:sym typeface="Arial"/>
              </a:defRPr>
            </a:lvl1pPr>
          </a:lstStyle>
          <a:p>
            <a:pPr/>
            <a:r>
              <a:t>Approves all. No correction events.</a:t>
            </a:r>
          </a:p>
        </p:txBody>
      </p:sp>
      <p:sp>
        <p:nvSpPr>
          <p:cNvPr id="187" name="Text 91"/>
          <p:cNvSpPr txBox="1"/>
          <p:nvPr/>
        </p:nvSpPr>
        <p:spPr>
          <a:xfrm>
            <a:off x="12353925" y="7209631"/>
            <a:ext cx="4689539" cy="34671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135000"/>
              </a:lnSpc>
              <a:defRPr>
                <a:solidFill>
                  <a:srgbClr val="7A7363"/>
                </a:solidFill>
                <a:latin typeface="Arial"/>
                <a:ea typeface="Arial"/>
                <a:cs typeface="Arial"/>
                <a:sym typeface="Arial"/>
              </a:defRPr>
            </a:lvl1pPr>
          </a:lstStyle>
          <a:p>
            <a:pPr/>
            <a:r>
              <a:t>Controller, now confirmer.</a:t>
            </a:r>
          </a:p>
        </p:txBody>
      </p:sp>
      <p:sp>
        <p:nvSpPr>
          <p:cNvPr id="188" name="Shape 92"/>
          <p:cNvSpPr/>
          <p:nvPr/>
        </p:nvSpPr>
        <p:spPr>
          <a:xfrm>
            <a:off x="1143000" y="8002428"/>
            <a:ext cx="16002000" cy="12701"/>
          </a:xfrm>
          <a:prstGeom prst="rect">
            <a:avLst/>
          </a:prstGeom>
          <a:solidFill>
            <a:srgbClr val="C8C0A8"/>
          </a:solidFill>
          <a:ln w="12700">
            <a:miter lim="400000"/>
          </a:ln>
        </p:spPr>
        <p:txBody>
          <a:bodyPr lIns="45719" rIns="45719"/>
          <a:lstStyle/>
          <a:p>
            <a:pPr/>
          </a:p>
        </p:txBody>
      </p:sp>
      <p:sp>
        <p:nvSpPr>
          <p:cNvPr id="189" name="Text 93"/>
          <p:cNvSpPr txBox="1"/>
          <p:nvPr/>
        </p:nvSpPr>
        <p:spPr>
          <a:xfrm>
            <a:off x="902970" y="8242141"/>
            <a:ext cx="16482061" cy="43434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gn="ctr">
              <a:lnSpc>
                <a:spcPct val="130000"/>
              </a:lnSpc>
              <a:defRPr b="1" sz="2400">
                <a:solidFill>
                  <a:srgbClr val="B8451E"/>
                </a:solidFill>
                <a:latin typeface="Arial"/>
                <a:ea typeface="Arial"/>
                <a:cs typeface="Arial"/>
                <a:sym typeface="Arial"/>
              </a:defRPr>
            </a:lvl1pPr>
          </a:lstStyle>
          <a:p>
            <a:pPr/>
            <a:r>
              <a:t>Same status. Same approval count. Same record.</a:t>
            </a:r>
          </a:p>
        </p:txBody>
      </p:sp>
      <p:sp>
        <p:nvSpPr>
          <p:cNvPr id="190" name="Text 94"/>
          <p:cNvSpPr txBox="1"/>
          <p:nvPr/>
        </p:nvSpPr>
        <p:spPr>
          <a:xfrm>
            <a:off x="902970" y="8943181"/>
            <a:ext cx="16482061" cy="372428"/>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gn="ctr">
              <a:lnSpc>
                <a:spcPct val="135000"/>
              </a:lnSpc>
              <a:defRPr i="1" sz="1900">
                <a:solidFill>
                  <a:srgbClr val="1D6657"/>
                </a:solidFill>
                <a:latin typeface="Arial"/>
                <a:ea typeface="Arial"/>
                <a:cs typeface="Arial"/>
                <a:sym typeface="Arial"/>
              </a:defRPr>
            </a:lvl1pPr>
          </a:lstStyle>
          <a:p>
            <a:pPr/>
            <a:r>
              <a:t>The audit log does not capture the signal the behavioral channel is losing.</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AF5E7"/>
        </a:solidFill>
      </p:bgPr>
    </p:bg>
    <p:spTree>
      <p:nvGrpSpPr>
        <p:cNvPr id="1" name=""/>
        <p:cNvGrpSpPr/>
        <p:nvPr/>
      </p:nvGrpSpPr>
      <p:grpSpPr>
        <a:xfrm>
          <a:off x="0" y="0"/>
          <a:ext cx="0" cy="0"/>
          <a:chOff x="0" y="0"/>
          <a:chExt cx="0" cy="0"/>
        </a:xfrm>
      </p:grpSpPr>
      <p:sp>
        <p:nvSpPr>
          <p:cNvPr id="194" name="Shape 0"/>
          <p:cNvSpPr/>
          <p:nvPr/>
        </p:nvSpPr>
        <p:spPr>
          <a:xfrm>
            <a:off x="0" y="0"/>
            <a:ext cx="18288000" cy="819150"/>
          </a:xfrm>
          <a:prstGeom prst="rect">
            <a:avLst/>
          </a:prstGeom>
          <a:solidFill>
            <a:srgbClr val="0D2340"/>
          </a:solidFill>
          <a:ln w="12700">
            <a:miter lim="400000"/>
          </a:ln>
        </p:spPr>
        <p:txBody>
          <a:bodyPr lIns="45719" rIns="45719"/>
          <a:lstStyle/>
          <a:p>
            <a:pPr/>
          </a:p>
        </p:txBody>
      </p:sp>
      <p:sp>
        <p:nvSpPr>
          <p:cNvPr id="195" name="Text 1"/>
          <p:cNvSpPr txBox="1"/>
          <p:nvPr/>
        </p:nvSpPr>
        <p:spPr>
          <a:xfrm>
            <a:off x="14514036" y="240982"/>
            <a:ext cx="417195" cy="38481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140000"/>
              </a:lnSpc>
              <a:defRPr b="1" spc="300" sz="1900">
                <a:solidFill>
                  <a:srgbClr val="ECC833"/>
                </a:solidFill>
                <a:latin typeface="Arial"/>
                <a:ea typeface="Arial"/>
                <a:cs typeface="Arial"/>
                <a:sym typeface="Arial"/>
              </a:defRPr>
            </a:lvl1pPr>
          </a:lstStyle>
          <a:p>
            <a:pPr/>
            <a:r>
              <a:t>02</a:t>
            </a:r>
          </a:p>
        </p:txBody>
      </p:sp>
      <p:sp>
        <p:nvSpPr>
          <p:cNvPr id="196" name="Text 2"/>
          <p:cNvSpPr txBox="1"/>
          <p:nvPr/>
        </p:nvSpPr>
        <p:spPr>
          <a:xfrm>
            <a:off x="14988381" y="231457"/>
            <a:ext cx="184627" cy="38481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140000"/>
              </a:lnSpc>
              <a:defRPr spc="300" sz="1900">
                <a:solidFill>
                  <a:srgbClr val="FFFDF2">
                    <a:alpha val="40000"/>
                  </a:srgbClr>
                </a:solidFill>
                <a:latin typeface="Arial"/>
                <a:ea typeface="Arial"/>
                <a:cs typeface="Arial"/>
                <a:sym typeface="Arial"/>
              </a:defRPr>
            </a:lvl1pPr>
          </a:lstStyle>
          <a:p>
            <a:pPr/>
            <a:r>
              <a:t>/</a:t>
            </a:r>
          </a:p>
        </p:txBody>
      </p:sp>
      <p:sp>
        <p:nvSpPr>
          <p:cNvPr id="197" name="Text 3"/>
          <p:cNvSpPr txBox="1"/>
          <p:nvPr/>
        </p:nvSpPr>
        <p:spPr>
          <a:xfrm>
            <a:off x="15230158" y="233361"/>
            <a:ext cx="1991044" cy="40005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defTabSz="886968">
              <a:lnSpc>
                <a:spcPct val="140000"/>
              </a:lnSpc>
              <a:defRPr b="1" spc="291" sz="1843">
                <a:solidFill>
                  <a:srgbClr val="FFFDF2">
                    <a:alpha val="92000"/>
                  </a:srgbClr>
                </a:solidFill>
                <a:latin typeface="Arial"/>
                <a:ea typeface="Arial"/>
                <a:cs typeface="Arial"/>
                <a:sym typeface="Arial"/>
              </a:defRPr>
            </a:lvl1pPr>
          </a:lstStyle>
          <a:p>
            <a:pPr/>
            <a:r>
              <a:t>THE PATTERN</a:t>
            </a:r>
          </a:p>
        </p:txBody>
      </p:sp>
      <p:sp>
        <p:nvSpPr>
          <p:cNvPr id="198" name="Text 4"/>
          <p:cNvSpPr txBox="1"/>
          <p:nvPr/>
        </p:nvSpPr>
        <p:spPr>
          <a:xfrm>
            <a:off x="1143000" y="1200149"/>
            <a:ext cx="16482061" cy="830582"/>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104000"/>
              </a:lnSpc>
              <a:defRPr b="1" spc="-90" sz="5400">
                <a:solidFill>
                  <a:srgbClr val="11243C"/>
                </a:solidFill>
                <a:latin typeface="Arial"/>
                <a:ea typeface="Arial"/>
                <a:cs typeface="Arial"/>
                <a:sym typeface="Arial"/>
              </a:defRPr>
            </a:lvl1pPr>
          </a:lstStyle>
          <a:p>
            <a:pPr/>
            <a:r>
              <a:t>Model-centric vs. oversight-centric transparency.</a:t>
            </a:r>
          </a:p>
        </p:txBody>
      </p:sp>
      <p:sp>
        <p:nvSpPr>
          <p:cNvPr id="199" name="Shape 5"/>
          <p:cNvSpPr/>
          <p:nvPr/>
        </p:nvSpPr>
        <p:spPr>
          <a:xfrm>
            <a:off x="1143000" y="3613784"/>
            <a:ext cx="3200400" cy="19051"/>
          </a:xfrm>
          <a:prstGeom prst="rect">
            <a:avLst/>
          </a:prstGeom>
          <a:solidFill>
            <a:srgbClr val="0D2340"/>
          </a:solidFill>
          <a:ln w="12700">
            <a:miter lim="400000"/>
          </a:ln>
        </p:spPr>
        <p:txBody>
          <a:bodyPr lIns="45719" rIns="45719"/>
          <a:lstStyle/>
          <a:p>
            <a:pPr/>
          </a:p>
        </p:txBody>
      </p:sp>
      <p:sp>
        <p:nvSpPr>
          <p:cNvPr id="200" name="Shape 6"/>
          <p:cNvSpPr/>
          <p:nvPr/>
        </p:nvSpPr>
        <p:spPr>
          <a:xfrm>
            <a:off x="4343399" y="3613784"/>
            <a:ext cx="5830890" cy="19051"/>
          </a:xfrm>
          <a:prstGeom prst="rect">
            <a:avLst/>
          </a:prstGeom>
          <a:solidFill>
            <a:srgbClr val="0D2340"/>
          </a:solidFill>
          <a:ln w="12700">
            <a:miter lim="400000"/>
          </a:ln>
        </p:spPr>
        <p:txBody>
          <a:bodyPr lIns="45719" rIns="45719"/>
          <a:lstStyle/>
          <a:p>
            <a:pPr/>
          </a:p>
        </p:txBody>
      </p:sp>
      <p:sp>
        <p:nvSpPr>
          <p:cNvPr id="201" name="Text 7"/>
          <p:cNvSpPr txBox="1"/>
          <p:nvPr/>
        </p:nvSpPr>
        <p:spPr>
          <a:xfrm>
            <a:off x="4610100" y="2602229"/>
            <a:ext cx="5456412" cy="35814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140000"/>
              </a:lnSpc>
              <a:defRPr b="1" spc="300">
                <a:solidFill>
                  <a:srgbClr val="7A7363"/>
                </a:solidFill>
                <a:latin typeface="Arial"/>
                <a:ea typeface="Arial"/>
                <a:cs typeface="Arial"/>
                <a:sym typeface="Arial"/>
              </a:defRPr>
            </a:lvl1pPr>
          </a:lstStyle>
          <a:p>
            <a:pPr/>
            <a:r>
              <a:t>TODAY</a:t>
            </a:r>
          </a:p>
        </p:txBody>
      </p:sp>
      <p:sp>
        <p:nvSpPr>
          <p:cNvPr id="202" name="Text 8"/>
          <p:cNvSpPr txBox="1"/>
          <p:nvPr/>
        </p:nvSpPr>
        <p:spPr>
          <a:xfrm>
            <a:off x="4610100" y="2991803"/>
            <a:ext cx="1972786" cy="504826"/>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ct val="140000"/>
              </a:lnSpc>
              <a:defRPr b="1" spc="-100" sz="2500">
                <a:solidFill>
                  <a:srgbClr val="11243C"/>
                </a:solidFill>
                <a:latin typeface="Arial"/>
                <a:ea typeface="Arial"/>
                <a:cs typeface="Arial"/>
                <a:sym typeface="Arial"/>
              </a:defRPr>
            </a:lvl1pPr>
          </a:lstStyle>
          <a:p>
            <a:pPr/>
            <a:r>
              <a:t>Model-centric</a:t>
            </a:r>
          </a:p>
        </p:txBody>
      </p:sp>
      <p:sp>
        <p:nvSpPr>
          <p:cNvPr id="203" name="Shape 9"/>
          <p:cNvSpPr/>
          <p:nvPr/>
        </p:nvSpPr>
        <p:spPr>
          <a:xfrm>
            <a:off x="10174286" y="3613784"/>
            <a:ext cx="6970712" cy="19051"/>
          </a:xfrm>
          <a:prstGeom prst="rect">
            <a:avLst/>
          </a:prstGeom>
          <a:solidFill>
            <a:srgbClr val="0D2340"/>
          </a:solidFill>
          <a:ln w="12700">
            <a:miter lim="400000"/>
          </a:ln>
        </p:spPr>
        <p:txBody>
          <a:bodyPr lIns="45719" rIns="45719"/>
          <a:lstStyle/>
          <a:p>
            <a:pPr/>
          </a:p>
        </p:txBody>
      </p:sp>
      <p:sp>
        <p:nvSpPr>
          <p:cNvPr id="204" name="Text 10"/>
          <p:cNvSpPr txBox="1"/>
          <p:nvPr/>
        </p:nvSpPr>
        <p:spPr>
          <a:xfrm>
            <a:off x="10440986" y="2602229"/>
            <a:ext cx="6630432" cy="35814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140000"/>
              </a:lnSpc>
              <a:defRPr b="1" spc="300">
                <a:solidFill>
                  <a:srgbClr val="1D6657"/>
                </a:solidFill>
                <a:latin typeface="Arial"/>
                <a:ea typeface="Arial"/>
                <a:cs typeface="Arial"/>
                <a:sym typeface="Arial"/>
              </a:defRPr>
            </a:lvl1pPr>
          </a:lstStyle>
          <a:p>
            <a:pPr/>
            <a:r>
              <a:t>PROPOSED</a:t>
            </a:r>
          </a:p>
        </p:txBody>
      </p:sp>
      <p:sp>
        <p:nvSpPr>
          <p:cNvPr id="205" name="Text 11"/>
          <p:cNvSpPr txBox="1"/>
          <p:nvPr/>
        </p:nvSpPr>
        <p:spPr>
          <a:xfrm>
            <a:off x="10440986" y="2991803"/>
            <a:ext cx="2452689" cy="504826"/>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ct val="140000"/>
              </a:lnSpc>
              <a:defRPr b="1" spc="-100" sz="2500">
                <a:solidFill>
                  <a:srgbClr val="1D6657"/>
                </a:solidFill>
                <a:latin typeface="Arial"/>
                <a:ea typeface="Arial"/>
                <a:cs typeface="Arial"/>
                <a:sym typeface="Arial"/>
              </a:defRPr>
            </a:lvl1pPr>
          </a:lstStyle>
          <a:p>
            <a:pPr/>
            <a:r>
              <a:t>Oversight-centric</a:t>
            </a:r>
          </a:p>
        </p:txBody>
      </p:sp>
      <p:sp>
        <p:nvSpPr>
          <p:cNvPr id="206" name="Shape 12"/>
          <p:cNvSpPr/>
          <p:nvPr/>
        </p:nvSpPr>
        <p:spPr>
          <a:xfrm>
            <a:off x="1143000" y="4695190"/>
            <a:ext cx="3200400" cy="12701"/>
          </a:xfrm>
          <a:prstGeom prst="rect">
            <a:avLst/>
          </a:prstGeom>
          <a:solidFill>
            <a:srgbClr val="C8C0A8"/>
          </a:solidFill>
          <a:ln w="12700">
            <a:miter lim="400000"/>
          </a:ln>
        </p:spPr>
        <p:txBody>
          <a:bodyPr lIns="45719" rIns="45719"/>
          <a:lstStyle/>
          <a:p>
            <a:pPr/>
          </a:p>
        </p:txBody>
      </p:sp>
      <p:sp>
        <p:nvSpPr>
          <p:cNvPr id="207" name="Text 13"/>
          <p:cNvSpPr txBox="1"/>
          <p:nvPr/>
        </p:nvSpPr>
        <p:spPr>
          <a:xfrm>
            <a:off x="1409700" y="3842384"/>
            <a:ext cx="2763012" cy="682944"/>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140000"/>
              </a:lnSpc>
              <a:defRPr b="1" spc="200">
                <a:solidFill>
                  <a:srgbClr val="7A7363"/>
                </a:solidFill>
                <a:latin typeface="Arial"/>
                <a:ea typeface="Arial"/>
                <a:cs typeface="Arial"/>
                <a:sym typeface="Arial"/>
              </a:defRPr>
            </a:lvl1pPr>
          </a:lstStyle>
          <a:p>
            <a:pPr/>
            <a:r>
              <a:t>OBJECT INSTRUMENTED</a:t>
            </a:r>
          </a:p>
        </p:txBody>
      </p:sp>
      <p:sp>
        <p:nvSpPr>
          <p:cNvPr id="208" name="Shape 14"/>
          <p:cNvSpPr/>
          <p:nvPr/>
        </p:nvSpPr>
        <p:spPr>
          <a:xfrm>
            <a:off x="4343399" y="4695190"/>
            <a:ext cx="5830890" cy="12701"/>
          </a:xfrm>
          <a:prstGeom prst="rect">
            <a:avLst/>
          </a:prstGeom>
          <a:solidFill>
            <a:srgbClr val="C8C0A8"/>
          </a:solidFill>
          <a:ln w="12700">
            <a:miter lim="400000"/>
          </a:ln>
        </p:spPr>
        <p:txBody>
          <a:bodyPr lIns="45719" rIns="45719"/>
          <a:lstStyle/>
          <a:p>
            <a:pPr/>
          </a:p>
        </p:txBody>
      </p:sp>
      <p:sp>
        <p:nvSpPr>
          <p:cNvPr id="209" name="Text 15"/>
          <p:cNvSpPr txBox="1"/>
          <p:nvPr/>
        </p:nvSpPr>
        <p:spPr>
          <a:xfrm>
            <a:off x="4610099" y="3842384"/>
            <a:ext cx="5472416" cy="682944"/>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135000"/>
              </a:lnSpc>
              <a:defRPr sz="2100">
                <a:solidFill>
                  <a:srgbClr val="3D4659"/>
                </a:solidFill>
                <a:latin typeface="Arial"/>
                <a:ea typeface="Arial"/>
                <a:cs typeface="Arial"/>
                <a:sym typeface="Arial"/>
              </a:defRPr>
            </a:lvl1pPr>
          </a:lstStyle>
          <a:p>
            <a:pPr/>
            <a:r>
              <a:t>Model reasoning, outputs, behavior</a:t>
            </a:r>
          </a:p>
        </p:txBody>
      </p:sp>
      <p:sp>
        <p:nvSpPr>
          <p:cNvPr id="210" name="Shape 16"/>
          <p:cNvSpPr/>
          <p:nvPr/>
        </p:nvSpPr>
        <p:spPr>
          <a:xfrm>
            <a:off x="10174286" y="3632834"/>
            <a:ext cx="6970712" cy="1073469"/>
          </a:xfrm>
          <a:prstGeom prst="rect">
            <a:avLst/>
          </a:prstGeom>
          <a:solidFill>
            <a:srgbClr val="1D6657">
              <a:alpha val="7000"/>
            </a:srgbClr>
          </a:solidFill>
          <a:ln w="12700">
            <a:miter lim="400000"/>
          </a:ln>
        </p:spPr>
        <p:txBody>
          <a:bodyPr lIns="45719" rIns="45719"/>
          <a:lstStyle/>
          <a:p>
            <a:pPr/>
          </a:p>
        </p:txBody>
      </p:sp>
      <p:sp>
        <p:nvSpPr>
          <p:cNvPr id="211" name="Shape 17"/>
          <p:cNvSpPr/>
          <p:nvPr/>
        </p:nvSpPr>
        <p:spPr>
          <a:xfrm>
            <a:off x="10174286" y="4695190"/>
            <a:ext cx="6970712" cy="12701"/>
          </a:xfrm>
          <a:prstGeom prst="rect">
            <a:avLst/>
          </a:prstGeom>
          <a:solidFill>
            <a:srgbClr val="C8C0A8"/>
          </a:solidFill>
          <a:ln w="12700">
            <a:miter lim="400000"/>
          </a:ln>
        </p:spPr>
        <p:txBody>
          <a:bodyPr lIns="45719" rIns="45719"/>
          <a:lstStyle/>
          <a:p>
            <a:pPr/>
          </a:p>
        </p:txBody>
      </p:sp>
      <p:sp>
        <p:nvSpPr>
          <p:cNvPr id="212" name="Shape 18"/>
          <p:cNvSpPr/>
          <p:nvPr/>
        </p:nvSpPr>
        <p:spPr>
          <a:xfrm>
            <a:off x="10174286" y="3632834"/>
            <a:ext cx="28576" cy="1073469"/>
          </a:xfrm>
          <a:prstGeom prst="rect">
            <a:avLst/>
          </a:prstGeom>
          <a:solidFill>
            <a:srgbClr val="1D6657"/>
          </a:solidFill>
          <a:ln w="12700">
            <a:miter lim="400000"/>
          </a:ln>
        </p:spPr>
        <p:txBody>
          <a:bodyPr lIns="45719" rIns="45719"/>
          <a:lstStyle/>
          <a:p>
            <a:pPr/>
          </a:p>
        </p:txBody>
      </p:sp>
      <p:sp>
        <p:nvSpPr>
          <p:cNvPr id="213" name="Text 19"/>
          <p:cNvSpPr txBox="1"/>
          <p:nvPr/>
        </p:nvSpPr>
        <p:spPr>
          <a:xfrm>
            <a:off x="10469561" y="3842384"/>
            <a:ext cx="6617860" cy="682944"/>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135000"/>
              </a:lnSpc>
              <a:defRPr sz="2100">
                <a:solidFill>
                  <a:srgbClr val="11243C"/>
                </a:solidFill>
                <a:latin typeface="Arial"/>
                <a:ea typeface="Arial"/>
                <a:cs typeface="Arial"/>
                <a:sym typeface="Arial"/>
              </a:defRPr>
            </a:lvl1pPr>
          </a:lstStyle>
          <a:p>
            <a:pPr/>
            <a:r>
              <a:t>Functional state of the oversight mechanism</a:t>
            </a:r>
          </a:p>
        </p:txBody>
      </p:sp>
      <p:sp>
        <p:nvSpPr>
          <p:cNvPr id="214" name="Shape 20"/>
          <p:cNvSpPr/>
          <p:nvPr/>
        </p:nvSpPr>
        <p:spPr>
          <a:xfrm>
            <a:off x="1143000" y="5843904"/>
            <a:ext cx="3200400" cy="12701"/>
          </a:xfrm>
          <a:prstGeom prst="rect">
            <a:avLst/>
          </a:prstGeom>
          <a:solidFill>
            <a:srgbClr val="C8C0A8"/>
          </a:solidFill>
          <a:ln w="12700">
            <a:miter lim="400000"/>
          </a:ln>
        </p:spPr>
        <p:txBody>
          <a:bodyPr lIns="45719" rIns="45719"/>
          <a:lstStyle/>
          <a:p>
            <a:pPr/>
          </a:p>
        </p:txBody>
      </p:sp>
      <p:sp>
        <p:nvSpPr>
          <p:cNvPr id="215" name="Text 21"/>
          <p:cNvSpPr txBox="1"/>
          <p:nvPr/>
        </p:nvSpPr>
        <p:spPr>
          <a:xfrm>
            <a:off x="1409700" y="4915853"/>
            <a:ext cx="2763012" cy="75819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140000"/>
              </a:lnSpc>
              <a:defRPr b="1" spc="200">
                <a:solidFill>
                  <a:srgbClr val="7A7363"/>
                </a:solidFill>
                <a:latin typeface="Arial"/>
                <a:ea typeface="Arial"/>
                <a:cs typeface="Arial"/>
                <a:sym typeface="Arial"/>
              </a:defRPr>
            </a:lvl1pPr>
          </a:lstStyle>
          <a:p>
            <a:pPr/>
            <a:r>
              <a:t>EVIDENCE PRODUCED</a:t>
            </a:r>
          </a:p>
        </p:txBody>
      </p:sp>
      <p:sp>
        <p:nvSpPr>
          <p:cNvPr id="216" name="Shape 22"/>
          <p:cNvSpPr/>
          <p:nvPr/>
        </p:nvSpPr>
        <p:spPr>
          <a:xfrm>
            <a:off x="4343399" y="5843904"/>
            <a:ext cx="5830890" cy="12701"/>
          </a:xfrm>
          <a:prstGeom prst="rect">
            <a:avLst/>
          </a:prstGeom>
          <a:solidFill>
            <a:srgbClr val="C8C0A8"/>
          </a:solidFill>
          <a:ln w="12700">
            <a:miter lim="400000"/>
          </a:ln>
        </p:spPr>
        <p:txBody>
          <a:bodyPr lIns="45719" rIns="45719"/>
          <a:lstStyle/>
          <a:p>
            <a:pPr/>
          </a:p>
        </p:txBody>
      </p:sp>
      <p:sp>
        <p:nvSpPr>
          <p:cNvPr id="217" name="Text 23"/>
          <p:cNvSpPr txBox="1"/>
          <p:nvPr/>
        </p:nvSpPr>
        <p:spPr>
          <a:xfrm>
            <a:off x="4610099" y="4915853"/>
            <a:ext cx="5472416" cy="75819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135000"/>
              </a:lnSpc>
              <a:defRPr sz="2100">
                <a:solidFill>
                  <a:srgbClr val="3D4659"/>
                </a:solidFill>
                <a:latin typeface="Arial"/>
                <a:ea typeface="Arial"/>
                <a:cs typeface="Arial"/>
                <a:sym typeface="Arial"/>
              </a:defRPr>
            </a:lvl1pPr>
          </a:lstStyle>
          <a:p>
            <a:pPr/>
            <a:r>
              <a:t>Interpretability maps, audit logs, governance artifacts</a:t>
            </a:r>
          </a:p>
        </p:txBody>
      </p:sp>
      <p:sp>
        <p:nvSpPr>
          <p:cNvPr id="218" name="Shape 24"/>
          <p:cNvSpPr/>
          <p:nvPr/>
        </p:nvSpPr>
        <p:spPr>
          <a:xfrm>
            <a:off x="10174286" y="4706303"/>
            <a:ext cx="6970712" cy="1148715"/>
          </a:xfrm>
          <a:prstGeom prst="rect">
            <a:avLst/>
          </a:prstGeom>
          <a:solidFill>
            <a:srgbClr val="1D6657">
              <a:alpha val="7000"/>
            </a:srgbClr>
          </a:solidFill>
          <a:ln w="12700">
            <a:miter lim="400000"/>
          </a:ln>
        </p:spPr>
        <p:txBody>
          <a:bodyPr lIns="45719" rIns="45719"/>
          <a:lstStyle/>
          <a:p>
            <a:pPr/>
          </a:p>
        </p:txBody>
      </p:sp>
      <p:sp>
        <p:nvSpPr>
          <p:cNvPr id="219" name="Shape 25"/>
          <p:cNvSpPr/>
          <p:nvPr/>
        </p:nvSpPr>
        <p:spPr>
          <a:xfrm>
            <a:off x="10174286" y="5843904"/>
            <a:ext cx="6970712" cy="12701"/>
          </a:xfrm>
          <a:prstGeom prst="rect">
            <a:avLst/>
          </a:prstGeom>
          <a:solidFill>
            <a:srgbClr val="C8C0A8"/>
          </a:solidFill>
          <a:ln w="12700">
            <a:miter lim="400000"/>
          </a:ln>
        </p:spPr>
        <p:txBody>
          <a:bodyPr lIns="45719" rIns="45719"/>
          <a:lstStyle/>
          <a:p>
            <a:pPr/>
          </a:p>
        </p:txBody>
      </p:sp>
      <p:sp>
        <p:nvSpPr>
          <p:cNvPr id="220" name="Shape 26"/>
          <p:cNvSpPr/>
          <p:nvPr/>
        </p:nvSpPr>
        <p:spPr>
          <a:xfrm>
            <a:off x="10174286" y="4706303"/>
            <a:ext cx="28576" cy="1148715"/>
          </a:xfrm>
          <a:prstGeom prst="rect">
            <a:avLst/>
          </a:prstGeom>
          <a:solidFill>
            <a:srgbClr val="1D6657"/>
          </a:solidFill>
          <a:ln w="12700">
            <a:miter lim="400000"/>
          </a:ln>
        </p:spPr>
        <p:txBody>
          <a:bodyPr lIns="45719" rIns="45719"/>
          <a:lstStyle/>
          <a:p>
            <a:pPr/>
          </a:p>
        </p:txBody>
      </p:sp>
      <p:sp>
        <p:nvSpPr>
          <p:cNvPr id="221" name="Text 27"/>
          <p:cNvSpPr txBox="1"/>
          <p:nvPr/>
        </p:nvSpPr>
        <p:spPr>
          <a:xfrm>
            <a:off x="10469561" y="4915853"/>
            <a:ext cx="6617860" cy="75819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135000"/>
              </a:lnSpc>
              <a:defRPr sz="2100">
                <a:solidFill>
                  <a:srgbClr val="11243C"/>
                </a:solidFill>
                <a:latin typeface="Arial"/>
                <a:ea typeface="Arial"/>
                <a:cs typeface="Arial"/>
                <a:sym typeface="Arial"/>
              </a:defRPr>
            </a:lvl1pPr>
          </a:lstStyle>
          <a:p>
            <a:pPr/>
            <a:r>
              <a:t>Engagement metrics, correction trajectories, calibration indicators</a:t>
            </a:r>
          </a:p>
        </p:txBody>
      </p:sp>
      <p:sp>
        <p:nvSpPr>
          <p:cNvPr id="222" name="Shape 28"/>
          <p:cNvSpPr/>
          <p:nvPr/>
        </p:nvSpPr>
        <p:spPr>
          <a:xfrm>
            <a:off x="1143000" y="6992620"/>
            <a:ext cx="3200400" cy="12701"/>
          </a:xfrm>
          <a:prstGeom prst="rect">
            <a:avLst/>
          </a:prstGeom>
          <a:solidFill>
            <a:srgbClr val="C8C0A8"/>
          </a:solidFill>
          <a:ln w="12700">
            <a:miter lim="400000"/>
          </a:ln>
        </p:spPr>
        <p:txBody>
          <a:bodyPr lIns="45719" rIns="45719"/>
          <a:lstStyle/>
          <a:p>
            <a:pPr/>
          </a:p>
        </p:txBody>
      </p:sp>
      <p:sp>
        <p:nvSpPr>
          <p:cNvPr id="223" name="Text 29"/>
          <p:cNvSpPr txBox="1"/>
          <p:nvPr/>
        </p:nvSpPr>
        <p:spPr>
          <a:xfrm>
            <a:off x="1409700" y="6064567"/>
            <a:ext cx="2763012" cy="75819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140000"/>
              </a:lnSpc>
              <a:defRPr b="1" spc="200">
                <a:solidFill>
                  <a:srgbClr val="7A7363"/>
                </a:solidFill>
                <a:latin typeface="Arial"/>
                <a:ea typeface="Arial"/>
                <a:cs typeface="Arial"/>
                <a:sym typeface="Arial"/>
              </a:defRPr>
            </a:lvl1pPr>
          </a:lstStyle>
          <a:p>
            <a:pPr/>
            <a:r>
              <a:t>FAILURE MODE ADDRESSED</a:t>
            </a:r>
          </a:p>
        </p:txBody>
      </p:sp>
      <p:sp>
        <p:nvSpPr>
          <p:cNvPr id="224" name="Shape 30"/>
          <p:cNvSpPr/>
          <p:nvPr/>
        </p:nvSpPr>
        <p:spPr>
          <a:xfrm>
            <a:off x="4343399" y="6992620"/>
            <a:ext cx="5830890" cy="12701"/>
          </a:xfrm>
          <a:prstGeom prst="rect">
            <a:avLst/>
          </a:prstGeom>
          <a:solidFill>
            <a:srgbClr val="C8C0A8"/>
          </a:solidFill>
          <a:ln w="12700">
            <a:miter lim="400000"/>
          </a:ln>
        </p:spPr>
        <p:txBody>
          <a:bodyPr lIns="45719" rIns="45719"/>
          <a:lstStyle/>
          <a:p>
            <a:pPr/>
          </a:p>
        </p:txBody>
      </p:sp>
      <p:sp>
        <p:nvSpPr>
          <p:cNvPr id="225" name="Text 31"/>
          <p:cNvSpPr txBox="1"/>
          <p:nvPr/>
        </p:nvSpPr>
        <p:spPr>
          <a:xfrm>
            <a:off x="4610099" y="6064567"/>
            <a:ext cx="5472416" cy="75819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135000"/>
              </a:lnSpc>
              <a:defRPr sz="2100">
                <a:solidFill>
                  <a:srgbClr val="3D4659"/>
                </a:solidFill>
                <a:latin typeface="Arial"/>
                <a:ea typeface="Arial"/>
                <a:cs typeface="Arial"/>
                <a:sym typeface="Arial"/>
              </a:defRPr>
            </a:lvl1pPr>
          </a:lstStyle>
          <a:p>
            <a:pPr/>
            <a:r>
              <a:t>Hallucination, bias, distribution shift</a:t>
            </a:r>
          </a:p>
        </p:txBody>
      </p:sp>
      <p:sp>
        <p:nvSpPr>
          <p:cNvPr id="226" name="Shape 32"/>
          <p:cNvSpPr/>
          <p:nvPr/>
        </p:nvSpPr>
        <p:spPr>
          <a:xfrm>
            <a:off x="10174286" y="5855017"/>
            <a:ext cx="6970712" cy="1148716"/>
          </a:xfrm>
          <a:prstGeom prst="rect">
            <a:avLst/>
          </a:prstGeom>
          <a:solidFill>
            <a:srgbClr val="1D6657">
              <a:alpha val="7000"/>
            </a:srgbClr>
          </a:solidFill>
          <a:ln w="12700">
            <a:miter lim="400000"/>
          </a:ln>
        </p:spPr>
        <p:txBody>
          <a:bodyPr lIns="45719" rIns="45719"/>
          <a:lstStyle/>
          <a:p>
            <a:pPr/>
          </a:p>
        </p:txBody>
      </p:sp>
      <p:sp>
        <p:nvSpPr>
          <p:cNvPr id="227" name="Shape 33"/>
          <p:cNvSpPr/>
          <p:nvPr/>
        </p:nvSpPr>
        <p:spPr>
          <a:xfrm>
            <a:off x="10174286" y="6992620"/>
            <a:ext cx="6970712" cy="12701"/>
          </a:xfrm>
          <a:prstGeom prst="rect">
            <a:avLst/>
          </a:prstGeom>
          <a:solidFill>
            <a:srgbClr val="C8C0A8"/>
          </a:solidFill>
          <a:ln w="12700">
            <a:miter lim="400000"/>
          </a:ln>
        </p:spPr>
        <p:txBody>
          <a:bodyPr lIns="45719" rIns="45719"/>
          <a:lstStyle/>
          <a:p>
            <a:pPr/>
          </a:p>
        </p:txBody>
      </p:sp>
      <p:sp>
        <p:nvSpPr>
          <p:cNvPr id="228" name="Shape 34"/>
          <p:cNvSpPr/>
          <p:nvPr/>
        </p:nvSpPr>
        <p:spPr>
          <a:xfrm>
            <a:off x="10174286" y="5855017"/>
            <a:ext cx="28576" cy="1148716"/>
          </a:xfrm>
          <a:prstGeom prst="rect">
            <a:avLst/>
          </a:prstGeom>
          <a:solidFill>
            <a:srgbClr val="1D6657"/>
          </a:solidFill>
          <a:ln w="12700">
            <a:miter lim="400000"/>
          </a:ln>
        </p:spPr>
        <p:txBody>
          <a:bodyPr lIns="45719" rIns="45719"/>
          <a:lstStyle/>
          <a:p>
            <a:pPr/>
          </a:p>
        </p:txBody>
      </p:sp>
      <p:sp>
        <p:nvSpPr>
          <p:cNvPr id="229" name="Text 35"/>
          <p:cNvSpPr txBox="1"/>
          <p:nvPr/>
        </p:nvSpPr>
        <p:spPr>
          <a:xfrm>
            <a:off x="10469561" y="6064567"/>
            <a:ext cx="6617860" cy="75819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135000"/>
              </a:lnSpc>
              <a:defRPr sz="2100">
                <a:solidFill>
                  <a:srgbClr val="11243C"/>
                </a:solidFill>
                <a:latin typeface="Arial"/>
                <a:ea typeface="Arial"/>
                <a:cs typeface="Arial"/>
                <a:sym typeface="Arial"/>
              </a:defRPr>
            </a:lvl1pPr>
          </a:lstStyle>
          <a:p>
            <a:pPr/>
            <a:r>
              <a:t>Authority drift, procedural confirmation, oversight formality</a:t>
            </a:r>
          </a:p>
        </p:txBody>
      </p:sp>
      <p:sp>
        <p:nvSpPr>
          <p:cNvPr id="230" name="Text 36"/>
          <p:cNvSpPr txBox="1"/>
          <p:nvPr/>
        </p:nvSpPr>
        <p:spPr>
          <a:xfrm>
            <a:off x="1409700" y="7213282"/>
            <a:ext cx="2763012" cy="682943"/>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140000"/>
              </a:lnSpc>
              <a:defRPr b="1" spc="200">
                <a:solidFill>
                  <a:srgbClr val="7A7363"/>
                </a:solidFill>
                <a:latin typeface="Arial"/>
                <a:ea typeface="Arial"/>
                <a:cs typeface="Arial"/>
                <a:sym typeface="Arial"/>
              </a:defRPr>
            </a:lvl1pPr>
          </a:lstStyle>
          <a:p>
            <a:pPr/>
            <a:r>
              <a:t>HUMAN ROLE ASSUMED</a:t>
            </a:r>
          </a:p>
        </p:txBody>
      </p:sp>
      <p:sp>
        <p:nvSpPr>
          <p:cNvPr id="231" name="Text 37"/>
          <p:cNvSpPr txBox="1"/>
          <p:nvPr/>
        </p:nvSpPr>
        <p:spPr>
          <a:xfrm>
            <a:off x="4610099" y="7213282"/>
            <a:ext cx="5472416" cy="682943"/>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135000"/>
              </a:lnSpc>
              <a:defRPr sz="2100">
                <a:solidFill>
                  <a:srgbClr val="3D4659"/>
                </a:solidFill>
                <a:latin typeface="Arial"/>
                <a:ea typeface="Arial"/>
                <a:cs typeface="Arial"/>
                <a:sym typeface="Arial"/>
              </a:defRPr>
            </a:lvl1pPr>
          </a:lstStyle>
          <a:p>
            <a:pPr/>
            <a:r>
              <a:t>Stable recipient of explanations</a:t>
            </a:r>
          </a:p>
        </p:txBody>
      </p:sp>
      <p:sp>
        <p:nvSpPr>
          <p:cNvPr id="232" name="Shape 38"/>
          <p:cNvSpPr/>
          <p:nvPr/>
        </p:nvSpPr>
        <p:spPr>
          <a:xfrm>
            <a:off x="10174286" y="7003732"/>
            <a:ext cx="6970712" cy="1063943"/>
          </a:xfrm>
          <a:prstGeom prst="rect">
            <a:avLst/>
          </a:prstGeom>
          <a:solidFill>
            <a:srgbClr val="1D6657">
              <a:alpha val="7000"/>
            </a:srgbClr>
          </a:solidFill>
          <a:ln w="12700">
            <a:miter lim="400000"/>
          </a:ln>
        </p:spPr>
        <p:txBody>
          <a:bodyPr lIns="45719" rIns="45719"/>
          <a:lstStyle/>
          <a:p>
            <a:pPr/>
          </a:p>
        </p:txBody>
      </p:sp>
      <p:sp>
        <p:nvSpPr>
          <p:cNvPr id="233" name="Shape 39"/>
          <p:cNvSpPr/>
          <p:nvPr/>
        </p:nvSpPr>
        <p:spPr>
          <a:xfrm>
            <a:off x="10174286" y="7003732"/>
            <a:ext cx="28576" cy="1063943"/>
          </a:xfrm>
          <a:prstGeom prst="rect">
            <a:avLst/>
          </a:prstGeom>
          <a:solidFill>
            <a:srgbClr val="1D6657"/>
          </a:solidFill>
          <a:ln w="12700">
            <a:miter lim="400000"/>
          </a:ln>
        </p:spPr>
        <p:txBody>
          <a:bodyPr lIns="45719" rIns="45719"/>
          <a:lstStyle/>
          <a:p>
            <a:pPr/>
          </a:p>
        </p:txBody>
      </p:sp>
      <p:sp>
        <p:nvSpPr>
          <p:cNvPr id="234" name="Text 40"/>
          <p:cNvSpPr txBox="1"/>
          <p:nvPr/>
        </p:nvSpPr>
        <p:spPr>
          <a:xfrm>
            <a:off x="10469561" y="7213282"/>
            <a:ext cx="6617860" cy="682943"/>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135000"/>
              </a:lnSpc>
              <a:defRPr sz="2100">
                <a:solidFill>
                  <a:srgbClr val="11243C"/>
                </a:solidFill>
                <a:latin typeface="Arial"/>
                <a:ea typeface="Arial"/>
                <a:cs typeface="Arial"/>
                <a:sym typeface="Arial"/>
              </a:defRPr>
            </a:lvl1pPr>
          </a:lstStyle>
          <a:p>
            <a:pPr/>
            <a:r>
              <a:t>Degradable component requiring care and feeding</a:t>
            </a:r>
          </a:p>
        </p:txBody>
      </p:sp>
      <p:sp>
        <p:nvSpPr>
          <p:cNvPr id="235" name="Shape 41"/>
          <p:cNvSpPr/>
          <p:nvPr/>
        </p:nvSpPr>
        <p:spPr>
          <a:xfrm>
            <a:off x="1143000" y="8294687"/>
            <a:ext cx="16002000" cy="12701"/>
          </a:xfrm>
          <a:prstGeom prst="rect">
            <a:avLst/>
          </a:prstGeom>
          <a:solidFill>
            <a:srgbClr val="C8C0A8"/>
          </a:solidFill>
          <a:ln w="12700">
            <a:miter lim="400000"/>
          </a:ln>
        </p:spPr>
        <p:txBody>
          <a:bodyPr lIns="45719" rIns="45719"/>
          <a:lstStyle/>
          <a:p>
            <a:pPr/>
          </a:p>
        </p:txBody>
      </p:sp>
      <p:sp>
        <p:nvSpPr>
          <p:cNvPr id="236" name="Text 42"/>
          <p:cNvSpPr txBox="1"/>
          <p:nvPr/>
        </p:nvSpPr>
        <p:spPr>
          <a:xfrm>
            <a:off x="902970" y="8515349"/>
            <a:ext cx="16482061" cy="384812"/>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gn="ctr">
              <a:lnSpc>
                <a:spcPct val="140000"/>
              </a:lnSpc>
              <a:defRPr i="1" sz="1900">
                <a:solidFill>
                  <a:srgbClr val="7A7363"/>
                </a:solidFill>
                <a:latin typeface="Arial"/>
                <a:ea typeface="Arial"/>
                <a:cs typeface="Arial"/>
                <a:sym typeface="Arial"/>
              </a:defRPr>
            </a:lvl1pPr>
          </a:lstStyle>
          <a:p>
            <a:pPr/>
            <a:r>
              <a:t>Detection, interpretability, and governance each compound the gap rather than closing it.</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AF5E7"/>
        </a:solidFill>
      </p:bgPr>
    </p:bg>
    <p:spTree>
      <p:nvGrpSpPr>
        <p:cNvPr id="1" name=""/>
        <p:cNvGrpSpPr/>
        <p:nvPr/>
      </p:nvGrpSpPr>
      <p:grpSpPr>
        <a:xfrm>
          <a:off x="0" y="0"/>
          <a:ext cx="0" cy="0"/>
          <a:chOff x="0" y="0"/>
          <a:chExt cx="0" cy="0"/>
        </a:xfrm>
      </p:grpSpPr>
      <p:sp>
        <p:nvSpPr>
          <p:cNvPr id="240" name="Shape 0"/>
          <p:cNvSpPr/>
          <p:nvPr/>
        </p:nvSpPr>
        <p:spPr>
          <a:xfrm>
            <a:off x="0" y="0"/>
            <a:ext cx="18288000" cy="819150"/>
          </a:xfrm>
          <a:prstGeom prst="rect">
            <a:avLst/>
          </a:prstGeom>
          <a:solidFill>
            <a:srgbClr val="0D2340"/>
          </a:solidFill>
          <a:ln w="12700">
            <a:miter lim="400000"/>
          </a:ln>
        </p:spPr>
        <p:txBody>
          <a:bodyPr lIns="45719" rIns="45719"/>
          <a:lstStyle/>
          <a:p>
            <a:pPr/>
          </a:p>
        </p:txBody>
      </p:sp>
      <p:sp>
        <p:nvSpPr>
          <p:cNvPr id="241" name="Text 1"/>
          <p:cNvSpPr txBox="1"/>
          <p:nvPr/>
        </p:nvSpPr>
        <p:spPr>
          <a:xfrm>
            <a:off x="12441395" y="240982"/>
            <a:ext cx="417195" cy="38481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140000"/>
              </a:lnSpc>
              <a:defRPr b="1" spc="300" sz="1900">
                <a:solidFill>
                  <a:srgbClr val="ECC833"/>
                </a:solidFill>
                <a:latin typeface="Arial"/>
                <a:ea typeface="Arial"/>
                <a:cs typeface="Arial"/>
                <a:sym typeface="Arial"/>
              </a:defRPr>
            </a:lvl1pPr>
          </a:lstStyle>
          <a:p>
            <a:pPr/>
            <a:r>
              <a:t>03</a:t>
            </a:r>
          </a:p>
        </p:txBody>
      </p:sp>
      <p:sp>
        <p:nvSpPr>
          <p:cNvPr id="242" name="Text 2"/>
          <p:cNvSpPr txBox="1"/>
          <p:nvPr/>
        </p:nvSpPr>
        <p:spPr>
          <a:xfrm>
            <a:off x="12915741" y="231457"/>
            <a:ext cx="184627" cy="38481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140000"/>
              </a:lnSpc>
              <a:defRPr spc="300" sz="1900">
                <a:solidFill>
                  <a:srgbClr val="FFFDF2">
                    <a:alpha val="40000"/>
                  </a:srgbClr>
                </a:solidFill>
                <a:latin typeface="Arial"/>
                <a:ea typeface="Arial"/>
                <a:cs typeface="Arial"/>
                <a:sym typeface="Arial"/>
              </a:defRPr>
            </a:lvl1pPr>
          </a:lstStyle>
          <a:p>
            <a:pPr/>
            <a:r>
              <a:t>/</a:t>
            </a:r>
          </a:p>
        </p:txBody>
      </p:sp>
      <p:sp>
        <p:nvSpPr>
          <p:cNvPr id="243" name="Text 3"/>
          <p:cNvSpPr txBox="1"/>
          <p:nvPr/>
        </p:nvSpPr>
        <p:spPr>
          <a:xfrm>
            <a:off x="13157517" y="233361"/>
            <a:ext cx="4107108" cy="40005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defTabSz="886968">
              <a:lnSpc>
                <a:spcPct val="140000"/>
              </a:lnSpc>
              <a:defRPr b="1" spc="291" sz="1843">
                <a:solidFill>
                  <a:srgbClr val="FFFDF2">
                    <a:alpha val="92000"/>
                  </a:srgbClr>
                </a:solidFill>
                <a:latin typeface="Arial"/>
                <a:ea typeface="Arial"/>
                <a:cs typeface="Arial"/>
                <a:sym typeface="Arial"/>
              </a:defRPr>
            </a:lvl1pPr>
          </a:lstStyle>
          <a:p>
            <a:pPr/>
            <a:r>
              <a:t>TOWARD INSTRUMENTATION</a:t>
            </a:r>
          </a:p>
        </p:txBody>
      </p:sp>
      <p:sp>
        <p:nvSpPr>
          <p:cNvPr id="244" name="Text 4"/>
          <p:cNvSpPr txBox="1"/>
          <p:nvPr/>
        </p:nvSpPr>
        <p:spPr>
          <a:xfrm>
            <a:off x="1143000" y="1200149"/>
            <a:ext cx="16482061" cy="830582"/>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104000"/>
              </a:lnSpc>
              <a:defRPr b="1" spc="-90" sz="5400">
                <a:solidFill>
                  <a:srgbClr val="11243C"/>
                </a:solidFill>
                <a:latin typeface="Arial"/>
                <a:ea typeface="Arial"/>
                <a:cs typeface="Arial"/>
                <a:sym typeface="Arial"/>
              </a:defRPr>
            </a:lvl1pPr>
          </a:lstStyle>
          <a:p>
            <a:pPr/>
            <a:r>
              <a:t>Three candidate proxies for engagement state.</a:t>
            </a:r>
          </a:p>
        </p:txBody>
      </p:sp>
      <p:sp>
        <p:nvSpPr>
          <p:cNvPr id="245" name="Shape 5"/>
          <p:cNvSpPr/>
          <p:nvPr/>
        </p:nvSpPr>
        <p:spPr>
          <a:xfrm>
            <a:off x="1143000" y="2373629"/>
            <a:ext cx="5029200" cy="2977516"/>
          </a:xfrm>
          <a:prstGeom prst="rect">
            <a:avLst/>
          </a:prstGeom>
          <a:solidFill>
            <a:srgbClr val="FFFCF0"/>
          </a:solidFill>
          <a:ln>
            <a:solidFill>
              <a:srgbClr val="C8C0A8"/>
            </a:solidFill>
          </a:ln>
        </p:spPr>
        <p:txBody>
          <a:bodyPr lIns="45719" rIns="45719"/>
          <a:lstStyle/>
          <a:p>
            <a:pPr/>
          </a:p>
        </p:txBody>
      </p:sp>
      <p:sp>
        <p:nvSpPr>
          <p:cNvPr id="246" name="Shape 6"/>
          <p:cNvSpPr/>
          <p:nvPr/>
        </p:nvSpPr>
        <p:spPr>
          <a:xfrm>
            <a:off x="1457325" y="2687954"/>
            <a:ext cx="4400550" cy="1047751"/>
          </a:xfrm>
          <a:prstGeom prst="roundRect">
            <a:avLst>
              <a:gd name="adj" fmla="val 1818"/>
            </a:avLst>
          </a:prstGeom>
          <a:solidFill>
            <a:srgbClr val="1D6657">
              <a:alpha val="6000"/>
            </a:srgbClr>
          </a:solidFill>
          <a:ln w="12700">
            <a:miter lim="400000"/>
          </a:ln>
        </p:spPr>
        <p:txBody>
          <a:bodyPr lIns="45719" rIns="45719"/>
          <a:lstStyle/>
          <a:p>
            <a:pPr/>
          </a:p>
        </p:txBody>
      </p:sp>
      <p:pic>
        <p:nvPicPr>
          <p:cNvPr id="247" name="Image 0" descr="Image 0"/>
          <p:cNvPicPr>
            <a:picLocks noChangeAspect="1"/>
          </p:cNvPicPr>
          <p:nvPr/>
        </p:nvPicPr>
        <p:blipFill>
          <a:blip r:embed="rId3">
            <a:extLst/>
          </a:blip>
          <a:stretch>
            <a:fillRect/>
          </a:stretch>
        </p:blipFill>
        <p:spPr>
          <a:xfrm>
            <a:off x="2943225" y="2830829"/>
            <a:ext cx="1428750" cy="762001"/>
          </a:xfrm>
          <a:prstGeom prst="rect">
            <a:avLst/>
          </a:prstGeom>
          <a:ln w="12700">
            <a:miter lim="400000"/>
          </a:ln>
        </p:spPr>
      </p:pic>
      <p:sp>
        <p:nvSpPr>
          <p:cNvPr id="248" name="Text 7"/>
          <p:cNvSpPr txBox="1"/>
          <p:nvPr/>
        </p:nvSpPr>
        <p:spPr>
          <a:xfrm>
            <a:off x="1457325" y="3907154"/>
            <a:ext cx="2994078" cy="394336"/>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50391">
              <a:lnSpc>
                <a:spcPct val="110000"/>
              </a:lnSpc>
              <a:defRPr b="1" sz="2325">
                <a:solidFill>
                  <a:srgbClr val="1D6657"/>
                </a:solidFill>
                <a:latin typeface="Arial"/>
                <a:ea typeface="Arial"/>
                <a:cs typeface="Arial"/>
                <a:sym typeface="Arial"/>
              </a:defRPr>
            </a:lvl1pPr>
          </a:lstStyle>
          <a:p>
            <a:pPr/>
            <a:r>
              <a:t>Correction trajectory</a:t>
            </a:r>
          </a:p>
        </p:txBody>
      </p:sp>
      <p:sp>
        <p:nvSpPr>
          <p:cNvPr id="249" name="Text 8"/>
          <p:cNvSpPr txBox="1"/>
          <p:nvPr/>
        </p:nvSpPr>
        <p:spPr>
          <a:xfrm>
            <a:off x="1457324" y="4434840"/>
            <a:ext cx="4532569" cy="683586"/>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68680">
              <a:lnSpc>
                <a:spcPct val="140000"/>
              </a:lnSpc>
              <a:defRPr sz="1710">
                <a:solidFill>
                  <a:srgbClr val="11243C"/>
                </a:solidFill>
                <a:latin typeface="Arial"/>
                <a:ea typeface="Arial"/>
                <a:cs typeface="Arial"/>
                <a:sym typeface="Arial"/>
              </a:defRPr>
            </a:lvl1pPr>
          </a:lstStyle>
          <a:p>
            <a:pPr/>
            <a:r>
              <a:t>Reviewer engagement against output volume over deployment duration.</a:t>
            </a:r>
          </a:p>
        </p:txBody>
      </p:sp>
      <p:sp>
        <p:nvSpPr>
          <p:cNvPr id="250" name="Shape 9"/>
          <p:cNvSpPr/>
          <p:nvPr/>
        </p:nvSpPr>
        <p:spPr>
          <a:xfrm>
            <a:off x="6629400" y="2373629"/>
            <a:ext cx="5029200" cy="2977516"/>
          </a:xfrm>
          <a:prstGeom prst="rect">
            <a:avLst/>
          </a:prstGeom>
          <a:solidFill>
            <a:srgbClr val="FFFCF0"/>
          </a:solidFill>
          <a:ln>
            <a:solidFill>
              <a:srgbClr val="C8C0A8"/>
            </a:solidFill>
          </a:ln>
        </p:spPr>
        <p:txBody>
          <a:bodyPr lIns="45719" rIns="45719"/>
          <a:lstStyle/>
          <a:p>
            <a:pPr/>
          </a:p>
        </p:txBody>
      </p:sp>
      <p:sp>
        <p:nvSpPr>
          <p:cNvPr id="251" name="Shape 10"/>
          <p:cNvSpPr/>
          <p:nvPr/>
        </p:nvSpPr>
        <p:spPr>
          <a:xfrm>
            <a:off x="6943725" y="2687954"/>
            <a:ext cx="4400550" cy="1047751"/>
          </a:xfrm>
          <a:prstGeom prst="roundRect">
            <a:avLst>
              <a:gd name="adj" fmla="val 1818"/>
            </a:avLst>
          </a:prstGeom>
          <a:solidFill>
            <a:srgbClr val="1D6657">
              <a:alpha val="6000"/>
            </a:srgbClr>
          </a:solidFill>
          <a:ln w="12700">
            <a:miter lim="400000"/>
          </a:ln>
        </p:spPr>
        <p:txBody>
          <a:bodyPr lIns="45719" rIns="45719"/>
          <a:lstStyle/>
          <a:p>
            <a:pPr/>
          </a:p>
        </p:txBody>
      </p:sp>
      <p:pic>
        <p:nvPicPr>
          <p:cNvPr id="252" name="Image 1" descr="Image 1"/>
          <p:cNvPicPr>
            <a:picLocks noChangeAspect="1"/>
          </p:cNvPicPr>
          <p:nvPr/>
        </p:nvPicPr>
        <p:blipFill>
          <a:blip r:embed="rId4">
            <a:extLst/>
          </a:blip>
          <a:stretch>
            <a:fillRect/>
          </a:stretch>
        </p:blipFill>
        <p:spPr>
          <a:xfrm>
            <a:off x="8429625" y="2830829"/>
            <a:ext cx="1428750" cy="762001"/>
          </a:xfrm>
          <a:prstGeom prst="rect">
            <a:avLst/>
          </a:prstGeom>
          <a:ln w="12700">
            <a:miter lim="400000"/>
          </a:ln>
        </p:spPr>
      </p:pic>
      <p:sp>
        <p:nvSpPr>
          <p:cNvPr id="253" name="Text 11"/>
          <p:cNvSpPr txBox="1"/>
          <p:nvPr/>
        </p:nvSpPr>
        <p:spPr>
          <a:xfrm>
            <a:off x="6943725" y="3907154"/>
            <a:ext cx="2161857" cy="394336"/>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59536">
              <a:lnSpc>
                <a:spcPct val="110000"/>
              </a:lnSpc>
              <a:defRPr b="1" sz="2350">
                <a:solidFill>
                  <a:srgbClr val="1D6657"/>
                </a:solidFill>
                <a:latin typeface="Arial"/>
                <a:ea typeface="Arial"/>
                <a:cs typeface="Arial"/>
                <a:sym typeface="Arial"/>
              </a:defRPr>
            </a:lvl1pPr>
          </a:lstStyle>
          <a:p>
            <a:pPr/>
            <a:r>
              <a:t>Validation load</a:t>
            </a:r>
          </a:p>
        </p:txBody>
      </p:sp>
      <p:sp>
        <p:nvSpPr>
          <p:cNvPr id="254" name="Text 12"/>
          <p:cNvSpPr txBox="1"/>
          <p:nvPr/>
        </p:nvSpPr>
        <p:spPr>
          <a:xfrm>
            <a:off x="6943724" y="4434840"/>
            <a:ext cx="4532569" cy="683586"/>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68680">
              <a:lnSpc>
                <a:spcPct val="140000"/>
              </a:lnSpc>
              <a:defRPr sz="1710">
                <a:solidFill>
                  <a:srgbClr val="11243C"/>
                </a:solidFill>
                <a:latin typeface="Arial"/>
                <a:ea typeface="Arial"/>
                <a:cs typeface="Arial"/>
                <a:sym typeface="Arial"/>
              </a:defRPr>
            </a:lvl1pPr>
          </a:lstStyle>
          <a:p>
            <a:pPr/>
            <a:r>
              <a:t>Outputs requiring review per unit of reviewer capacity.</a:t>
            </a:r>
          </a:p>
        </p:txBody>
      </p:sp>
      <p:sp>
        <p:nvSpPr>
          <p:cNvPr id="255" name="Shape 13"/>
          <p:cNvSpPr/>
          <p:nvPr/>
        </p:nvSpPr>
        <p:spPr>
          <a:xfrm>
            <a:off x="12115800" y="2373629"/>
            <a:ext cx="5029200" cy="2977516"/>
          </a:xfrm>
          <a:prstGeom prst="rect">
            <a:avLst/>
          </a:prstGeom>
          <a:solidFill>
            <a:srgbClr val="FFFCF0"/>
          </a:solidFill>
          <a:ln>
            <a:solidFill>
              <a:srgbClr val="C8C0A8"/>
            </a:solidFill>
          </a:ln>
        </p:spPr>
        <p:txBody>
          <a:bodyPr lIns="45719" rIns="45719"/>
          <a:lstStyle/>
          <a:p>
            <a:pPr/>
          </a:p>
        </p:txBody>
      </p:sp>
      <p:sp>
        <p:nvSpPr>
          <p:cNvPr id="256" name="Shape 14"/>
          <p:cNvSpPr/>
          <p:nvPr/>
        </p:nvSpPr>
        <p:spPr>
          <a:xfrm>
            <a:off x="12430125" y="2687954"/>
            <a:ext cx="4400550" cy="1047751"/>
          </a:xfrm>
          <a:prstGeom prst="roundRect">
            <a:avLst>
              <a:gd name="adj" fmla="val 1818"/>
            </a:avLst>
          </a:prstGeom>
          <a:solidFill>
            <a:srgbClr val="1D6657">
              <a:alpha val="6000"/>
            </a:srgbClr>
          </a:solidFill>
          <a:ln w="12700">
            <a:miter lim="400000"/>
          </a:ln>
        </p:spPr>
        <p:txBody>
          <a:bodyPr lIns="45719" rIns="45719"/>
          <a:lstStyle/>
          <a:p>
            <a:pPr/>
          </a:p>
        </p:txBody>
      </p:sp>
      <p:pic>
        <p:nvPicPr>
          <p:cNvPr id="257" name="Image 2" descr="Image 2"/>
          <p:cNvPicPr>
            <a:picLocks noChangeAspect="1"/>
          </p:cNvPicPr>
          <p:nvPr/>
        </p:nvPicPr>
        <p:blipFill>
          <a:blip r:embed="rId5">
            <a:extLst/>
          </a:blip>
          <a:stretch>
            <a:fillRect/>
          </a:stretch>
        </p:blipFill>
        <p:spPr>
          <a:xfrm>
            <a:off x="13916025" y="2830829"/>
            <a:ext cx="1428750" cy="762001"/>
          </a:xfrm>
          <a:prstGeom prst="rect">
            <a:avLst/>
          </a:prstGeom>
          <a:ln w="12700">
            <a:miter lim="400000"/>
          </a:ln>
        </p:spPr>
      </p:pic>
      <p:sp>
        <p:nvSpPr>
          <p:cNvPr id="258" name="Text 15"/>
          <p:cNvSpPr txBox="1"/>
          <p:nvPr/>
        </p:nvSpPr>
        <p:spPr>
          <a:xfrm>
            <a:off x="12430125" y="3907154"/>
            <a:ext cx="3811967" cy="394336"/>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50391">
              <a:lnSpc>
                <a:spcPct val="110000"/>
              </a:lnSpc>
              <a:defRPr b="1" sz="2325">
                <a:solidFill>
                  <a:srgbClr val="1D6657"/>
                </a:solidFill>
                <a:latin typeface="Arial"/>
                <a:ea typeface="Arial"/>
                <a:cs typeface="Arial"/>
                <a:sym typeface="Arial"/>
              </a:defRPr>
            </a:lvl1pPr>
          </a:lstStyle>
          <a:p>
            <a:pPr/>
            <a:r>
              <a:t>Dependency accumulation</a:t>
            </a:r>
          </a:p>
        </p:txBody>
      </p:sp>
      <p:sp>
        <p:nvSpPr>
          <p:cNvPr id="259" name="Text 16"/>
          <p:cNvSpPr txBox="1"/>
          <p:nvPr/>
        </p:nvSpPr>
        <p:spPr>
          <a:xfrm>
            <a:off x="12430124" y="4434840"/>
            <a:ext cx="4532569" cy="683586"/>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68680">
              <a:lnSpc>
                <a:spcPct val="140000"/>
              </a:lnSpc>
              <a:defRPr sz="1710">
                <a:solidFill>
                  <a:srgbClr val="11243C"/>
                </a:solidFill>
                <a:latin typeface="Arial"/>
                <a:ea typeface="Arial"/>
                <a:cs typeface="Arial"/>
                <a:sym typeface="Arial"/>
              </a:defRPr>
            </a:lvl1pPr>
          </a:lstStyle>
          <a:p>
            <a:pPr/>
            <a:r>
              <a:t>Downstream workflow nodes depending on each approved output.</a:t>
            </a:r>
          </a:p>
        </p:txBody>
      </p:sp>
      <p:sp>
        <p:nvSpPr>
          <p:cNvPr id="260" name="Shape 17"/>
          <p:cNvSpPr/>
          <p:nvPr/>
        </p:nvSpPr>
        <p:spPr>
          <a:xfrm>
            <a:off x="1143000" y="5694045"/>
            <a:ext cx="16002000" cy="990601"/>
          </a:xfrm>
          <a:prstGeom prst="rect">
            <a:avLst/>
          </a:prstGeom>
          <a:solidFill>
            <a:srgbClr val="B8451E"/>
          </a:solidFill>
          <a:ln w="12700">
            <a:miter lim="400000"/>
          </a:ln>
        </p:spPr>
        <p:txBody>
          <a:bodyPr lIns="45719" rIns="45719"/>
          <a:lstStyle/>
          <a:p>
            <a:pPr/>
          </a:p>
        </p:txBody>
      </p:sp>
      <p:sp>
        <p:nvSpPr>
          <p:cNvPr id="261" name="Shape 18"/>
          <p:cNvSpPr/>
          <p:nvPr/>
        </p:nvSpPr>
        <p:spPr>
          <a:xfrm>
            <a:off x="3358991" y="5960745"/>
            <a:ext cx="12701" cy="457201"/>
          </a:xfrm>
          <a:prstGeom prst="rect">
            <a:avLst/>
          </a:prstGeom>
          <a:solidFill>
            <a:srgbClr val="FDF6E7">
              <a:alpha val="40000"/>
            </a:srgbClr>
          </a:solidFill>
          <a:ln w="12700">
            <a:miter lim="400000"/>
          </a:ln>
        </p:spPr>
        <p:txBody>
          <a:bodyPr lIns="45719" rIns="45719"/>
          <a:lstStyle/>
          <a:p>
            <a:pPr/>
          </a:p>
        </p:txBody>
      </p:sp>
      <p:sp>
        <p:nvSpPr>
          <p:cNvPr id="262" name="Text 19"/>
          <p:cNvSpPr txBox="1"/>
          <p:nvPr/>
        </p:nvSpPr>
        <p:spPr>
          <a:xfrm>
            <a:off x="1524000" y="5960745"/>
            <a:ext cx="1607979" cy="49530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768095">
              <a:defRPr b="1" spc="252" sz="1512">
                <a:solidFill>
                  <a:srgbClr val="ECC833"/>
                </a:solidFill>
                <a:latin typeface="Arial"/>
                <a:ea typeface="Arial"/>
                <a:cs typeface="Arial"/>
                <a:sym typeface="Arial"/>
              </a:defRPr>
            </a:lvl1pPr>
          </a:lstStyle>
          <a:p>
            <a:pPr/>
            <a:r>
              <a:t>DESIGN PRINCIPLE</a:t>
            </a:r>
          </a:p>
        </p:txBody>
      </p:sp>
      <p:sp>
        <p:nvSpPr>
          <p:cNvPr id="263" name="Text 20"/>
          <p:cNvSpPr txBox="1"/>
          <p:nvPr/>
        </p:nvSpPr>
        <p:spPr>
          <a:xfrm>
            <a:off x="3674903" y="5986938"/>
            <a:ext cx="13481771" cy="442914"/>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125000"/>
              </a:lnSpc>
              <a:defRPr b="1" sz="2500">
                <a:solidFill>
                  <a:srgbClr val="FDF6E7"/>
                </a:solidFill>
                <a:latin typeface="Arial"/>
                <a:ea typeface="Arial"/>
                <a:cs typeface="Arial"/>
                <a:sym typeface="Arial"/>
              </a:defRPr>
            </a:lvl1pPr>
          </a:lstStyle>
          <a:p>
            <a:pPr/>
            <a:r>
              <a:t>Satisfying the metric and exercising genuine oversight should be difficult to decouple.</a:t>
            </a:r>
          </a:p>
        </p:txBody>
      </p:sp>
      <p:sp>
        <p:nvSpPr>
          <p:cNvPr id="264" name="Text 21"/>
          <p:cNvSpPr txBox="1"/>
          <p:nvPr/>
        </p:nvSpPr>
        <p:spPr>
          <a:xfrm>
            <a:off x="902970" y="6856094"/>
            <a:ext cx="16482061" cy="34671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gn="ctr">
              <a:lnSpc>
                <a:spcPct val="135000"/>
              </a:lnSpc>
              <a:defRPr i="1">
                <a:solidFill>
                  <a:srgbClr val="7A7363"/>
                </a:solidFill>
                <a:latin typeface="Arial"/>
                <a:ea typeface="Arial"/>
                <a:cs typeface="Arial"/>
                <a:sym typeface="Arial"/>
              </a:defRPr>
            </a:lvl1pPr>
          </a:lstStyle>
          <a:p>
            <a:pPr/>
            <a:r>
              <a:t>Designed as workflow-level structural signals, not individual reviewer monitoring.</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AF5E7"/>
        </a:solidFill>
      </p:bgPr>
    </p:bg>
    <p:spTree>
      <p:nvGrpSpPr>
        <p:cNvPr id="1" name=""/>
        <p:cNvGrpSpPr/>
        <p:nvPr/>
      </p:nvGrpSpPr>
      <p:grpSpPr>
        <a:xfrm>
          <a:off x="0" y="0"/>
          <a:ext cx="0" cy="0"/>
          <a:chOff x="0" y="0"/>
          <a:chExt cx="0" cy="0"/>
        </a:xfrm>
      </p:grpSpPr>
      <p:sp>
        <p:nvSpPr>
          <p:cNvPr id="268" name="Shape 0"/>
          <p:cNvSpPr/>
          <p:nvPr/>
        </p:nvSpPr>
        <p:spPr>
          <a:xfrm>
            <a:off x="0" y="0"/>
            <a:ext cx="18288000" cy="819150"/>
          </a:xfrm>
          <a:prstGeom prst="rect">
            <a:avLst/>
          </a:prstGeom>
          <a:solidFill>
            <a:srgbClr val="0D2340"/>
          </a:solidFill>
          <a:ln w="12700">
            <a:miter lim="400000"/>
          </a:ln>
        </p:spPr>
        <p:txBody>
          <a:bodyPr lIns="45719" rIns="45719"/>
          <a:lstStyle/>
          <a:p>
            <a:pPr/>
          </a:p>
        </p:txBody>
      </p:sp>
      <p:sp>
        <p:nvSpPr>
          <p:cNvPr id="269" name="Text 1"/>
          <p:cNvSpPr txBox="1"/>
          <p:nvPr/>
        </p:nvSpPr>
        <p:spPr>
          <a:xfrm>
            <a:off x="12441395" y="240982"/>
            <a:ext cx="417195" cy="38481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140000"/>
              </a:lnSpc>
              <a:defRPr b="1" spc="300" sz="1900">
                <a:solidFill>
                  <a:srgbClr val="ECC833"/>
                </a:solidFill>
                <a:latin typeface="Arial"/>
                <a:ea typeface="Arial"/>
                <a:cs typeface="Arial"/>
                <a:sym typeface="Arial"/>
              </a:defRPr>
            </a:lvl1pPr>
          </a:lstStyle>
          <a:p>
            <a:pPr/>
            <a:r>
              <a:t>03</a:t>
            </a:r>
          </a:p>
        </p:txBody>
      </p:sp>
      <p:sp>
        <p:nvSpPr>
          <p:cNvPr id="270" name="Text 2"/>
          <p:cNvSpPr txBox="1"/>
          <p:nvPr/>
        </p:nvSpPr>
        <p:spPr>
          <a:xfrm>
            <a:off x="12915741" y="231457"/>
            <a:ext cx="184627" cy="38481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140000"/>
              </a:lnSpc>
              <a:defRPr spc="300" sz="1900">
                <a:solidFill>
                  <a:srgbClr val="FFFDF2">
                    <a:alpha val="40000"/>
                  </a:srgbClr>
                </a:solidFill>
                <a:latin typeface="Arial"/>
                <a:ea typeface="Arial"/>
                <a:cs typeface="Arial"/>
                <a:sym typeface="Arial"/>
              </a:defRPr>
            </a:lvl1pPr>
          </a:lstStyle>
          <a:p>
            <a:pPr/>
            <a:r>
              <a:t>/</a:t>
            </a:r>
          </a:p>
        </p:txBody>
      </p:sp>
      <p:sp>
        <p:nvSpPr>
          <p:cNvPr id="271" name="Text 3"/>
          <p:cNvSpPr txBox="1"/>
          <p:nvPr/>
        </p:nvSpPr>
        <p:spPr>
          <a:xfrm>
            <a:off x="13157517" y="233361"/>
            <a:ext cx="4107108" cy="40005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defTabSz="886968">
              <a:lnSpc>
                <a:spcPct val="140000"/>
              </a:lnSpc>
              <a:defRPr b="1" spc="291" sz="1843">
                <a:solidFill>
                  <a:srgbClr val="FFFDF2">
                    <a:alpha val="92000"/>
                  </a:srgbClr>
                </a:solidFill>
                <a:latin typeface="Arial"/>
                <a:ea typeface="Arial"/>
                <a:cs typeface="Arial"/>
                <a:sym typeface="Arial"/>
              </a:defRPr>
            </a:lvl1pPr>
          </a:lstStyle>
          <a:p>
            <a:pPr/>
            <a:r>
              <a:t>TOWARD INSTRUMENTATION</a:t>
            </a:r>
          </a:p>
        </p:txBody>
      </p:sp>
      <p:sp>
        <p:nvSpPr>
          <p:cNvPr id="272" name="Text 4"/>
          <p:cNvSpPr txBox="1"/>
          <p:nvPr/>
        </p:nvSpPr>
        <p:spPr>
          <a:xfrm>
            <a:off x="1143000" y="1200149"/>
            <a:ext cx="16482061" cy="830582"/>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104000"/>
              </a:lnSpc>
              <a:defRPr b="1" spc="-90" sz="5400">
                <a:solidFill>
                  <a:srgbClr val="11243C"/>
                </a:solidFill>
                <a:latin typeface="Arial"/>
                <a:ea typeface="Arial"/>
                <a:cs typeface="Arial"/>
                <a:sym typeface="Arial"/>
              </a:defRPr>
            </a:lvl1pPr>
          </a:lstStyle>
          <a:p>
            <a:pPr/>
            <a:r>
              <a:t>Five mechanisms practitioners can pilot today.</a:t>
            </a:r>
          </a:p>
        </p:txBody>
      </p:sp>
      <p:sp>
        <p:nvSpPr>
          <p:cNvPr id="273" name="Shape 5"/>
          <p:cNvSpPr/>
          <p:nvPr/>
        </p:nvSpPr>
        <p:spPr>
          <a:xfrm>
            <a:off x="1143000" y="2611596"/>
            <a:ext cx="16002000" cy="12701"/>
          </a:xfrm>
          <a:prstGeom prst="rect">
            <a:avLst/>
          </a:prstGeom>
          <a:solidFill>
            <a:srgbClr val="C8C0A8"/>
          </a:solidFill>
          <a:ln w="12700">
            <a:miter lim="400000"/>
          </a:ln>
        </p:spPr>
        <p:txBody>
          <a:bodyPr lIns="45719" rIns="45719"/>
          <a:lstStyle/>
          <a:p>
            <a:pPr/>
          </a:p>
        </p:txBody>
      </p:sp>
      <p:sp>
        <p:nvSpPr>
          <p:cNvPr id="274" name="Text 6"/>
          <p:cNvSpPr txBox="1"/>
          <p:nvPr/>
        </p:nvSpPr>
        <p:spPr>
          <a:xfrm>
            <a:off x="1066800" y="2908618"/>
            <a:ext cx="1123950" cy="57150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gn="r" defTabSz="804672">
              <a:defRPr b="1" spc="-88" sz="3696">
                <a:solidFill>
                  <a:srgbClr val="1D6657"/>
                </a:solidFill>
                <a:latin typeface="Arial"/>
                <a:ea typeface="Arial"/>
                <a:cs typeface="Arial"/>
                <a:sym typeface="Arial"/>
              </a:defRPr>
            </a:lvl1pPr>
          </a:lstStyle>
          <a:p>
            <a:pPr/>
            <a:r>
              <a:t>01</a:t>
            </a:r>
          </a:p>
        </p:txBody>
      </p:sp>
      <p:pic>
        <p:nvPicPr>
          <p:cNvPr id="275" name="Image 0" descr="Image 0"/>
          <p:cNvPicPr>
            <a:picLocks noChangeAspect="1"/>
          </p:cNvPicPr>
          <p:nvPr/>
        </p:nvPicPr>
        <p:blipFill>
          <a:blip r:embed="rId3">
            <a:extLst/>
          </a:blip>
          <a:stretch>
            <a:fillRect/>
          </a:stretch>
        </p:blipFill>
        <p:spPr>
          <a:xfrm>
            <a:off x="2533650" y="2946718"/>
            <a:ext cx="457200" cy="457201"/>
          </a:xfrm>
          <a:prstGeom prst="rect">
            <a:avLst/>
          </a:prstGeom>
          <a:ln w="12700">
            <a:miter lim="400000"/>
          </a:ln>
        </p:spPr>
      </p:pic>
      <p:sp>
        <p:nvSpPr>
          <p:cNvPr id="276" name="Text 7"/>
          <p:cNvSpPr txBox="1"/>
          <p:nvPr/>
        </p:nvSpPr>
        <p:spPr>
          <a:xfrm>
            <a:off x="3467100" y="2832258"/>
            <a:ext cx="4793533" cy="399605"/>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96111">
              <a:lnSpc>
                <a:spcPct val="115000"/>
              </a:lnSpc>
              <a:defRPr b="1" spc="-98" sz="2352">
                <a:solidFill>
                  <a:srgbClr val="11243C"/>
                </a:solidFill>
                <a:latin typeface="Arial"/>
                <a:ea typeface="Arial"/>
                <a:cs typeface="Arial"/>
                <a:sym typeface="Arial"/>
              </a:defRPr>
            </a:lvl1pPr>
          </a:lstStyle>
          <a:p>
            <a:pPr/>
            <a:r>
              <a:t>Seeded calibration checks</a:t>
            </a:r>
          </a:p>
        </p:txBody>
      </p:sp>
      <p:sp>
        <p:nvSpPr>
          <p:cNvPr id="277" name="Text 8"/>
          <p:cNvSpPr txBox="1"/>
          <p:nvPr/>
        </p:nvSpPr>
        <p:spPr>
          <a:xfrm>
            <a:off x="8502015" y="2849879"/>
            <a:ext cx="8902276" cy="706756"/>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135000"/>
              </a:lnSpc>
              <a:defRPr sz="1900">
                <a:solidFill>
                  <a:srgbClr val="3D4659"/>
                </a:solidFill>
                <a:latin typeface="Arial"/>
                <a:ea typeface="Arial"/>
                <a:cs typeface="Arial"/>
                <a:sym typeface="Arial"/>
              </a:defRPr>
            </a:lvl1pPr>
          </a:lstStyle>
          <a:p>
            <a:pPr/>
            <a:r>
              <a:t>Pre-validated outputs injected into the queue. Disagreement rate on seeded items tracks engagement on the rest.</a:t>
            </a:r>
          </a:p>
        </p:txBody>
      </p:sp>
      <p:sp>
        <p:nvSpPr>
          <p:cNvPr id="278" name="Shape 9"/>
          <p:cNvSpPr/>
          <p:nvPr/>
        </p:nvSpPr>
        <p:spPr>
          <a:xfrm>
            <a:off x="1143000" y="3764597"/>
            <a:ext cx="16002000" cy="12701"/>
          </a:xfrm>
          <a:prstGeom prst="rect">
            <a:avLst/>
          </a:prstGeom>
          <a:solidFill>
            <a:srgbClr val="C8C0A8"/>
          </a:solidFill>
          <a:ln w="12700">
            <a:miter lim="400000"/>
          </a:ln>
        </p:spPr>
        <p:txBody>
          <a:bodyPr lIns="45719" rIns="45719"/>
          <a:lstStyle/>
          <a:p>
            <a:pPr/>
          </a:p>
        </p:txBody>
      </p:sp>
      <p:sp>
        <p:nvSpPr>
          <p:cNvPr id="279" name="Text 10"/>
          <p:cNvSpPr txBox="1"/>
          <p:nvPr/>
        </p:nvSpPr>
        <p:spPr>
          <a:xfrm>
            <a:off x="1066800" y="4061619"/>
            <a:ext cx="1123950" cy="57150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gn="r" defTabSz="804672">
              <a:defRPr b="1" spc="-88" sz="3696">
                <a:solidFill>
                  <a:srgbClr val="1D6657"/>
                </a:solidFill>
                <a:latin typeface="Arial"/>
                <a:ea typeface="Arial"/>
                <a:cs typeface="Arial"/>
                <a:sym typeface="Arial"/>
              </a:defRPr>
            </a:lvl1pPr>
          </a:lstStyle>
          <a:p>
            <a:pPr/>
            <a:r>
              <a:t>02</a:t>
            </a:r>
          </a:p>
        </p:txBody>
      </p:sp>
      <p:pic>
        <p:nvPicPr>
          <p:cNvPr id="280" name="Image 1" descr="Image 1"/>
          <p:cNvPicPr>
            <a:picLocks noChangeAspect="1"/>
          </p:cNvPicPr>
          <p:nvPr/>
        </p:nvPicPr>
        <p:blipFill>
          <a:blip r:embed="rId4">
            <a:extLst/>
          </a:blip>
          <a:stretch>
            <a:fillRect/>
          </a:stretch>
        </p:blipFill>
        <p:spPr>
          <a:xfrm>
            <a:off x="2533650" y="4099719"/>
            <a:ext cx="457200" cy="457201"/>
          </a:xfrm>
          <a:prstGeom prst="rect">
            <a:avLst/>
          </a:prstGeom>
          <a:ln w="12700">
            <a:miter lim="400000"/>
          </a:ln>
        </p:spPr>
      </p:pic>
      <p:sp>
        <p:nvSpPr>
          <p:cNvPr id="281" name="Text 11"/>
          <p:cNvSpPr txBox="1"/>
          <p:nvPr/>
        </p:nvSpPr>
        <p:spPr>
          <a:xfrm>
            <a:off x="3467100" y="3985259"/>
            <a:ext cx="4793533" cy="399605"/>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96111">
              <a:lnSpc>
                <a:spcPct val="115000"/>
              </a:lnSpc>
              <a:defRPr b="1" spc="-98" sz="2352">
                <a:solidFill>
                  <a:srgbClr val="11243C"/>
                </a:solidFill>
                <a:latin typeface="Arial"/>
                <a:ea typeface="Arial"/>
                <a:cs typeface="Arial"/>
                <a:sym typeface="Arial"/>
              </a:defRPr>
            </a:lvl1pPr>
          </a:lstStyle>
          <a:p>
            <a:pPr/>
            <a:r>
              <a:t>Onboarding-period baselines</a:t>
            </a:r>
          </a:p>
        </p:txBody>
      </p:sp>
      <p:sp>
        <p:nvSpPr>
          <p:cNvPr id="282" name="Text 12"/>
          <p:cNvSpPr txBox="1"/>
          <p:nvPr/>
        </p:nvSpPr>
        <p:spPr>
          <a:xfrm>
            <a:off x="8502015" y="4002880"/>
            <a:ext cx="8902276" cy="706756"/>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135000"/>
              </a:lnSpc>
              <a:defRPr sz="1900">
                <a:solidFill>
                  <a:srgbClr val="3D4659"/>
                </a:solidFill>
                <a:latin typeface="Arial"/>
                <a:ea typeface="Arial"/>
                <a:cs typeface="Arial"/>
                <a:sym typeface="Arial"/>
              </a:defRPr>
            </a:lvl1pPr>
          </a:lstStyle>
          <a:p>
            <a:pPr/>
            <a:r>
              <a:t>Log new reviewers' correction patterns before calibration. Gaps signal that operational norms have drifted.</a:t>
            </a:r>
          </a:p>
        </p:txBody>
      </p:sp>
      <p:sp>
        <p:nvSpPr>
          <p:cNvPr id="283" name="Shape 13"/>
          <p:cNvSpPr/>
          <p:nvPr/>
        </p:nvSpPr>
        <p:spPr>
          <a:xfrm>
            <a:off x="1143000" y="4917598"/>
            <a:ext cx="16002000" cy="12701"/>
          </a:xfrm>
          <a:prstGeom prst="rect">
            <a:avLst/>
          </a:prstGeom>
          <a:solidFill>
            <a:srgbClr val="C8C0A8"/>
          </a:solidFill>
          <a:ln w="12700">
            <a:miter lim="400000"/>
          </a:ln>
        </p:spPr>
        <p:txBody>
          <a:bodyPr lIns="45719" rIns="45719"/>
          <a:lstStyle/>
          <a:p>
            <a:pPr/>
          </a:p>
        </p:txBody>
      </p:sp>
      <p:sp>
        <p:nvSpPr>
          <p:cNvPr id="284" name="Text 14"/>
          <p:cNvSpPr txBox="1"/>
          <p:nvPr/>
        </p:nvSpPr>
        <p:spPr>
          <a:xfrm>
            <a:off x="1066800" y="5222080"/>
            <a:ext cx="1123950" cy="57150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gn="r" defTabSz="804672">
              <a:defRPr b="1" spc="-88" sz="3696">
                <a:solidFill>
                  <a:srgbClr val="1D6657"/>
                </a:solidFill>
                <a:latin typeface="Arial"/>
                <a:ea typeface="Arial"/>
                <a:cs typeface="Arial"/>
                <a:sym typeface="Arial"/>
              </a:defRPr>
            </a:lvl1pPr>
          </a:lstStyle>
          <a:p>
            <a:pPr/>
            <a:r>
              <a:t>03</a:t>
            </a:r>
          </a:p>
        </p:txBody>
      </p:sp>
      <p:pic>
        <p:nvPicPr>
          <p:cNvPr id="285" name="Image 2" descr="Image 2"/>
          <p:cNvPicPr>
            <a:picLocks noChangeAspect="1"/>
          </p:cNvPicPr>
          <p:nvPr/>
        </p:nvPicPr>
        <p:blipFill>
          <a:blip r:embed="rId5">
            <a:extLst/>
          </a:blip>
          <a:stretch>
            <a:fillRect/>
          </a:stretch>
        </p:blipFill>
        <p:spPr>
          <a:xfrm>
            <a:off x="2533650" y="5260180"/>
            <a:ext cx="457200" cy="457201"/>
          </a:xfrm>
          <a:prstGeom prst="rect">
            <a:avLst/>
          </a:prstGeom>
          <a:ln w="12700">
            <a:miter lim="400000"/>
          </a:ln>
        </p:spPr>
      </p:pic>
      <p:sp>
        <p:nvSpPr>
          <p:cNvPr id="286" name="Text 15"/>
          <p:cNvSpPr txBox="1"/>
          <p:nvPr/>
        </p:nvSpPr>
        <p:spPr>
          <a:xfrm>
            <a:off x="3467100" y="5138261"/>
            <a:ext cx="4793533" cy="73914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32104">
              <a:lnSpc>
                <a:spcPct val="115000"/>
              </a:lnSpc>
              <a:defRPr b="1" spc="-91" sz="2184">
                <a:solidFill>
                  <a:srgbClr val="11243C"/>
                </a:solidFill>
                <a:latin typeface="Arial"/>
                <a:ea typeface="Arial"/>
                <a:cs typeface="Arial"/>
                <a:sym typeface="Arial"/>
              </a:defRPr>
            </a:lvl1pPr>
          </a:lstStyle>
          <a:p>
            <a:pPr/>
            <a:r>
              <a:t>Dependency surfacing at decision time</a:t>
            </a:r>
          </a:p>
        </p:txBody>
      </p:sp>
      <p:sp>
        <p:nvSpPr>
          <p:cNvPr id="287" name="Text 16"/>
          <p:cNvSpPr txBox="1"/>
          <p:nvPr/>
        </p:nvSpPr>
        <p:spPr>
          <a:xfrm>
            <a:off x="8502015" y="5155882"/>
            <a:ext cx="8902276" cy="706756"/>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135000"/>
              </a:lnSpc>
              <a:defRPr sz="1900">
                <a:solidFill>
                  <a:srgbClr val="3D4659"/>
                </a:solidFill>
                <a:latin typeface="Arial"/>
                <a:ea typeface="Arial"/>
                <a:cs typeface="Arial"/>
                <a:sym typeface="Arial"/>
              </a:defRPr>
            </a:lvl1pPr>
          </a:lstStyle>
          <a:p>
            <a:pPr/>
            <a:r>
              <a:t>Show the reviewer how many downstream things depend on this approval, at the moment of approval.</a:t>
            </a:r>
          </a:p>
        </p:txBody>
      </p:sp>
      <p:sp>
        <p:nvSpPr>
          <p:cNvPr id="288" name="Shape 17"/>
          <p:cNvSpPr/>
          <p:nvPr/>
        </p:nvSpPr>
        <p:spPr>
          <a:xfrm>
            <a:off x="1143000" y="6085363"/>
            <a:ext cx="16002000" cy="12701"/>
          </a:xfrm>
          <a:prstGeom prst="rect">
            <a:avLst/>
          </a:prstGeom>
          <a:solidFill>
            <a:srgbClr val="C8C0A8"/>
          </a:solidFill>
          <a:ln w="12700">
            <a:miter lim="400000"/>
          </a:ln>
        </p:spPr>
        <p:txBody>
          <a:bodyPr lIns="45719" rIns="45719"/>
          <a:lstStyle/>
          <a:p>
            <a:pPr/>
          </a:p>
        </p:txBody>
      </p:sp>
      <p:sp>
        <p:nvSpPr>
          <p:cNvPr id="289" name="Text 18"/>
          <p:cNvSpPr txBox="1"/>
          <p:nvPr/>
        </p:nvSpPr>
        <p:spPr>
          <a:xfrm>
            <a:off x="1066800" y="6389846"/>
            <a:ext cx="1123950" cy="57150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gn="r" defTabSz="804672">
              <a:defRPr b="1" spc="-88" sz="3696">
                <a:solidFill>
                  <a:srgbClr val="1D6657"/>
                </a:solidFill>
                <a:latin typeface="Arial"/>
                <a:ea typeface="Arial"/>
                <a:cs typeface="Arial"/>
                <a:sym typeface="Arial"/>
              </a:defRPr>
            </a:lvl1pPr>
          </a:lstStyle>
          <a:p>
            <a:pPr/>
            <a:r>
              <a:t>04</a:t>
            </a:r>
          </a:p>
        </p:txBody>
      </p:sp>
      <p:pic>
        <p:nvPicPr>
          <p:cNvPr id="290" name="Image 3" descr="Image 3"/>
          <p:cNvPicPr>
            <a:picLocks noChangeAspect="1"/>
          </p:cNvPicPr>
          <p:nvPr/>
        </p:nvPicPr>
        <p:blipFill>
          <a:blip r:embed="rId6">
            <a:extLst/>
          </a:blip>
          <a:stretch>
            <a:fillRect/>
          </a:stretch>
        </p:blipFill>
        <p:spPr>
          <a:xfrm>
            <a:off x="2533650" y="6427946"/>
            <a:ext cx="457200" cy="457201"/>
          </a:xfrm>
          <a:prstGeom prst="rect">
            <a:avLst/>
          </a:prstGeom>
          <a:ln w="12700">
            <a:miter lim="400000"/>
          </a:ln>
        </p:spPr>
      </p:pic>
      <p:sp>
        <p:nvSpPr>
          <p:cNvPr id="291" name="Text 19"/>
          <p:cNvSpPr txBox="1"/>
          <p:nvPr/>
        </p:nvSpPr>
        <p:spPr>
          <a:xfrm>
            <a:off x="3467100" y="6306025"/>
            <a:ext cx="4793533" cy="73914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13816">
              <a:lnSpc>
                <a:spcPct val="115000"/>
              </a:lnSpc>
              <a:defRPr b="1" spc="-89" sz="2136">
                <a:solidFill>
                  <a:srgbClr val="11243C"/>
                </a:solidFill>
                <a:latin typeface="Arial"/>
                <a:ea typeface="Arial"/>
                <a:cs typeface="Arial"/>
                <a:sym typeface="Arial"/>
              </a:defRPr>
            </a:lvl1pPr>
          </a:lstStyle>
          <a:p>
            <a:pPr/>
            <a:r>
              <a:t>Decision-point logging for long-running workflows</a:t>
            </a:r>
          </a:p>
        </p:txBody>
      </p:sp>
      <p:sp>
        <p:nvSpPr>
          <p:cNvPr id="292" name="Text 20"/>
          <p:cNvSpPr txBox="1"/>
          <p:nvPr/>
        </p:nvSpPr>
        <p:spPr>
          <a:xfrm>
            <a:off x="8502015" y="6323648"/>
            <a:ext cx="8902276" cy="706756"/>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135000"/>
              </a:lnSpc>
              <a:defRPr sz="1900">
                <a:solidFill>
                  <a:srgbClr val="3D4659"/>
                </a:solidFill>
                <a:latin typeface="Arial"/>
                <a:ea typeface="Arial"/>
                <a:cs typeface="Arial"/>
                <a:sym typeface="Arial"/>
              </a:defRPr>
            </a:lvl1pPr>
          </a:lstStyle>
          <a:p>
            <a:pPr/>
            <a:r>
              <a:t>Structured events at each irreversible decision in an agentic trajectory, not just the final output.</a:t>
            </a:r>
          </a:p>
        </p:txBody>
      </p:sp>
      <p:sp>
        <p:nvSpPr>
          <p:cNvPr id="293" name="Shape 21"/>
          <p:cNvSpPr/>
          <p:nvPr/>
        </p:nvSpPr>
        <p:spPr>
          <a:xfrm>
            <a:off x="1143000" y="8382794"/>
            <a:ext cx="16002000" cy="12701"/>
          </a:xfrm>
          <a:prstGeom prst="rect">
            <a:avLst/>
          </a:prstGeom>
          <a:solidFill>
            <a:srgbClr val="C8C0A8"/>
          </a:solidFill>
          <a:ln w="12700">
            <a:miter lim="400000"/>
          </a:ln>
        </p:spPr>
        <p:txBody>
          <a:bodyPr lIns="45719" rIns="45719"/>
          <a:lstStyle/>
          <a:p>
            <a:pPr/>
          </a:p>
        </p:txBody>
      </p:sp>
      <p:sp>
        <p:nvSpPr>
          <p:cNvPr id="294" name="Shape 22"/>
          <p:cNvSpPr/>
          <p:nvPr/>
        </p:nvSpPr>
        <p:spPr>
          <a:xfrm>
            <a:off x="1143000" y="7253128"/>
            <a:ext cx="16002000" cy="12701"/>
          </a:xfrm>
          <a:prstGeom prst="rect">
            <a:avLst/>
          </a:prstGeom>
          <a:solidFill>
            <a:srgbClr val="C8C0A8"/>
          </a:solidFill>
          <a:ln w="12700">
            <a:miter lim="400000"/>
          </a:ln>
        </p:spPr>
        <p:txBody>
          <a:bodyPr lIns="45719" rIns="45719"/>
          <a:lstStyle/>
          <a:p>
            <a:pPr/>
          </a:p>
        </p:txBody>
      </p:sp>
      <p:sp>
        <p:nvSpPr>
          <p:cNvPr id="295" name="Text 23"/>
          <p:cNvSpPr txBox="1"/>
          <p:nvPr/>
        </p:nvSpPr>
        <p:spPr>
          <a:xfrm>
            <a:off x="1066800" y="7557610"/>
            <a:ext cx="1123950" cy="57150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gn="r" defTabSz="804672">
              <a:defRPr b="1" spc="-88" sz="3696">
                <a:solidFill>
                  <a:srgbClr val="1D6657"/>
                </a:solidFill>
                <a:latin typeface="Arial"/>
                <a:ea typeface="Arial"/>
                <a:cs typeface="Arial"/>
                <a:sym typeface="Arial"/>
              </a:defRPr>
            </a:lvl1pPr>
          </a:lstStyle>
          <a:p>
            <a:pPr/>
            <a:r>
              <a:t>05</a:t>
            </a:r>
          </a:p>
        </p:txBody>
      </p:sp>
      <p:pic>
        <p:nvPicPr>
          <p:cNvPr id="296" name="Image 4" descr="Image 4"/>
          <p:cNvPicPr>
            <a:picLocks noChangeAspect="1"/>
          </p:cNvPicPr>
          <p:nvPr/>
        </p:nvPicPr>
        <p:blipFill>
          <a:blip r:embed="rId7">
            <a:extLst/>
          </a:blip>
          <a:stretch>
            <a:fillRect/>
          </a:stretch>
        </p:blipFill>
        <p:spPr>
          <a:xfrm>
            <a:off x="2533650" y="7595710"/>
            <a:ext cx="457200" cy="457201"/>
          </a:xfrm>
          <a:prstGeom prst="rect">
            <a:avLst/>
          </a:prstGeom>
          <a:ln w="12700">
            <a:miter lim="400000"/>
          </a:ln>
        </p:spPr>
      </p:pic>
      <p:sp>
        <p:nvSpPr>
          <p:cNvPr id="297" name="Text 24"/>
          <p:cNvSpPr txBox="1"/>
          <p:nvPr/>
        </p:nvSpPr>
        <p:spPr>
          <a:xfrm>
            <a:off x="3467100" y="7473791"/>
            <a:ext cx="4793533" cy="73914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77823">
              <a:lnSpc>
                <a:spcPct val="115000"/>
              </a:lnSpc>
              <a:defRPr b="1" spc="-96" sz="2304">
                <a:solidFill>
                  <a:srgbClr val="11243C"/>
                </a:solidFill>
                <a:latin typeface="Arial"/>
                <a:ea typeface="Arial"/>
                <a:cs typeface="Arial"/>
                <a:sym typeface="Arial"/>
              </a:defRPr>
            </a:lvl1pPr>
          </a:lstStyle>
          <a:p>
            <a:pPr/>
            <a:r>
              <a:t>Workload ceilings with backpressure</a:t>
            </a:r>
          </a:p>
        </p:txBody>
      </p:sp>
      <p:sp>
        <p:nvSpPr>
          <p:cNvPr id="298" name="Text 25"/>
          <p:cNvSpPr txBox="1"/>
          <p:nvPr/>
        </p:nvSpPr>
        <p:spPr>
          <a:xfrm>
            <a:off x="8502015" y="7491413"/>
            <a:ext cx="8902276" cy="706756"/>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135000"/>
              </a:lnSpc>
              <a:defRPr sz="1900">
                <a:solidFill>
                  <a:srgbClr val="3D4659"/>
                </a:solidFill>
                <a:latin typeface="Arial"/>
                <a:ea typeface="Arial"/>
                <a:cs typeface="Arial"/>
                <a:sym typeface="Arial"/>
              </a:defRPr>
            </a:lvl1pPr>
          </a:lstStyle>
          <a:p>
            <a:pPr/>
            <a:r>
              <a:t>Routing refuses additional outputs to a saturated reviewer. Converts an indicator into an enforcement mechanism.</a:t>
            </a:r>
          </a:p>
        </p:txBody>
      </p:sp>
      <p:sp>
        <p:nvSpPr>
          <p:cNvPr id="299" name="Text 26"/>
          <p:cNvSpPr txBox="1"/>
          <p:nvPr/>
        </p:nvSpPr>
        <p:spPr>
          <a:xfrm>
            <a:off x="902970" y="8976359"/>
            <a:ext cx="16482061" cy="35814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gn="ctr">
              <a:lnSpc>
                <a:spcPct val="140000"/>
              </a:lnSpc>
              <a:defRPr i="1">
                <a:solidFill>
                  <a:srgbClr val="7A7363"/>
                </a:solidFill>
                <a:latin typeface="Arial"/>
                <a:ea typeface="Arial"/>
                <a:cs typeface="Arial"/>
                <a:sym typeface="Arial"/>
              </a:defRPr>
            </a:lvl1pPr>
          </a:lstStyle>
          <a:p>
            <a:pPr/>
            <a:r>
              <a:t>All can be built with current workflow infrastructure and existing logging.</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AF5E7"/>
        </a:solidFill>
      </p:bgPr>
    </p:bg>
    <p:spTree>
      <p:nvGrpSpPr>
        <p:cNvPr id="1" name=""/>
        <p:cNvGrpSpPr/>
        <p:nvPr/>
      </p:nvGrpSpPr>
      <p:grpSpPr>
        <a:xfrm>
          <a:off x="0" y="0"/>
          <a:ext cx="0" cy="0"/>
          <a:chOff x="0" y="0"/>
          <a:chExt cx="0" cy="0"/>
        </a:xfrm>
      </p:grpSpPr>
      <p:sp>
        <p:nvSpPr>
          <p:cNvPr id="303" name="Shape 0"/>
          <p:cNvSpPr/>
          <p:nvPr/>
        </p:nvSpPr>
        <p:spPr>
          <a:xfrm>
            <a:off x="0" y="0"/>
            <a:ext cx="18288000" cy="819150"/>
          </a:xfrm>
          <a:prstGeom prst="rect">
            <a:avLst/>
          </a:prstGeom>
          <a:solidFill>
            <a:srgbClr val="0D2340"/>
          </a:solidFill>
          <a:ln w="12700">
            <a:miter lim="400000"/>
          </a:ln>
        </p:spPr>
        <p:txBody>
          <a:bodyPr lIns="45719" rIns="45719"/>
          <a:lstStyle/>
          <a:p>
            <a:pPr/>
          </a:p>
        </p:txBody>
      </p:sp>
      <p:sp>
        <p:nvSpPr>
          <p:cNvPr id="304" name="Text 1"/>
          <p:cNvSpPr txBox="1"/>
          <p:nvPr/>
        </p:nvSpPr>
        <p:spPr>
          <a:xfrm>
            <a:off x="12441395" y="240982"/>
            <a:ext cx="417195" cy="38481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140000"/>
              </a:lnSpc>
              <a:defRPr b="1" spc="300" sz="1900">
                <a:solidFill>
                  <a:srgbClr val="ECC833"/>
                </a:solidFill>
                <a:latin typeface="Arial"/>
                <a:ea typeface="Arial"/>
                <a:cs typeface="Arial"/>
                <a:sym typeface="Arial"/>
              </a:defRPr>
            </a:lvl1pPr>
          </a:lstStyle>
          <a:p>
            <a:pPr/>
            <a:r>
              <a:t>03</a:t>
            </a:r>
          </a:p>
        </p:txBody>
      </p:sp>
      <p:sp>
        <p:nvSpPr>
          <p:cNvPr id="305" name="Text 2"/>
          <p:cNvSpPr txBox="1"/>
          <p:nvPr/>
        </p:nvSpPr>
        <p:spPr>
          <a:xfrm>
            <a:off x="12915741" y="231457"/>
            <a:ext cx="184627" cy="38481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140000"/>
              </a:lnSpc>
              <a:defRPr spc="300" sz="1900">
                <a:solidFill>
                  <a:srgbClr val="FFFDF2">
                    <a:alpha val="40000"/>
                  </a:srgbClr>
                </a:solidFill>
                <a:latin typeface="Arial"/>
                <a:ea typeface="Arial"/>
                <a:cs typeface="Arial"/>
                <a:sym typeface="Arial"/>
              </a:defRPr>
            </a:lvl1pPr>
          </a:lstStyle>
          <a:p>
            <a:pPr/>
            <a:r>
              <a:t>/</a:t>
            </a:r>
          </a:p>
        </p:txBody>
      </p:sp>
      <p:sp>
        <p:nvSpPr>
          <p:cNvPr id="306" name="Text 3"/>
          <p:cNvSpPr txBox="1"/>
          <p:nvPr/>
        </p:nvSpPr>
        <p:spPr>
          <a:xfrm>
            <a:off x="13157517" y="233361"/>
            <a:ext cx="4107108" cy="40005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defTabSz="886968">
              <a:lnSpc>
                <a:spcPct val="140000"/>
              </a:lnSpc>
              <a:defRPr b="1" spc="291" sz="1843">
                <a:solidFill>
                  <a:srgbClr val="FFFDF2">
                    <a:alpha val="92000"/>
                  </a:srgbClr>
                </a:solidFill>
                <a:latin typeface="Arial"/>
                <a:ea typeface="Arial"/>
                <a:cs typeface="Arial"/>
                <a:sym typeface="Arial"/>
              </a:defRPr>
            </a:lvl1pPr>
          </a:lstStyle>
          <a:p>
            <a:pPr/>
            <a:r>
              <a:t>TOWARD INSTRUMENTATION</a:t>
            </a:r>
          </a:p>
        </p:txBody>
      </p:sp>
      <p:sp>
        <p:nvSpPr>
          <p:cNvPr id="307" name="Text 4"/>
          <p:cNvSpPr txBox="1"/>
          <p:nvPr/>
        </p:nvSpPr>
        <p:spPr>
          <a:xfrm>
            <a:off x="1143000" y="1200149"/>
            <a:ext cx="16482061" cy="830582"/>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104000"/>
              </a:lnSpc>
              <a:defRPr b="1" spc="-90" sz="5400">
                <a:solidFill>
                  <a:srgbClr val="11243C"/>
                </a:solidFill>
                <a:latin typeface="Arial"/>
                <a:ea typeface="Arial"/>
                <a:cs typeface="Arial"/>
                <a:sym typeface="Arial"/>
              </a:defRPr>
            </a:lvl1pPr>
          </a:lstStyle>
          <a:p>
            <a:pPr/>
            <a:r>
              <a:t>Three partnership types.</a:t>
            </a:r>
          </a:p>
        </p:txBody>
      </p:sp>
      <p:sp>
        <p:nvSpPr>
          <p:cNvPr id="308" name="Text 5"/>
          <p:cNvSpPr txBox="1"/>
          <p:nvPr/>
        </p:nvSpPr>
        <p:spPr>
          <a:xfrm>
            <a:off x="1143000" y="2106929"/>
            <a:ext cx="14716125" cy="398146"/>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135000"/>
              </a:lnSpc>
              <a:defRPr i="1" sz="2100">
                <a:solidFill>
                  <a:srgbClr val="7A7363"/>
                </a:solidFill>
                <a:latin typeface="Arial"/>
                <a:ea typeface="Arial"/>
                <a:cs typeface="Arial"/>
                <a:sym typeface="Arial"/>
              </a:defRPr>
            </a:lvl1pPr>
          </a:lstStyle>
          <a:p>
            <a:pPr/>
            <a:r>
              <a:t>Shaped by experience teaching and working in enterprise deployments.</a:t>
            </a:r>
          </a:p>
        </p:txBody>
      </p:sp>
      <p:sp>
        <p:nvSpPr>
          <p:cNvPr id="309" name="Shape 6"/>
          <p:cNvSpPr/>
          <p:nvPr/>
        </p:nvSpPr>
        <p:spPr>
          <a:xfrm>
            <a:off x="1209675" y="2962275"/>
            <a:ext cx="133350" cy="133350"/>
          </a:xfrm>
          <a:prstGeom prst="rect">
            <a:avLst/>
          </a:prstGeom>
          <a:solidFill>
            <a:srgbClr val="1D6657"/>
          </a:solidFill>
          <a:ln w="12700">
            <a:miter lim="400000"/>
          </a:ln>
        </p:spPr>
        <p:txBody>
          <a:bodyPr lIns="45719" rIns="45719"/>
          <a:lstStyle/>
          <a:p>
            <a:pPr/>
          </a:p>
        </p:txBody>
      </p:sp>
      <p:sp>
        <p:nvSpPr>
          <p:cNvPr id="310" name="Text 7"/>
          <p:cNvSpPr txBox="1"/>
          <p:nvPr/>
        </p:nvSpPr>
        <p:spPr>
          <a:xfrm>
            <a:off x="1638299" y="2809874"/>
            <a:ext cx="15971903" cy="876175"/>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p>
            <a:pPr>
              <a:lnSpc>
                <a:spcPct val="135000"/>
              </a:lnSpc>
              <a:defRPr b="1" sz="2400">
                <a:solidFill>
                  <a:srgbClr val="1D6657"/>
                </a:solidFill>
                <a:latin typeface="Arial"/>
                <a:ea typeface="Arial"/>
                <a:cs typeface="Arial"/>
                <a:sym typeface="Arial"/>
              </a:defRPr>
            </a:pPr>
            <a:r>
              <a:t>Deployment-context partners </a:t>
            </a:r>
            <a:r>
              <a:rPr b="0">
                <a:solidFill>
                  <a:srgbClr val="11243C"/>
                </a:solidFill>
              </a:rPr>
              <a:t>instrument oversight quality in operational settings, under structural-and-aggregate constraints.</a:t>
            </a:r>
          </a:p>
        </p:txBody>
      </p:sp>
      <p:sp>
        <p:nvSpPr>
          <p:cNvPr id="311" name="Shape 8"/>
          <p:cNvSpPr/>
          <p:nvPr/>
        </p:nvSpPr>
        <p:spPr>
          <a:xfrm>
            <a:off x="1209675" y="4137659"/>
            <a:ext cx="133350" cy="133351"/>
          </a:xfrm>
          <a:prstGeom prst="rect">
            <a:avLst/>
          </a:prstGeom>
          <a:solidFill>
            <a:srgbClr val="1D6657"/>
          </a:solidFill>
          <a:ln w="12700">
            <a:miter lim="400000"/>
          </a:ln>
        </p:spPr>
        <p:txBody>
          <a:bodyPr lIns="45719" rIns="45719"/>
          <a:lstStyle/>
          <a:p>
            <a:pPr/>
          </a:p>
        </p:txBody>
      </p:sp>
      <p:sp>
        <p:nvSpPr>
          <p:cNvPr id="312" name="Text 9"/>
          <p:cNvSpPr txBox="1"/>
          <p:nvPr/>
        </p:nvSpPr>
        <p:spPr>
          <a:xfrm>
            <a:off x="1638299" y="3985259"/>
            <a:ext cx="15971903" cy="876175"/>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p>
            <a:pPr>
              <a:lnSpc>
                <a:spcPct val="135000"/>
              </a:lnSpc>
              <a:defRPr b="1" sz="2400">
                <a:solidFill>
                  <a:srgbClr val="1D6657"/>
                </a:solidFill>
                <a:latin typeface="Arial"/>
                <a:ea typeface="Arial"/>
                <a:cs typeface="Arial"/>
                <a:sym typeface="Arial"/>
              </a:defRPr>
            </a:pPr>
            <a:r>
              <a:t>Regulatory and standards partners </a:t>
            </a:r>
            <a:r>
              <a:rPr b="0">
                <a:solidFill>
                  <a:srgbClr val="11243C"/>
                </a:solidFill>
              </a:rPr>
              <a:t>work on making oversight requirements functionally rather than procedurally auditable.</a:t>
            </a:r>
          </a:p>
        </p:txBody>
      </p:sp>
      <p:sp>
        <p:nvSpPr>
          <p:cNvPr id="313" name="Shape 10"/>
          <p:cNvSpPr/>
          <p:nvPr/>
        </p:nvSpPr>
        <p:spPr>
          <a:xfrm>
            <a:off x="1209675" y="5313045"/>
            <a:ext cx="133350" cy="133351"/>
          </a:xfrm>
          <a:prstGeom prst="rect">
            <a:avLst/>
          </a:prstGeom>
          <a:solidFill>
            <a:srgbClr val="1D6657"/>
          </a:solidFill>
          <a:ln w="12700">
            <a:miter lim="400000"/>
          </a:ln>
        </p:spPr>
        <p:txBody>
          <a:bodyPr lIns="45719" rIns="45719"/>
          <a:lstStyle/>
          <a:p>
            <a:pPr/>
          </a:p>
        </p:txBody>
      </p:sp>
      <p:sp>
        <p:nvSpPr>
          <p:cNvPr id="314" name="Text 11"/>
          <p:cNvSpPr txBox="1"/>
          <p:nvPr/>
        </p:nvSpPr>
        <p:spPr>
          <a:xfrm>
            <a:off x="1638299" y="5160645"/>
            <a:ext cx="15971903" cy="459106"/>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p>
            <a:pPr>
              <a:lnSpc>
                <a:spcPct val="135000"/>
              </a:lnSpc>
              <a:defRPr b="1" sz="2400">
                <a:solidFill>
                  <a:srgbClr val="1D6657"/>
                </a:solidFill>
                <a:latin typeface="Arial"/>
                <a:ea typeface="Arial"/>
                <a:cs typeface="Arial"/>
                <a:sym typeface="Arial"/>
              </a:defRPr>
            </a:pPr>
            <a:r>
              <a:t>Methodological partners </a:t>
            </a:r>
            <a:r>
              <a:rPr b="0">
                <a:solidFill>
                  <a:srgbClr val="11243C"/>
                </a:solidFill>
              </a:rPr>
              <a:t>bring expertise on the cognitive dynamics of evaluative judgment under fluent-text review.</a:t>
            </a:r>
          </a:p>
        </p:txBody>
      </p:sp>
      <p:sp>
        <p:nvSpPr>
          <p:cNvPr id="315" name="Shape 12"/>
          <p:cNvSpPr/>
          <p:nvPr/>
        </p:nvSpPr>
        <p:spPr>
          <a:xfrm>
            <a:off x="1143000" y="5922962"/>
            <a:ext cx="16002000" cy="12701"/>
          </a:xfrm>
          <a:prstGeom prst="rect">
            <a:avLst/>
          </a:prstGeom>
          <a:solidFill>
            <a:srgbClr val="C8C0A8"/>
          </a:solidFill>
          <a:ln w="12700">
            <a:miter lim="400000"/>
          </a:ln>
        </p:spPr>
        <p:txBody>
          <a:bodyPr lIns="45719" rIns="45719"/>
          <a:lstStyle/>
          <a:p>
            <a:pPr/>
          </a:p>
        </p:txBody>
      </p:sp>
      <p:sp>
        <p:nvSpPr>
          <p:cNvPr id="316" name="Text 13"/>
          <p:cNvSpPr txBox="1"/>
          <p:nvPr/>
        </p:nvSpPr>
        <p:spPr>
          <a:xfrm>
            <a:off x="1143000" y="6143625"/>
            <a:ext cx="16482061" cy="929639"/>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77823">
              <a:lnSpc>
                <a:spcPct val="130000"/>
              </a:lnSpc>
              <a:defRPr b="1" spc="-96" sz="2592">
                <a:solidFill>
                  <a:srgbClr val="B8451E"/>
                </a:solidFill>
                <a:latin typeface="Arial"/>
                <a:ea typeface="Arial"/>
                <a:cs typeface="Arial"/>
                <a:sym typeface="Arial"/>
              </a:defRPr>
            </a:lvl1pPr>
          </a:lstStyle>
          <a:p>
            <a:pPr/>
            <a:r>
              <a:t>Process compliance was the right thing to measure when the risk was non-compliance. It is not the right thing to measure when the risk is procedural compliance coexisting with functional absence.</a:t>
            </a:r>
          </a:p>
        </p:txBody>
      </p:sp>
      <p:sp>
        <p:nvSpPr>
          <p:cNvPr id="317" name="Shape 14"/>
          <p:cNvSpPr/>
          <p:nvPr/>
        </p:nvSpPr>
        <p:spPr>
          <a:xfrm>
            <a:off x="1143000" y="7300277"/>
            <a:ext cx="16002000" cy="12701"/>
          </a:xfrm>
          <a:prstGeom prst="rect">
            <a:avLst/>
          </a:prstGeom>
          <a:solidFill>
            <a:srgbClr val="C8C0A8"/>
          </a:solidFill>
          <a:ln w="12700">
            <a:miter lim="400000"/>
          </a:ln>
        </p:spPr>
        <p:txBody>
          <a:bodyPr lIns="45719" rIns="45719"/>
          <a:lstStyle/>
          <a:p>
            <a:pPr/>
          </a:p>
        </p:txBody>
      </p:sp>
      <p:sp>
        <p:nvSpPr>
          <p:cNvPr id="318" name="Text 15"/>
          <p:cNvSpPr txBox="1"/>
          <p:nvPr/>
        </p:nvSpPr>
        <p:spPr>
          <a:xfrm>
            <a:off x="902970" y="7520940"/>
            <a:ext cx="16482061" cy="35814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gn="ctr">
              <a:lnSpc>
                <a:spcPct val="140000"/>
              </a:lnSpc>
              <a:defRPr b="1" spc="500">
                <a:solidFill>
                  <a:srgbClr val="1D6657"/>
                </a:solidFill>
                <a:latin typeface="Arial"/>
                <a:ea typeface="Arial"/>
                <a:cs typeface="Arial"/>
                <a:sym typeface="Arial"/>
              </a:defRPr>
            </a:lvl1pPr>
          </a:lstStyle>
          <a:p>
            <a:pPr/>
            <a:r>
              <a:t>SCAN TO FOLLOW UP</a:t>
            </a:r>
          </a:p>
        </p:txBody>
      </p:sp>
      <p:sp>
        <p:nvSpPr>
          <p:cNvPr id="319" name="Shape 16"/>
          <p:cNvSpPr/>
          <p:nvPr/>
        </p:nvSpPr>
        <p:spPr>
          <a:xfrm>
            <a:off x="1211898" y="7993380"/>
            <a:ext cx="1390651" cy="1390651"/>
          </a:xfrm>
          <a:prstGeom prst="rect">
            <a:avLst/>
          </a:prstGeom>
          <a:solidFill>
            <a:srgbClr val="FFFFFF"/>
          </a:solidFill>
          <a:ln>
            <a:solidFill>
              <a:srgbClr val="C8C0A8"/>
            </a:solidFill>
          </a:ln>
        </p:spPr>
        <p:txBody>
          <a:bodyPr lIns="45719" rIns="45719"/>
          <a:lstStyle/>
          <a:p>
            <a:pPr/>
          </a:p>
        </p:txBody>
      </p:sp>
      <p:pic>
        <p:nvPicPr>
          <p:cNvPr id="320" name="Image 0" descr="Image 0"/>
          <p:cNvPicPr>
            <a:picLocks noChangeAspect="1"/>
          </p:cNvPicPr>
          <p:nvPr/>
        </p:nvPicPr>
        <p:blipFill>
          <a:blip r:embed="rId3">
            <a:extLst/>
          </a:blip>
          <a:stretch>
            <a:fillRect/>
          </a:stretch>
        </p:blipFill>
        <p:spPr>
          <a:xfrm>
            <a:off x="1278573" y="8060055"/>
            <a:ext cx="1257301" cy="1257301"/>
          </a:xfrm>
          <a:prstGeom prst="rect">
            <a:avLst/>
          </a:prstGeom>
          <a:ln w="12700">
            <a:miter lim="400000"/>
          </a:ln>
        </p:spPr>
      </p:pic>
      <p:sp>
        <p:nvSpPr>
          <p:cNvPr id="321" name="Text 17"/>
          <p:cNvSpPr txBox="1"/>
          <p:nvPr/>
        </p:nvSpPr>
        <p:spPr>
          <a:xfrm>
            <a:off x="2812097" y="8397240"/>
            <a:ext cx="3232970" cy="26670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768095">
              <a:defRPr b="1" sz="1512">
                <a:solidFill>
                  <a:srgbClr val="11243C"/>
                </a:solidFill>
                <a:latin typeface="Arial"/>
                <a:ea typeface="Arial"/>
                <a:cs typeface="Arial"/>
                <a:sym typeface="Arial"/>
              </a:defRPr>
            </a:lvl1pPr>
          </a:lstStyle>
          <a:p>
            <a:pPr/>
            <a:r>
              <a:t>Full paper</a:t>
            </a:r>
          </a:p>
        </p:txBody>
      </p:sp>
      <p:sp>
        <p:nvSpPr>
          <p:cNvPr id="322" name="Text 18"/>
          <p:cNvSpPr txBox="1"/>
          <p:nvPr/>
        </p:nvSpPr>
        <p:spPr>
          <a:xfrm>
            <a:off x="2812097" y="8682990"/>
            <a:ext cx="3232970" cy="33528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130000"/>
              </a:lnSpc>
              <a:defRPr>
                <a:solidFill>
                  <a:srgbClr val="7A7363"/>
                </a:solidFill>
                <a:latin typeface="Arial"/>
                <a:ea typeface="Arial"/>
                <a:cs typeface="Arial"/>
                <a:sym typeface="Arial"/>
              </a:defRPr>
            </a:lvl1pPr>
          </a:lstStyle>
          <a:p>
            <a:pPr/>
            <a:r>
              <a:t>OpenReview · Github</a:t>
            </a:r>
          </a:p>
        </p:txBody>
      </p:sp>
      <p:sp>
        <p:nvSpPr>
          <p:cNvPr id="323" name="Shape 19"/>
          <p:cNvSpPr/>
          <p:nvPr/>
        </p:nvSpPr>
        <p:spPr>
          <a:xfrm>
            <a:off x="7104856" y="7993380"/>
            <a:ext cx="1390651" cy="1390651"/>
          </a:xfrm>
          <a:prstGeom prst="rect">
            <a:avLst/>
          </a:prstGeom>
          <a:solidFill>
            <a:srgbClr val="FFFFFF"/>
          </a:solidFill>
          <a:ln>
            <a:solidFill>
              <a:srgbClr val="C8C0A8"/>
            </a:solidFill>
          </a:ln>
        </p:spPr>
        <p:txBody>
          <a:bodyPr lIns="45719" rIns="45719"/>
          <a:lstStyle/>
          <a:p>
            <a:pPr/>
          </a:p>
        </p:txBody>
      </p:sp>
      <p:pic>
        <p:nvPicPr>
          <p:cNvPr id="324" name="Image 1" descr="Image 1"/>
          <p:cNvPicPr>
            <a:picLocks noChangeAspect="1"/>
          </p:cNvPicPr>
          <p:nvPr/>
        </p:nvPicPr>
        <p:blipFill>
          <a:blip r:embed="rId4">
            <a:extLst/>
          </a:blip>
          <a:stretch>
            <a:fillRect/>
          </a:stretch>
        </p:blipFill>
        <p:spPr>
          <a:xfrm>
            <a:off x="7171531" y="8060055"/>
            <a:ext cx="1257301" cy="1257301"/>
          </a:xfrm>
          <a:prstGeom prst="rect">
            <a:avLst/>
          </a:prstGeom>
          <a:ln w="12700">
            <a:miter lim="400000"/>
          </a:ln>
        </p:spPr>
      </p:pic>
      <p:sp>
        <p:nvSpPr>
          <p:cNvPr id="325" name="Text 20"/>
          <p:cNvSpPr txBox="1"/>
          <p:nvPr/>
        </p:nvSpPr>
        <p:spPr>
          <a:xfrm>
            <a:off x="8705056" y="8397240"/>
            <a:ext cx="2554288" cy="26670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768095">
              <a:defRPr b="1" sz="1512">
                <a:solidFill>
                  <a:srgbClr val="11243C"/>
                </a:solidFill>
                <a:latin typeface="Arial"/>
                <a:ea typeface="Arial"/>
                <a:cs typeface="Arial"/>
                <a:sym typeface="Arial"/>
              </a:defRPr>
            </a:lvl1pPr>
          </a:lstStyle>
          <a:p>
            <a:pPr/>
            <a:r>
              <a:t>Follow up</a:t>
            </a:r>
          </a:p>
        </p:txBody>
      </p:sp>
      <p:sp>
        <p:nvSpPr>
          <p:cNvPr id="326" name="Text 21"/>
          <p:cNvSpPr txBox="1"/>
          <p:nvPr/>
        </p:nvSpPr>
        <p:spPr>
          <a:xfrm>
            <a:off x="8705056" y="8682990"/>
            <a:ext cx="2554288" cy="33528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130000"/>
              </a:lnSpc>
              <a:defRPr>
                <a:solidFill>
                  <a:srgbClr val="7A7363"/>
                </a:solidFill>
                <a:latin typeface="Arial"/>
                <a:ea typeface="Arial"/>
                <a:cs typeface="Arial"/>
                <a:sym typeface="Arial"/>
              </a:defRPr>
            </a:lvl1pPr>
          </a:lstStyle>
          <a:p>
            <a:pPr/>
            <a:r>
              <a:t>LinkedIn · btmoriarty</a:t>
            </a:r>
          </a:p>
        </p:txBody>
      </p:sp>
      <p:sp>
        <p:nvSpPr>
          <p:cNvPr id="327" name="Shape 22"/>
          <p:cNvSpPr/>
          <p:nvPr/>
        </p:nvSpPr>
        <p:spPr>
          <a:xfrm>
            <a:off x="12718414" y="7993380"/>
            <a:ext cx="1390651" cy="1390651"/>
          </a:xfrm>
          <a:prstGeom prst="rect">
            <a:avLst/>
          </a:prstGeom>
          <a:solidFill>
            <a:srgbClr val="FFFFFF"/>
          </a:solidFill>
          <a:ln>
            <a:solidFill>
              <a:srgbClr val="C8C0A8"/>
            </a:solidFill>
          </a:ln>
        </p:spPr>
        <p:txBody>
          <a:bodyPr lIns="45719" rIns="45719"/>
          <a:lstStyle/>
          <a:p>
            <a:pPr/>
          </a:p>
        </p:txBody>
      </p:sp>
      <p:pic>
        <p:nvPicPr>
          <p:cNvPr id="328" name="Image 2" descr="Image 2"/>
          <p:cNvPicPr>
            <a:picLocks noChangeAspect="1"/>
          </p:cNvPicPr>
          <p:nvPr/>
        </p:nvPicPr>
        <p:blipFill>
          <a:blip r:embed="rId5">
            <a:extLst/>
          </a:blip>
          <a:stretch>
            <a:fillRect/>
          </a:stretch>
        </p:blipFill>
        <p:spPr>
          <a:xfrm>
            <a:off x="12785089" y="8060055"/>
            <a:ext cx="1257301" cy="1257301"/>
          </a:xfrm>
          <a:prstGeom prst="rect">
            <a:avLst/>
          </a:prstGeom>
          <a:ln w="12700">
            <a:miter lim="400000"/>
          </a:ln>
        </p:spPr>
      </p:pic>
      <p:sp>
        <p:nvSpPr>
          <p:cNvPr id="329" name="Text 23"/>
          <p:cNvSpPr txBox="1"/>
          <p:nvPr/>
        </p:nvSpPr>
        <p:spPr>
          <a:xfrm>
            <a:off x="14318614" y="8397240"/>
            <a:ext cx="2452371" cy="26670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768095">
              <a:defRPr b="1" sz="1512">
                <a:solidFill>
                  <a:srgbClr val="11243C"/>
                </a:solidFill>
                <a:latin typeface="Arial"/>
                <a:ea typeface="Arial"/>
                <a:cs typeface="Arial"/>
                <a:sym typeface="Arial"/>
              </a:defRPr>
            </a:lvl1pPr>
          </a:lstStyle>
          <a:p>
            <a:pPr/>
            <a:r>
              <a:t>This deck</a:t>
            </a:r>
          </a:p>
        </p:txBody>
      </p:sp>
      <p:sp>
        <p:nvSpPr>
          <p:cNvPr id="330" name="Text 24"/>
          <p:cNvSpPr txBox="1"/>
          <p:nvPr/>
        </p:nvSpPr>
        <p:spPr>
          <a:xfrm>
            <a:off x="14318614" y="8682990"/>
            <a:ext cx="2452371" cy="33528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130000"/>
              </a:lnSpc>
              <a:defRPr>
                <a:solidFill>
                  <a:srgbClr val="7A7363"/>
                </a:solidFill>
                <a:latin typeface="Arial"/>
                <a:ea typeface="Arial"/>
                <a:cs typeface="Arial"/>
                <a:sym typeface="Arial"/>
              </a:defRPr>
            </a:lvl1pPr>
          </a:lstStyle>
          <a:p>
            <a:pPr/>
            <a:r>
              <a:t>PPTX</a:t>
            </a:r>
          </a:p>
        </p:txBody>
      </p:sp>
      <p:sp>
        <p:nvSpPr>
          <p:cNvPr id="331" name="Text 25"/>
          <p:cNvSpPr txBox="1"/>
          <p:nvPr/>
        </p:nvSpPr>
        <p:spPr>
          <a:xfrm>
            <a:off x="1142999" y="9700259"/>
            <a:ext cx="8092235" cy="35814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140000"/>
              </a:lnSpc>
              <a:defRPr>
                <a:solidFill>
                  <a:srgbClr val="7A7363"/>
                </a:solidFill>
                <a:latin typeface="Arial"/>
                <a:ea typeface="Arial"/>
                <a:cs typeface="Arial"/>
                <a:sym typeface="Arial"/>
              </a:defRPr>
            </a:lvl1pPr>
          </a:lstStyle>
          <a:p>
            <a:pPr/>
            <a:r>
              <a:t>Brian Moriarty · brian.moriarty@stevens.edu · Stevens Institute of Technology</a:t>
            </a:r>
          </a:p>
        </p:txBody>
      </p:sp>
      <p:sp>
        <p:nvSpPr>
          <p:cNvPr id="332" name="Text 26"/>
          <p:cNvSpPr txBox="1"/>
          <p:nvPr/>
        </p:nvSpPr>
        <p:spPr>
          <a:xfrm>
            <a:off x="13179901" y="9700259"/>
            <a:ext cx="4084052" cy="35814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140000"/>
              </a:lnSpc>
              <a:defRPr>
                <a:solidFill>
                  <a:srgbClr val="7A7363"/>
                </a:solidFill>
                <a:latin typeface="Arial"/>
                <a:ea typeface="Arial"/>
                <a:cs typeface="Arial"/>
                <a:sym typeface="Arial"/>
              </a:defRPr>
            </a:lvl1pPr>
          </a:lstStyle>
          <a:p>
            <a:pPr/>
            <a:r>
              <a:t>AITC 2026 · Nuremberg · June 5 and 6</a:t>
            </a:r>
          </a:p>
        </p:txBody>
      </p:sp>
      <p:pic>
        <p:nvPicPr>
          <p:cNvPr id="333" name="pasted-movie.png" descr="pasted-movie.png"/>
          <p:cNvPicPr>
            <a:picLocks noChangeAspect="1"/>
          </p:cNvPicPr>
          <p:nvPr/>
        </p:nvPicPr>
        <p:blipFill>
          <a:blip r:embed="rId6">
            <a:extLst/>
          </a:blip>
          <a:stretch>
            <a:fillRect/>
          </a:stretch>
        </p:blipFill>
        <p:spPr>
          <a:xfrm>
            <a:off x="12743763" y="8021954"/>
            <a:ext cx="1370064" cy="1370064"/>
          </a:xfrm>
          <a:prstGeom prst="rect">
            <a:avLst/>
          </a:prstGeom>
          <a:ln w="12700">
            <a:miter lim="400000"/>
          </a:ln>
        </p:spPr>
      </p:pic>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
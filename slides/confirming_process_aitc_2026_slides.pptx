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8288000" cy="10287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" name="Shape 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Calibri"/>
      </a:defRPr>
    </a:lvl1pPr>
    <a:lvl2pPr indent="228600" latinLnBrk="0">
      <a:defRPr sz="1200">
        <a:latin typeface="+mj-lt"/>
        <a:ea typeface="+mj-ea"/>
        <a:cs typeface="+mj-cs"/>
        <a:sym typeface="Calibri"/>
      </a:defRPr>
    </a:lvl2pPr>
    <a:lvl3pPr indent="457200" latinLnBrk="0">
      <a:defRPr sz="1200">
        <a:latin typeface="+mj-lt"/>
        <a:ea typeface="+mj-ea"/>
        <a:cs typeface="+mj-cs"/>
        <a:sym typeface="Calibri"/>
      </a:defRPr>
    </a:lvl3pPr>
    <a:lvl4pPr indent="685800" latinLnBrk="0">
      <a:defRPr sz="1200">
        <a:latin typeface="+mj-lt"/>
        <a:ea typeface="+mj-ea"/>
        <a:cs typeface="+mj-cs"/>
        <a:sym typeface="Calibri"/>
      </a:defRPr>
    </a:lvl4pPr>
    <a:lvl5pPr indent="914400" latinLnBrk="0">
      <a:defRPr sz="1200">
        <a:latin typeface="+mj-lt"/>
        <a:ea typeface="+mj-ea"/>
        <a:cs typeface="+mj-cs"/>
        <a:sym typeface="Calibri"/>
      </a:defRPr>
    </a:lvl5pPr>
    <a:lvl6pPr indent="1143000" latinLnBrk="0">
      <a:defRPr sz="1200">
        <a:latin typeface="+mj-lt"/>
        <a:ea typeface="+mj-ea"/>
        <a:cs typeface="+mj-cs"/>
        <a:sym typeface="Calibri"/>
      </a:defRPr>
    </a:lvl6pPr>
    <a:lvl7pPr indent="1371600" latinLnBrk="0">
      <a:defRPr sz="1200">
        <a:latin typeface="+mj-lt"/>
        <a:ea typeface="+mj-ea"/>
        <a:cs typeface="+mj-cs"/>
        <a:sym typeface="Calibri"/>
      </a:defRPr>
    </a:lvl7pPr>
    <a:lvl8pPr indent="1600200" latinLnBrk="0">
      <a:defRPr sz="1200">
        <a:latin typeface="+mj-lt"/>
        <a:ea typeface="+mj-ea"/>
        <a:cs typeface="+mj-cs"/>
        <a:sym typeface="Calibri"/>
      </a:defRPr>
    </a:lvl8pPr>
    <a:lvl9pPr indent="18288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Shape 27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8" name="Shape 28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S1  15-20s  SLOW, settle the room  (no 'thanks for having me')</a:t>
            </a:r>
          </a:p>
          <a:p>
            <a:r>
              <a:t>- Brian Moriarty, Stevens - human oversight of AI, from IT architecture + governance</a:t>
            </a:r>
          </a:p>
          <a:p>
            <a:r>
              <a:t>- the paper = a gap in how we OBSERVE the oversight function (inside the transparency + control infra we already use)</a:t>
            </a:r>
          </a:p>
          <a:p>
            <a:r>
              <a:t>- records show review OCCURRED, not whether it was SUBSTANTIVE (unless someone notices)</a:t>
            </a:r>
          </a:p>
          <a:p>
            <a:r>
              <a:t>- the two cases - real review vs rubber stamp - look identical from the outside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Shape 77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8" name="Shape 78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S2  75-90s  EARN THE ROOM</a:t>
            </a:r>
          </a:p>
          <a:p>
            <a:r>
              <a:t>[PAUSE 3-5s after click - let them read]</a:t>
            </a:r>
          </a:p>
          <a:p>
            <a:r>
              <a:t>- two sample records (abstractions from my finance work) / both pass audit / one engaged ~18 min, one signed off in 6 sec / infra can't tell which</a:t>
            </a:r>
          </a:p>
          <a:p>
            <a:r>
              <a:t>[PAUSE after 'six seconds']</a:t>
            </a:r>
          </a:p>
          <a:p>
            <a:r>
              <a:t>- partly about people - a human-nature matter, older than AI (the 'D' commit msg if you want it)</a:t>
            </a:r>
          </a:p>
          <a:p>
            <a:r>
              <a:t>- the structural point: infra instruments the model + its artifacts, not the cognitive work that gives oversight its safety value</a:t>
            </a:r>
          </a:p>
          <a:p>
            <a:r>
              <a:t>- human side + infra side COMPOUND -&gt; the measurement agenda</a:t>
            </a:r>
          </a:p>
          <a:p>
            <a:r>
              <a:t>- [if asked on time] time = crudest proxy, gamed (tab open 18 min, nothing happened); engagement not observable -&gt; seeded catch-rate + structural conditions</a:t>
            </a:r>
          </a:p>
          <a:p>
            <a:r>
              <a:t>(don't speak over their reading; don't apologize for the samples)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S3  60s  three claims, #2 is the anchor</a:t>
            </a:r>
          </a:p>
          <a:p>
            <a:r>
              <a:t>- 1: oversight is a system component, not an on/off switch (supervisory control: state / workload / calibration / failure modes)</a:t>
            </a:r>
          </a:p>
          <a:p>
            <a:r>
              <a:t>- 2 [SLOW, FULL FORM]: it degrades predictably; the degraded reviewer and the engaged reviewer are observationally identical, absent demonstrative evidence</a:t>
            </a:r>
          </a:p>
          <a:p>
            <a:r>
              <a:t>- 3: detection / interpretability / governance watch the wrong layer (model + outputs); extend that transparency to the oversight layer itself</a:t>
            </a:r>
          </a:p>
          <a:p>
            <a:r>
              <a:t>-&gt; bridge to 4 (only if room lost): 'Take claim two first.'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Shape 191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92" name="Shape 192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S4  75-90s  SECOND REVEAL</a:t>
            </a:r>
          </a:p>
          <a:p>
            <a:r>
              <a:t>- P1 substantive: corrections track quality</a:t>
            </a:r>
          </a:p>
          <a:p>
            <a:r>
              <a:t>- P2 procedural: scanning replaces scrutiny; correction rate drops because the BAR ROSE, not the work</a:t>
            </a:r>
          </a:p>
          <a:p>
            <a:r>
              <a:t>- P3 formality: approval logged with nothing behind it - controller -&gt; confirmer</a:t>
            </a:r>
          </a:p>
          <a:p>
            <a:r>
              <a:t>[POINT at top bar, HOLD] record identical P1 = P3; audit finds every step documented, every approval logged</a:t>
            </a:r>
          </a:p>
          <a:p>
            <a:r>
              <a:t>[PAUSE] no alarm, no threshold crossed, no incident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Shape 237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38" name="Shape 238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S5  60-75s  why current tooling misses it - all three COMPOUND</a:t>
            </a:r>
          </a:p>
          <a:p>
            <a:r>
              <a:t>- detection: LLM fluency smooths over the surface errors it hunts</a:t>
            </a:r>
          </a:p>
          <a:p>
            <a:r>
              <a:t>- interpretability: legible != engaged (Fok &amp; Weld - explanations help only when they let you verify)</a:t>
            </a:r>
          </a:p>
          <a:p>
            <a:r>
              <a:t>- governance: tuned for rule-breaking, not for every-rule-followed-and-thinking-absent</a:t>
            </a:r>
          </a:p>
          <a:p>
            <a:r>
              <a:t>[SLOW, FLAT] this isn't non-compliance - it's boredom / green because green is occurring</a:t>
            </a:r>
          </a:p>
          <a:p>
            <a:r>
              <a:t>- the shift: from instrumenting the model to instrumenting the function safety depends on</a:t>
            </a:r>
          </a:p>
          <a:p>
            <a:r>
              <a:t>-&gt; bridge to 6 (only if room lost): 'So what does instrumenting the oversight layer look like?'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Shape 265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66" name="Shape 266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S6  60-75s  three engagement proxies, built to dodge surveillance</a:t>
            </a:r>
          </a:p>
          <a:p>
            <a:r>
              <a:t>- correction trajectory / validation load / dependency accumulation</a:t>
            </a:r>
          </a:p>
          <a:p>
            <a:r>
              <a:t>- structural + aggregate BY CONSTRUCTION - keeps measurement off individual reviewers (Section 6.3 guardrails)</a:t>
            </a:r>
          </a:p>
          <a:p>
            <a:r>
              <a:t>- caveat: a falling correction rate = degrading OR matured; its own protocol</a:t>
            </a:r>
          </a:p>
          <a:p>
            <a:r>
              <a:t>- design principle: metric &amp; real oversight HARD TO DECOUPLE - Goodhart applies to the instrument too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Shape 300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01" name="Shape 301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S7  60-75s  TIGHTEST - five mechanisms, all buildable today</a:t>
            </a:r>
          </a:p>
          <a:p>
            <a:r>
              <a:t>- buildable with the workflow infra + logging you already have</a:t>
            </a:r>
          </a:p>
          <a:p>
            <a:r>
              <a:t>- 01 seeded [SLOW - strongest]: disagreement rate on planted items tracks engagement on the rest</a:t>
            </a:r>
          </a:p>
          <a:p>
            <a:r>
              <a:t>- 02 onboarding: log corrections before they calibrate - persistent gap = baseline drifted</a:t>
            </a:r>
          </a:p>
          <a:p>
            <a:r>
              <a:t>- 03 dependency: consequence in front of reviewer at the moment of approval</a:t>
            </a:r>
          </a:p>
          <a:p>
            <a:r>
              <a:t>- 04 decision-point: every irreversible action (agentic), not just final output</a:t>
            </a:r>
          </a:p>
          <a:p>
            <a:r>
              <a:t>- 05 ceilings [SLOW]: indicator -&gt; enforcement; router refuses a saturated reviewer</a:t>
            </a:r>
          </a:p>
          <a:p>
            <a:r>
              <a:t>- none validated for certification yet - candidates: deploy / watch / refine</a:t>
            </a:r>
          </a:p>
          <a:p>
            <a:r>
              <a:t>(by beat 4 ~ 35-40s; if behind, jump to 05)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Shape 334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335" name="Shape 335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S8  60-75s  CLOSE - the ask, then the line</a:t>
            </a:r>
          </a:p>
          <a:p>
            <a:r>
              <a:t>- three partners: deployment (structural + aggregate constraints) / regulatory (functionally, not procedurally, auditable - cf. EU AI Act Art 14) / methodological (cognitive dynamics of judgment under fluent-text review)</a:t>
            </a:r>
          </a:p>
          <a:p>
            <a:r>
              <a:t>[SLOW, FULL FORM] process compliance was the right thing to measure when the risk was non-compliance</a:t>
            </a:r>
          </a:p>
          <a:p>
            <a:r>
              <a:t>[PAUSE] it is not the right thing when the process is followed perfectly and the function is gone</a:t>
            </a:r>
          </a:p>
          <a:p>
            <a:r>
              <a:t>- the work = the measurement infra that tells the two states apart</a:t>
            </a:r>
          </a:p>
          <a:p>
            <a:r>
              <a:t>- QR: paper / LinkedIn / deck</a:t>
            </a:r>
          </a:p>
          <a:p>
            <a:r>
              <a:t>Thank you. Happy to take questions. [step back half a step, hands down]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914400" y="138112"/>
            <a:ext cx="16459200" cy="22621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/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914400" y="2400300"/>
            <a:ext cx="16459200" cy="78867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8839200" y="9260681"/>
            <a:ext cx="4267200" cy="547688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/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ransition xmlns:p14="http://schemas.microsoft.com/office/powerpoint/2010/main" spd="med" advClick="1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9pPr>
    </p:titleStyle>
    <p:bodyStyle>
      <a:lvl1pPr marL="342900" marR="0" indent="-3429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783771" marR="0" indent="-326571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1219200" marR="0" indent="-3048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17373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21945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26517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31089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35661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40233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AF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0"/>
          <p:cNvSpPr/>
          <p:nvPr/>
        </p:nvSpPr>
        <p:spPr>
          <a:xfrm>
            <a:off x="0" y="0"/>
            <a:ext cx="18288000" cy="4114800"/>
          </a:xfrm>
          <a:prstGeom prst="rect">
            <a:avLst/>
          </a:prstGeom>
          <a:solidFill>
            <a:srgbClr val="0D2340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1" name="Text 1"/>
          <p:cNvSpPr txBox="1"/>
          <p:nvPr/>
        </p:nvSpPr>
        <p:spPr>
          <a:xfrm>
            <a:off x="1142999" y="171450"/>
            <a:ext cx="16089632" cy="24276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786384">
              <a:lnSpc>
                <a:spcPct val="97995"/>
              </a:lnSpc>
              <a:defRPr b="1" spc="-258" sz="8256">
                <a:solidFill>
                  <a:srgbClr val="FDF6E7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Confirming Process, Missing Function.</a:t>
            </a:r>
          </a:p>
        </p:txBody>
      </p:sp>
      <p:sp>
        <p:nvSpPr>
          <p:cNvPr id="22" name="Text 2"/>
          <p:cNvSpPr txBox="1"/>
          <p:nvPr/>
        </p:nvSpPr>
        <p:spPr>
          <a:xfrm>
            <a:off x="1143000" y="2827654"/>
            <a:ext cx="14716125" cy="11537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77823">
              <a:lnSpc>
                <a:spcPct val="122014"/>
              </a:lnSpc>
              <a:defRPr sz="3455">
                <a:solidFill>
                  <a:srgbClr val="FDF6E7">
                    <a:alpha val="78000"/>
                  </a:srgbClr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The uninstrumented oversight layer in AI transparency and control research.</a:t>
            </a:r>
          </a:p>
        </p:txBody>
      </p:sp>
      <p:pic>
        <p:nvPicPr>
          <p:cNvPr id="23" name="Image 0" descr="Image 0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143000" y="6324600"/>
            <a:ext cx="2648426" cy="3048000"/>
          </a:xfrm>
          <a:prstGeom prst="rect">
            <a:avLst/>
          </a:prstGeom>
          <a:ln w="12700">
            <a:miter lim="400000"/>
          </a:ln>
        </p:spPr>
      </p:pic>
      <p:sp>
        <p:nvSpPr>
          <p:cNvPr id="24" name="Text 3"/>
          <p:cNvSpPr txBox="1"/>
          <p:nvPr/>
        </p:nvSpPr>
        <p:spPr>
          <a:xfrm>
            <a:off x="4629625" y="7628573"/>
            <a:ext cx="12890835" cy="571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04672">
              <a:defRPr b="1" spc="-88" sz="3696">
                <a:solidFill>
                  <a:srgbClr val="11243C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Brian Moriarty</a:t>
            </a:r>
          </a:p>
        </p:txBody>
      </p:sp>
      <p:sp>
        <p:nvSpPr>
          <p:cNvPr id="25" name="Text 4"/>
          <p:cNvSpPr txBox="1"/>
          <p:nvPr/>
        </p:nvSpPr>
        <p:spPr>
          <a:xfrm>
            <a:off x="4629625" y="8295323"/>
            <a:ext cx="12890835" cy="4867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>
              <a:lnSpc>
                <a:spcPct val="120000"/>
              </a:lnSpc>
              <a:defRPr b="1" sz="2800">
                <a:solidFill>
                  <a:srgbClr val="A32638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Stevens </a:t>
            </a:r>
            <a:r>
              <a:rPr b="0">
                <a:solidFill>
                  <a:srgbClr val="3D4659"/>
                </a:solidFill>
              </a:rPr>
              <a:t>Institute of Technology</a:t>
            </a:r>
          </a:p>
        </p:txBody>
      </p:sp>
      <p:sp>
        <p:nvSpPr>
          <p:cNvPr id="26" name="Text 5"/>
          <p:cNvSpPr txBox="1"/>
          <p:nvPr/>
        </p:nvSpPr>
        <p:spPr>
          <a:xfrm>
            <a:off x="4629625" y="8934450"/>
            <a:ext cx="12890835" cy="4191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25000"/>
              </a:lnSpc>
              <a:defRPr sz="2400">
                <a:solidFill>
                  <a:srgbClr val="7A7363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AITC 2026 · Nuremberg · June 5 and 6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AF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0"/>
          <p:cNvSpPr/>
          <p:nvPr/>
        </p:nvSpPr>
        <p:spPr>
          <a:xfrm>
            <a:off x="0" y="0"/>
            <a:ext cx="18288000" cy="819150"/>
          </a:xfrm>
          <a:prstGeom prst="rect">
            <a:avLst/>
          </a:prstGeom>
          <a:solidFill>
            <a:srgbClr val="0D2340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1" name="Text 1"/>
          <p:cNvSpPr txBox="1"/>
          <p:nvPr/>
        </p:nvSpPr>
        <p:spPr>
          <a:xfrm>
            <a:off x="14431168" y="240982"/>
            <a:ext cx="417195" cy="3848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40000"/>
              </a:lnSpc>
              <a:defRPr b="1" spc="300" sz="1900">
                <a:solidFill>
                  <a:srgbClr val="ECC833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01</a:t>
            </a:r>
          </a:p>
        </p:txBody>
      </p:sp>
      <p:sp>
        <p:nvSpPr>
          <p:cNvPr id="32" name="Text 2"/>
          <p:cNvSpPr txBox="1"/>
          <p:nvPr/>
        </p:nvSpPr>
        <p:spPr>
          <a:xfrm>
            <a:off x="14905513" y="231457"/>
            <a:ext cx="184627" cy="3848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40000"/>
              </a:lnSpc>
              <a:defRPr spc="300" sz="1900">
                <a:solidFill>
                  <a:srgbClr val="FFFDF2">
                    <a:alpha val="40000"/>
                  </a:srgbClr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/</a:t>
            </a:r>
          </a:p>
        </p:txBody>
      </p:sp>
      <p:sp>
        <p:nvSpPr>
          <p:cNvPr id="33" name="Text 3"/>
          <p:cNvSpPr txBox="1"/>
          <p:nvPr/>
        </p:nvSpPr>
        <p:spPr>
          <a:xfrm>
            <a:off x="15147289" y="233361"/>
            <a:ext cx="2073911" cy="400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 defTabSz="886968">
              <a:lnSpc>
                <a:spcPct val="140000"/>
              </a:lnSpc>
              <a:defRPr b="1" spc="291" sz="1843">
                <a:solidFill>
                  <a:srgbClr val="FFFDF2">
                    <a:alpha val="92000"/>
                  </a:srgbClr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THE PROBLEM</a:t>
            </a:r>
          </a:p>
        </p:txBody>
      </p:sp>
      <p:sp>
        <p:nvSpPr>
          <p:cNvPr id="34" name="Text 4"/>
          <p:cNvSpPr txBox="1"/>
          <p:nvPr/>
        </p:nvSpPr>
        <p:spPr>
          <a:xfrm>
            <a:off x="1143000" y="1200149"/>
            <a:ext cx="16482061" cy="8305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22959">
              <a:lnSpc>
                <a:spcPct val="104000"/>
              </a:lnSpc>
              <a:defRPr b="1" spc="-90" sz="5400">
                <a:solidFill>
                  <a:srgbClr val="B8451E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Two states, one record.</a:t>
            </a:r>
          </a:p>
        </p:txBody>
      </p:sp>
      <p:sp>
        <p:nvSpPr>
          <p:cNvPr id="35" name="Text 5"/>
          <p:cNvSpPr txBox="1"/>
          <p:nvPr/>
        </p:nvSpPr>
        <p:spPr>
          <a:xfrm>
            <a:off x="1143000" y="2164079"/>
            <a:ext cx="16482061" cy="4543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15000"/>
              </a:lnSpc>
              <a:defRPr sz="2800">
                <a:solidFill>
                  <a:srgbClr val="1D6657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The contrast that matters is obscured in the audit trail.</a:t>
            </a:r>
          </a:p>
        </p:txBody>
      </p:sp>
      <p:sp>
        <p:nvSpPr>
          <p:cNvPr id="36" name="Shape 6"/>
          <p:cNvSpPr/>
          <p:nvPr/>
        </p:nvSpPr>
        <p:spPr>
          <a:xfrm>
            <a:off x="1143000" y="2923221"/>
            <a:ext cx="7696200" cy="5777867"/>
          </a:xfrm>
          <a:prstGeom prst="rect">
            <a:avLst/>
          </a:prstGeom>
          <a:solidFill>
            <a:srgbClr val="FFFCF0"/>
          </a:solidFill>
          <a:ln>
            <a:solidFill>
              <a:srgbClr val="C8C0A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7" name="Shape 7"/>
          <p:cNvSpPr/>
          <p:nvPr/>
        </p:nvSpPr>
        <p:spPr>
          <a:xfrm>
            <a:off x="1152525" y="2932746"/>
            <a:ext cx="7677150" cy="548641"/>
          </a:xfrm>
          <a:prstGeom prst="rect">
            <a:avLst/>
          </a:prstGeom>
          <a:solidFill>
            <a:srgbClr val="B8451E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8" name="Text 8"/>
          <p:cNvSpPr txBox="1"/>
          <p:nvPr/>
        </p:nvSpPr>
        <p:spPr>
          <a:xfrm>
            <a:off x="1381125" y="3047046"/>
            <a:ext cx="7450264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40000"/>
              </a:lnSpc>
              <a:defRPr b="1" spc="500">
                <a:solidFill>
                  <a:srgbClr val="FDF6E7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SAMPLE</a:t>
            </a:r>
          </a:p>
        </p:txBody>
      </p:sp>
      <p:sp>
        <p:nvSpPr>
          <p:cNvPr id="39" name="Text 9"/>
          <p:cNvSpPr txBox="1"/>
          <p:nvPr/>
        </p:nvSpPr>
        <p:spPr>
          <a:xfrm>
            <a:off x="1495424" y="3719512"/>
            <a:ext cx="997269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86968">
              <a:lnSpc>
                <a:spcPct val="140000"/>
              </a:lnSpc>
              <a:defRPr b="1" spc="194" sz="1746">
                <a:solidFill>
                  <a:srgbClr val="7A7363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LANE A</a:t>
            </a:r>
          </a:p>
        </p:txBody>
      </p:sp>
      <p:sp>
        <p:nvSpPr>
          <p:cNvPr id="40" name="Text 10"/>
          <p:cNvSpPr txBox="1"/>
          <p:nvPr/>
        </p:nvSpPr>
        <p:spPr>
          <a:xfrm>
            <a:off x="5313998" y="3709987"/>
            <a:ext cx="3267962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40000"/>
              </a:lnSpc>
              <a:defRPr b="1">
                <a:solidFill>
                  <a:srgbClr val="3D4659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AX-4471 · reviewer #214</a:t>
            </a:r>
          </a:p>
        </p:txBody>
      </p:sp>
      <p:pic>
        <p:nvPicPr>
          <p:cNvPr id="41" name="Image 0" descr="Image 0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3914775" y="4268153"/>
            <a:ext cx="1047750" cy="1047751"/>
          </a:xfrm>
          <a:prstGeom prst="rect">
            <a:avLst/>
          </a:prstGeom>
          <a:ln w="12700">
            <a:miter lim="400000"/>
          </a:ln>
        </p:spPr>
      </p:pic>
      <p:sp>
        <p:nvSpPr>
          <p:cNvPr id="42" name="Shape 11"/>
          <p:cNvSpPr/>
          <p:nvPr/>
        </p:nvSpPr>
        <p:spPr>
          <a:xfrm>
            <a:off x="5229225" y="4372928"/>
            <a:ext cx="838200" cy="838201"/>
          </a:xfrm>
          <a:prstGeom prst="ellipse">
            <a:avLst/>
          </a:prstGeom>
          <a:solidFill>
            <a:srgbClr val="1D6657">
              <a:alpha val="12000"/>
            </a:srgbClr>
          </a:solidFill>
          <a:ln w="19050">
            <a:solidFill>
              <a:srgbClr val="1D6657"/>
            </a:solidFill>
          </a:ln>
        </p:spPr>
        <p:txBody>
          <a:bodyPr lIns="45719" rIns="45719"/>
          <a:lstStyle/>
          <a:p>
            <a:pPr/>
          </a:p>
        </p:txBody>
      </p:sp>
      <p:pic>
        <p:nvPicPr>
          <p:cNvPr id="43" name="Image 1" descr="Image 1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5429250" y="4572953"/>
            <a:ext cx="438150" cy="438151"/>
          </a:xfrm>
          <a:prstGeom prst="rect">
            <a:avLst/>
          </a:prstGeom>
          <a:ln w="12700">
            <a:miter lim="400000"/>
          </a:ln>
        </p:spPr>
      </p:pic>
      <p:sp>
        <p:nvSpPr>
          <p:cNvPr id="44" name="Text 12"/>
          <p:cNvSpPr txBox="1"/>
          <p:nvPr/>
        </p:nvSpPr>
        <p:spPr>
          <a:xfrm>
            <a:off x="1380268" y="5392101"/>
            <a:ext cx="7221664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>
              <a:lnSpc>
                <a:spcPct val="140000"/>
              </a:lnSpc>
              <a:defRPr b="1" spc="200">
                <a:solidFill>
                  <a:srgbClr val="1D6657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ENGAGED · EXAMINED OUTPUT</a:t>
            </a:r>
          </a:p>
        </p:txBody>
      </p:sp>
      <p:sp>
        <p:nvSpPr>
          <p:cNvPr id="45" name="Shape 13"/>
          <p:cNvSpPr/>
          <p:nvPr/>
        </p:nvSpPr>
        <p:spPr>
          <a:xfrm>
            <a:off x="1152525" y="5862955"/>
            <a:ext cx="7677150" cy="12701"/>
          </a:xfrm>
          <a:prstGeom prst="rect">
            <a:avLst/>
          </a:prstGeom>
          <a:solidFill>
            <a:srgbClr val="DCD5C0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6" name="Text 14"/>
          <p:cNvSpPr txBox="1"/>
          <p:nvPr/>
        </p:nvSpPr>
        <p:spPr>
          <a:xfrm>
            <a:off x="1495425" y="6110287"/>
            <a:ext cx="2053907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40000"/>
              </a:lnSpc>
              <a:defRPr b="1" spc="100">
                <a:solidFill>
                  <a:srgbClr val="7A7363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REVIEWED</a:t>
            </a:r>
          </a:p>
        </p:txBody>
      </p:sp>
      <p:sp>
        <p:nvSpPr>
          <p:cNvPr id="47" name="Text 15"/>
          <p:cNvSpPr txBox="1"/>
          <p:nvPr/>
        </p:nvSpPr>
        <p:spPr>
          <a:xfrm>
            <a:off x="3739832" y="6083617"/>
            <a:ext cx="4889352" cy="41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40000"/>
              </a:lnSpc>
              <a:defRPr sz="2100">
                <a:solidFill>
                  <a:srgbClr val="11243C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14 : 32 : 07</a:t>
            </a:r>
          </a:p>
        </p:txBody>
      </p:sp>
      <p:sp>
        <p:nvSpPr>
          <p:cNvPr id="48" name="Text 16"/>
          <p:cNvSpPr txBox="1"/>
          <p:nvPr/>
        </p:nvSpPr>
        <p:spPr>
          <a:xfrm>
            <a:off x="1495425" y="6750367"/>
            <a:ext cx="2053907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40000"/>
              </a:lnSpc>
              <a:defRPr b="1" spc="100">
                <a:solidFill>
                  <a:srgbClr val="7A7363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DECISION</a:t>
            </a:r>
          </a:p>
        </p:txBody>
      </p:sp>
      <p:sp>
        <p:nvSpPr>
          <p:cNvPr id="49" name="Text 17"/>
          <p:cNvSpPr txBox="1"/>
          <p:nvPr/>
        </p:nvSpPr>
        <p:spPr>
          <a:xfrm>
            <a:off x="3739832" y="6723698"/>
            <a:ext cx="4889352" cy="41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40000"/>
              </a:lnSpc>
              <a:defRPr sz="2100">
                <a:solidFill>
                  <a:srgbClr val="11243C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14 : 50 : 14 (+18 min)</a:t>
            </a:r>
          </a:p>
        </p:txBody>
      </p:sp>
      <p:sp>
        <p:nvSpPr>
          <p:cNvPr id="50" name="Text 18"/>
          <p:cNvSpPr txBox="1"/>
          <p:nvPr/>
        </p:nvSpPr>
        <p:spPr>
          <a:xfrm>
            <a:off x="1495425" y="7390448"/>
            <a:ext cx="2053907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50391">
              <a:lnSpc>
                <a:spcPct val="140000"/>
              </a:lnSpc>
              <a:defRPr b="1" spc="93" sz="1674">
                <a:solidFill>
                  <a:srgbClr val="7A7363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DOCUMENTATION</a:t>
            </a:r>
          </a:p>
        </p:txBody>
      </p:sp>
      <p:sp>
        <p:nvSpPr>
          <p:cNvPr id="51" name="Text 19"/>
          <p:cNvSpPr txBox="1"/>
          <p:nvPr/>
        </p:nvSpPr>
        <p:spPr>
          <a:xfrm>
            <a:off x="3739832" y="7363776"/>
            <a:ext cx="4889352" cy="41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40000"/>
              </a:lnSpc>
              <a:defRPr sz="2100">
                <a:solidFill>
                  <a:srgbClr val="11243C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4 of 4 fields</a:t>
            </a:r>
          </a:p>
        </p:txBody>
      </p:sp>
      <p:sp>
        <p:nvSpPr>
          <p:cNvPr id="52" name="Shape 20"/>
          <p:cNvSpPr/>
          <p:nvPr/>
        </p:nvSpPr>
        <p:spPr>
          <a:xfrm>
            <a:off x="1152525" y="7965757"/>
            <a:ext cx="7677150" cy="725806"/>
          </a:xfrm>
          <a:prstGeom prst="rect">
            <a:avLst/>
          </a:prstGeom>
          <a:solidFill>
            <a:srgbClr val="CFE1D3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3" name="Shape 21"/>
          <p:cNvSpPr/>
          <p:nvPr/>
        </p:nvSpPr>
        <p:spPr>
          <a:xfrm>
            <a:off x="1152525" y="7964169"/>
            <a:ext cx="7677150" cy="12701"/>
          </a:xfrm>
          <a:prstGeom prst="rect">
            <a:avLst/>
          </a:prstGeom>
          <a:solidFill>
            <a:srgbClr val="DCD5C0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pic>
        <p:nvPicPr>
          <p:cNvPr id="54" name="Image 2" descr="Image 2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495425" y="8200073"/>
            <a:ext cx="266700" cy="266701"/>
          </a:xfrm>
          <a:prstGeom prst="rect">
            <a:avLst/>
          </a:prstGeom>
          <a:ln w="12700">
            <a:miter lim="400000"/>
          </a:ln>
        </p:spPr>
      </p:pic>
      <p:sp>
        <p:nvSpPr>
          <p:cNvPr id="55" name="Text 22"/>
          <p:cNvSpPr txBox="1"/>
          <p:nvPr/>
        </p:nvSpPr>
        <p:spPr>
          <a:xfrm>
            <a:off x="1895475" y="8138159"/>
            <a:ext cx="2038826" cy="4286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 defTabSz="886968">
              <a:lnSpc>
                <a:spcPct val="140000"/>
              </a:lnSpc>
              <a:defRPr b="1" spc="485" sz="2037">
                <a:solidFill>
                  <a:srgbClr val="2D7A4D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COMPLIANT</a:t>
            </a:r>
          </a:p>
        </p:txBody>
      </p:sp>
      <p:sp>
        <p:nvSpPr>
          <p:cNvPr id="56" name="Shape 23"/>
          <p:cNvSpPr/>
          <p:nvPr/>
        </p:nvSpPr>
        <p:spPr>
          <a:xfrm>
            <a:off x="9448800" y="2923221"/>
            <a:ext cx="7696200" cy="5777867"/>
          </a:xfrm>
          <a:prstGeom prst="rect">
            <a:avLst/>
          </a:prstGeom>
          <a:solidFill>
            <a:srgbClr val="FFFCF0"/>
          </a:solidFill>
          <a:ln>
            <a:solidFill>
              <a:srgbClr val="C8C0A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7" name="Shape 24"/>
          <p:cNvSpPr/>
          <p:nvPr/>
        </p:nvSpPr>
        <p:spPr>
          <a:xfrm>
            <a:off x="9458325" y="2932746"/>
            <a:ext cx="7677150" cy="548641"/>
          </a:xfrm>
          <a:prstGeom prst="rect">
            <a:avLst/>
          </a:prstGeom>
          <a:solidFill>
            <a:srgbClr val="B8451E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8" name="Text 25"/>
          <p:cNvSpPr txBox="1"/>
          <p:nvPr/>
        </p:nvSpPr>
        <p:spPr>
          <a:xfrm>
            <a:off x="9686925" y="3047046"/>
            <a:ext cx="7450264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40000"/>
              </a:lnSpc>
              <a:defRPr b="1" spc="500">
                <a:solidFill>
                  <a:srgbClr val="FDF6E7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SAMPLE</a:t>
            </a:r>
          </a:p>
        </p:txBody>
      </p:sp>
      <p:sp>
        <p:nvSpPr>
          <p:cNvPr id="59" name="Text 26"/>
          <p:cNvSpPr txBox="1"/>
          <p:nvPr/>
        </p:nvSpPr>
        <p:spPr>
          <a:xfrm>
            <a:off x="9801225" y="3719512"/>
            <a:ext cx="1004570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86968">
              <a:lnSpc>
                <a:spcPct val="140000"/>
              </a:lnSpc>
              <a:defRPr b="1" spc="194" sz="1746">
                <a:solidFill>
                  <a:srgbClr val="7A7363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LANE B</a:t>
            </a:r>
          </a:p>
        </p:txBody>
      </p:sp>
      <p:sp>
        <p:nvSpPr>
          <p:cNvPr id="60" name="Text 27"/>
          <p:cNvSpPr txBox="1"/>
          <p:nvPr/>
        </p:nvSpPr>
        <p:spPr>
          <a:xfrm>
            <a:off x="13619798" y="3709987"/>
            <a:ext cx="3267962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40000"/>
              </a:lnSpc>
              <a:defRPr b="1">
                <a:solidFill>
                  <a:srgbClr val="3D4659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AX-4471 · reviewer #338</a:t>
            </a:r>
          </a:p>
        </p:txBody>
      </p:sp>
      <p:pic>
        <p:nvPicPr>
          <p:cNvPr id="61" name="Image 3" descr="Image 3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12220575" y="4268153"/>
            <a:ext cx="1047750" cy="1047751"/>
          </a:xfrm>
          <a:prstGeom prst="rect">
            <a:avLst/>
          </a:prstGeom>
          <a:ln w="12700">
            <a:miter lim="400000"/>
          </a:ln>
        </p:spPr>
      </p:pic>
      <p:sp>
        <p:nvSpPr>
          <p:cNvPr id="62" name="Shape 28"/>
          <p:cNvSpPr/>
          <p:nvPr/>
        </p:nvSpPr>
        <p:spPr>
          <a:xfrm>
            <a:off x="13535025" y="4372928"/>
            <a:ext cx="838200" cy="838201"/>
          </a:xfrm>
          <a:prstGeom prst="ellipse">
            <a:avLst/>
          </a:prstGeom>
          <a:solidFill>
            <a:srgbClr val="7A7363">
              <a:alpha val="12000"/>
            </a:srgbClr>
          </a:solidFill>
          <a:ln w="19050">
            <a:solidFill>
              <a:srgbClr val="7A7363"/>
            </a:solidFill>
            <a:prstDash val="dash"/>
          </a:ln>
        </p:spPr>
        <p:txBody>
          <a:bodyPr lIns="45719" rIns="45719"/>
          <a:lstStyle/>
          <a:p>
            <a:pPr/>
          </a:p>
        </p:txBody>
      </p:sp>
      <p:pic>
        <p:nvPicPr>
          <p:cNvPr id="63" name="Image 4" descr="Image 4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13735050" y="4572953"/>
            <a:ext cx="438150" cy="438151"/>
          </a:xfrm>
          <a:prstGeom prst="rect">
            <a:avLst/>
          </a:prstGeom>
          <a:ln w="12700">
            <a:miter lim="400000"/>
          </a:ln>
        </p:spPr>
      </p:pic>
      <p:sp>
        <p:nvSpPr>
          <p:cNvPr id="64" name="Text 29"/>
          <p:cNvSpPr txBox="1"/>
          <p:nvPr/>
        </p:nvSpPr>
        <p:spPr>
          <a:xfrm>
            <a:off x="9686067" y="5392101"/>
            <a:ext cx="7221665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>
              <a:lnSpc>
                <a:spcPct val="140000"/>
              </a:lnSpc>
              <a:defRPr b="1" spc="200">
                <a:solidFill>
                  <a:srgbClr val="7A7363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NOT ENGAGED · CLICKED THROUGH</a:t>
            </a:r>
          </a:p>
        </p:txBody>
      </p:sp>
      <p:sp>
        <p:nvSpPr>
          <p:cNvPr id="65" name="Shape 30"/>
          <p:cNvSpPr/>
          <p:nvPr/>
        </p:nvSpPr>
        <p:spPr>
          <a:xfrm>
            <a:off x="9458325" y="5862955"/>
            <a:ext cx="7677150" cy="12701"/>
          </a:xfrm>
          <a:prstGeom prst="rect">
            <a:avLst/>
          </a:prstGeom>
          <a:solidFill>
            <a:srgbClr val="DCD5C0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6" name="Text 31"/>
          <p:cNvSpPr txBox="1"/>
          <p:nvPr/>
        </p:nvSpPr>
        <p:spPr>
          <a:xfrm>
            <a:off x="9801225" y="6110287"/>
            <a:ext cx="2053907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40000"/>
              </a:lnSpc>
              <a:defRPr b="1" spc="100">
                <a:solidFill>
                  <a:srgbClr val="7A7363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REVIEWED</a:t>
            </a:r>
          </a:p>
        </p:txBody>
      </p:sp>
      <p:sp>
        <p:nvSpPr>
          <p:cNvPr id="67" name="Text 32"/>
          <p:cNvSpPr txBox="1"/>
          <p:nvPr/>
        </p:nvSpPr>
        <p:spPr>
          <a:xfrm>
            <a:off x="12045632" y="6083617"/>
            <a:ext cx="4889352" cy="41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40000"/>
              </a:lnSpc>
              <a:defRPr sz="2100">
                <a:solidFill>
                  <a:srgbClr val="11243C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14 : 32 : 07</a:t>
            </a:r>
          </a:p>
        </p:txBody>
      </p:sp>
      <p:sp>
        <p:nvSpPr>
          <p:cNvPr id="68" name="Text 33"/>
          <p:cNvSpPr txBox="1"/>
          <p:nvPr/>
        </p:nvSpPr>
        <p:spPr>
          <a:xfrm>
            <a:off x="9801225" y="6750367"/>
            <a:ext cx="2053907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40000"/>
              </a:lnSpc>
              <a:defRPr b="1" spc="100">
                <a:solidFill>
                  <a:srgbClr val="7A7363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DECISION</a:t>
            </a:r>
          </a:p>
        </p:txBody>
      </p:sp>
      <p:sp>
        <p:nvSpPr>
          <p:cNvPr id="69" name="Text 34"/>
          <p:cNvSpPr txBox="1"/>
          <p:nvPr/>
        </p:nvSpPr>
        <p:spPr>
          <a:xfrm>
            <a:off x="12045632" y="6723698"/>
            <a:ext cx="4889352" cy="41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40000"/>
              </a:lnSpc>
              <a:defRPr sz="2100">
                <a:solidFill>
                  <a:srgbClr val="11243C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14 : 32 : 13 (+6 sec)</a:t>
            </a:r>
          </a:p>
        </p:txBody>
      </p:sp>
      <p:sp>
        <p:nvSpPr>
          <p:cNvPr id="70" name="Text 35"/>
          <p:cNvSpPr txBox="1"/>
          <p:nvPr/>
        </p:nvSpPr>
        <p:spPr>
          <a:xfrm>
            <a:off x="9801225" y="7390448"/>
            <a:ext cx="2053907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50391">
              <a:lnSpc>
                <a:spcPct val="140000"/>
              </a:lnSpc>
              <a:defRPr b="1" spc="93" sz="1674">
                <a:solidFill>
                  <a:srgbClr val="7A7363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DOCUMENTATION</a:t>
            </a:r>
          </a:p>
        </p:txBody>
      </p:sp>
      <p:sp>
        <p:nvSpPr>
          <p:cNvPr id="71" name="Text 36"/>
          <p:cNvSpPr txBox="1"/>
          <p:nvPr/>
        </p:nvSpPr>
        <p:spPr>
          <a:xfrm>
            <a:off x="12045632" y="7363776"/>
            <a:ext cx="4889352" cy="4114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40000"/>
              </a:lnSpc>
              <a:defRPr sz="2100">
                <a:solidFill>
                  <a:srgbClr val="11243C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4 of 4 fields</a:t>
            </a:r>
          </a:p>
        </p:txBody>
      </p:sp>
      <p:sp>
        <p:nvSpPr>
          <p:cNvPr id="72" name="Shape 37"/>
          <p:cNvSpPr/>
          <p:nvPr/>
        </p:nvSpPr>
        <p:spPr>
          <a:xfrm>
            <a:off x="9458325" y="7965757"/>
            <a:ext cx="7677150" cy="725806"/>
          </a:xfrm>
          <a:prstGeom prst="rect">
            <a:avLst/>
          </a:prstGeom>
          <a:solidFill>
            <a:srgbClr val="CFE1D3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3" name="Shape 38"/>
          <p:cNvSpPr/>
          <p:nvPr/>
        </p:nvSpPr>
        <p:spPr>
          <a:xfrm>
            <a:off x="9458325" y="7964169"/>
            <a:ext cx="7677150" cy="12701"/>
          </a:xfrm>
          <a:prstGeom prst="rect">
            <a:avLst/>
          </a:prstGeom>
          <a:solidFill>
            <a:srgbClr val="DCD5C0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pic>
        <p:nvPicPr>
          <p:cNvPr id="74" name="Image 5" descr="Image 5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9801225" y="8200073"/>
            <a:ext cx="266700" cy="266701"/>
          </a:xfrm>
          <a:prstGeom prst="rect">
            <a:avLst/>
          </a:prstGeom>
          <a:ln w="12700">
            <a:miter lim="400000"/>
          </a:ln>
        </p:spPr>
      </p:pic>
      <p:sp>
        <p:nvSpPr>
          <p:cNvPr id="75" name="Text 39"/>
          <p:cNvSpPr txBox="1"/>
          <p:nvPr/>
        </p:nvSpPr>
        <p:spPr>
          <a:xfrm>
            <a:off x="10201275" y="8138159"/>
            <a:ext cx="2038826" cy="4286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 defTabSz="886968">
              <a:lnSpc>
                <a:spcPct val="140000"/>
              </a:lnSpc>
              <a:defRPr b="1" spc="485" sz="2037">
                <a:solidFill>
                  <a:srgbClr val="2D7A4D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COMPLIANT</a:t>
            </a:r>
          </a:p>
        </p:txBody>
      </p:sp>
      <p:sp>
        <p:nvSpPr>
          <p:cNvPr id="76" name="Text 40"/>
          <p:cNvSpPr txBox="1"/>
          <p:nvPr/>
        </p:nvSpPr>
        <p:spPr>
          <a:xfrm>
            <a:off x="1785938" y="9082088"/>
            <a:ext cx="14716126" cy="9525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algn="ctr" defTabSz="877823">
              <a:lnSpc>
                <a:spcPct val="131991"/>
              </a:lnSpc>
              <a:defRPr sz="2592">
                <a:solidFill>
                  <a:srgbClr val="11243C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One review took </a:t>
            </a:r>
            <a:r>
              <a:rPr b="1">
                <a:solidFill>
                  <a:srgbClr val="B8451E"/>
                </a:solidFill>
              </a:rPr>
              <a:t>eighteen minutes </a:t>
            </a:r>
            <a:r>
              <a:t>of substantive evaluation. One took </a:t>
            </a:r>
            <a:r>
              <a:rPr b="1">
                <a:solidFill>
                  <a:srgbClr val="B8451E"/>
                </a:solidFill>
              </a:rPr>
              <a:t>six seconds </a:t>
            </a:r>
            <a:r>
              <a:t>of procedural confirmation. The audit record does not distinguish them.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AF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Shape 0"/>
          <p:cNvSpPr/>
          <p:nvPr/>
        </p:nvSpPr>
        <p:spPr>
          <a:xfrm>
            <a:off x="0" y="0"/>
            <a:ext cx="18288000" cy="819150"/>
          </a:xfrm>
          <a:prstGeom prst="rect">
            <a:avLst/>
          </a:prstGeom>
          <a:solidFill>
            <a:srgbClr val="0D2340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1" name="Text 1"/>
          <p:cNvSpPr txBox="1"/>
          <p:nvPr/>
        </p:nvSpPr>
        <p:spPr>
          <a:xfrm>
            <a:off x="14431168" y="240982"/>
            <a:ext cx="417195" cy="3848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40000"/>
              </a:lnSpc>
              <a:defRPr b="1" spc="300" sz="1900">
                <a:solidFill>
                  <a:srgbClr val="ECC833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01</a:t>
            </a:r>
          </a:p>
        </p:txBody>
      </p:sp>
      <p:sp>
        <p:nvSpPr>
          <p:cNvPr id="82" name="Text 2"/>
          <p:cNvSpPr txBox="1"/>
          <p:nvPr/>
        </p:nvSpPr>
        <p:spPr>
          <a:xfrm>
            <a:off x="14905513" y="231457"/>
            <a:ext cx="184627" cy="3848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40000"/>
              </a:lnSpc>
              <a:defRPr spc="300" sz="1900">
                <a:solidFill>
                  <a:srgbClr val="FFFDF2">
                    <a:alpha val="40000"/>
                  </a:srgbClr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/</a:t>
            </a:r>
          </a:p>
        </p:txBody>
      </p:sp>
      <p:sp>
        <p:nvSpPr>
          <p:cNvPr id="83" name="Text 3"/>
          <p:cNvSpPr txBox="1"/>
          <p:nvPr/>
        </p:nvSpPr>
        <p:spPr>
          <a:xfrm>
            <a:off x="15147289" y="233361"/>
            <a:ext cx="2073911" cy="400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 defTabSz="886968">
              <a:lnSpc>
                <a:spcPct val="140000"/>
              </a:lnSpc>
              <a:defRPr b="1" spc="291" sz="1843">
                <a:solidFill>
                  <a:srgbClr val="FFFDF2">
                    <a:alpha val="92000"/>
                  </a:srgbClr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THE PROBLEM</a:t>
            </a:r>
          </a:p>
        </p:txBody>
      </p:sp>
      <p:sp>
        <p:nvSpPr>
          <p:cNvPr id="84" name="Text 4"/>
          <p:cNvSpPr txBox="1"/>
          <p:nvPr/>
        </p:nvSpPr>
        <p:spPr>
          <a:xfrm>
            <a:off x="1143000" y="1200149"/>
            <a:ext cx="16482061" cy="8305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22959">
              <a:lnSpc>
                <a:spcPct val="104000"/>
              </a:lnSpc>
              <a:defRPr b="1" spc="-90" sz="5400">
                <a:solidFill>
                  <a:srgbClr val="11243C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Three claims hold up the paper.</a:t>
            </a:r>
          </a:p>
        </p:txBody>
      </p:sp>
      <p:sp>
        <p:nvSpPr>
          <p:cNvPr id="85" name="Text 5"/>
          <p:cNvSpPr txBox="1"/>
          <p:nvPr/>
        </p:nvSpPr>
        <p:spPr>
          <a:xfrm>
            <a:off x="1828800" y="2439193"/>
            <a:ext cx="1123950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r" defTabSz="786384">
              <a:defRPr b="1" spc="-172" sz="4644">
                <a:solidFill>
                  <a:srgbClr val="1D6657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1.</a:t>
            </a:r>
          </a:p>
        </p:txBody>
      </p:sp>
      <p:sp>
        <p:nvSpPr>
          <p:cNvPr id="86" name="Text 6"/>
          <p:cNvSpPr txBox="1"/>
          <p:nvPr/>
        </p:nvSpPr>
        <p:spPr>
          <a:xfrm>
            <a:off x="3295650" y="2485389"/>
            <a:ext cx="13479971" cy="13584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96111">
              <a:lnSpc>
                <a:spcPct val="121994"/>
              </a:lnSpc>
              <a:defRPr spc="-98" sz="4116">
                <a:solidFill>
                  <a:srgbClr val="11243C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The oversight function is a </a:t>
            </a:r>
            <a:r>
              <a:rPr b="1"/>
              <a:t>system component </a:t>
            </a:r>
            <a:r>
              <a:t>, not a binary switch.</a:t>
            </a:r>
          </a:p>
        </p:txBody>
      </p:sp>
      <p:sp>
        <p:nvSpPr>
          <p:cNvPr id="87" name="Text 7"/>
          <p:cNvSpPr txBox="1"/>
          <p:nvPr/>
        </p:nvSpPr>
        <p:spPr>
          <a:xfrm>
            <a:off x="1828800" y="4415313"/>
            <a:ext cx="1123950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r" defTabSz="786384">
              <a:defRPr b="1" spc="-172" sz="4644">
                <a:solidFill>
                  <a:srgbClr val="1D6657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2.</a:t>
            </a:r>
          </a:p>
        </p:txBody>
      </p:sp>
      <p:sp>
        <p:nvSpPr>
          <p:cNvPr id="88" name="Text 8"/>
          <p:cNvSpPr txBox="1"/>
          <p:nvPr/>
        </p:nvSpPr>
        <p:spPr>
          <a:xfrm>
            <a:off x="3295650" y="4461509"/>
            <a:ext cx="13479971" cy="2009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68680">
              <a:lnSpc>
                <a:spcPct val="121994"/>
              </a:lnSpc>
              <a:defRPr spc="-95" sz="3989">
                <a:solidFill>
                  <a:srgbClr val="11243C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It degrades predictably under operational conditions. The degraded state and the functional state leave </a:t>
            </a:r>
            <a:r>
              <a:rPr b="1">
                <a:solidFill>
                  <a:srgbClr val="B8451E"/>
                </a:solidFill>
              </a:rPr>
              <a:t>identical governance traces</a:t>
            </a:r>
            <a:r>
              <a:t>.</a:t>
            </a:r>
          </a:p>
        </p:txBody>
      </p:sp>
      <p:sp>
        <p:nvSpPr>
          <p:cNvPr id="89" name="Text 9"/>
          <p:cNvSpPr txBox="1"/>
          <p:nvPr/>
        </p:nvSpPr>
        <p:spPr>
          <a:xfrm>
            <a:off x="1828800" y="7042150"/>
            <a:ext cx="1123950" cy="7239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r" defTabSz="786384">
              <a:defRPr b="1" spc="-172" sz="4644">
                <a:solidFill>
                  <a:srgbClr val="1D6657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3.</a:t>
            </a:r>
          </a:p>
        </p:txBody>
      </p:sp>
      <p:sp>
        <p:nvSpPr>
          <p:cNvPr id="90" name="Text 10"/>
          <p:cNvSpPr txBox="1"/>
          <p:nvPr/>
        </p:nvSpPr>
        <p:spPr>
          <a:xfrm>
            <a:off x="3295650" y="7088345"/>
            <a:ext cx="13479971" cy="20280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 defTabSz="868680">
              <a:lnSpc>
                <a:spcPct val="121994"/>
              </a:lnSpc>
              <a:defRPr spc="-95" sz="3989">
                <a:solidFill>
                  <a:srgbClr val="11243C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Current detection, interpretability, and governance methods do not close the gap, because they </a:t>
            </a:r>
            <a:r>
              <a:rPr b="1">
                <a:solidFill>
                  <a:srgbClr val="B8451E"/>
                </a:solidFill>
              </a:rPr>
              <a:t>instrument the wrong layer </a:t>
            </a:r>
            <a:r>
              <a:t>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AF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Shape 0"/>
          <p:cNvSpPr/>
          <p:nvPr/>
        </p:nvSpPr>
        <p:spPr>
          <a:xfrm>
            <a:off x="0" y="0"/>
            <a:ext cx="18288000" cy="819150"/>
          </a:xfrm>
          <a:prstGeom prst="rect">
            <a:avLst/>
          </a:prstGeom>
          <a:solidFill>
            <a:srgbClr val="0D2340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95" name="Text 1"/>
          <p:cNvSpPr txBox="1"/>
          <p:nvPr/>
        </p:nvSpPr>
        <p:spPr>
          <a:xfrm>
            <a:off x="14514036" y="240982"/>
            <a:ext cx="417195" cy="3848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40000"/>
              </a:lnSpc>
              <a:defRPr b="1" spc="300" sz="1900">
                <a:solidFill>
                  <a:srgbClr val="ECC833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02</a:t>
            </a:r>
          </a:p>
        </p:txBody>
      </p:sp>
      <p:sp>
        <p:nvSpPr>
          <p:cNvPr id="96" name="Text 2"/>
          <p:cNvSpPr txBox="1"/>
          <p:nvPr/>
        </p:nvSpPr>
        <p:spPr>
          <a:xfrm>
            <a:off x="14988381" y="231457"/>
            <a:ext cx="184627" cy="3848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40000"/>
              </a:lnSpc>
              <a:defRPr spc="300" sz="1900">
                <a:solidFill>
                  <a:srgbClr val="FFFDF2">
                    <a:alpha val="40000"/>
                  </a:srgbClr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/</a:t>
            </a:r>
          </a:p>
        </p:txBody>
      </p:sp>
      <p:sp>
        <p:nvSpPr>
          <p:cNvPr id="97" name="Text 3"/>
          <p:cNvSpPr txBox="1"/>
          <p:nvPr/>
        </p:nvSpPr>
        <p:spPr>
          <a:xfrm>
            <a:off x="15230158" y="233361"/>
            <a:ext cx="1991044" cy="400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 defTabSz="886968">
              <a:lnSpc>
                <a:spcPct val="140000"/>
              </a:lnSpc>
              <a:defRPr b="1" spc="291" sz="1843">
                <a:solidFill>
                  <a:srgbClr val="FFFDF2">
                    <a:alpha val="92000"/>
                  </a:srgbClr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THE PATTERN</a:t>
            </a:r>
          </a:p>
        </p:txBody>
      </p:sp>
      <p:sp>
        <p:nvSpPr>
          <p:cNvPr id="98" name="Text 4"/>
          <p:cNvSpPr txBox="1"/>
          <p:nvPr/>
        </p:nvSpPr>
        <p:spPr>
          <a:xfrm>
            <a:off x="1143000" y="1200149"/>
            <a:ext cx="16482061" cy="8305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22959">
              <a:lnSpc>
                <a:spcPct val="104000"/>
              </a:lnSpc>
              <a:defRPr b="1" spc="-90" sz="5400">
                <a:solidFill>
                  <a:srgbClr val="11243C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Behavior degrades. The record stays uniform.</a:t>
            </a:r>
          </a:p>
        </p:txBody>
      </p:sp>
      <p:sp>
        <p:nvSpPr>
          <p:cNvPr id="99" name="Shape 5"/>
          <p:cNvSpPr/>
          <p:nvPr/>
        </p:nvSpPr>
        <p:spPr>
          <a:xfrm>
            <a:off x="1143000" y="2259329"/>
            <a:ext cx="5029200" cy="1550671"/>
          </a:xfrm>
          <a:prstGeom prst="rect">
            <a:avLst/>
          </a:prstGeom>
          <a:solidFill>
            <a:srgbClr val="FFFCF0"/>
          </a:solidFill>
          <a:ln>
            <a:solidFill>
              <a:srgbClr val="C8C0A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00" name="Text 6"/>
          <p:cNvSpPr txBox="1"/>
          <p:nvPr/>
        </p:nvSpPr>
        <p:spPr>
          <a:xfrm>
            <a:off x="1381125" y="2440304"/>
            <a:ext cx="4689539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40000"/>
              </a:lnSpc>
              <a:defRPr b="1" spc="300">
                <a:solidFill>
                  <a:srgbClr val="7A7363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GOVERNANCE RECORD</a:t>
            </a:r>
          </a:p>
        </p:txBody>
      </p:sp>
      <p:sp>
        <p:nvSpPr>
          <p:cNvPr id="101" name="Text 7"/>
          <p:cNvSpPr txBox="1"/>
          <p:nvPr/>
        </p:nvSpPr>
        <p:spPr>
          <a:xfrm>
            <a:off x="1381124" y="2874645"/>
            <a:ext cx="899162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40000"/>
              </a:lnSpc>
              <a:defRPr>
                <a:solidFill>
                  <a:srgbClr val="11243C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status</a:t>
            </a:r>
          </a:p>
        </p:txBody>
      </p:sp>
      <p:sp>
        <p:nvSpPr>
          <p:cNvPr id="102" name="Text 8"/>
          <p:cNvSpPr txBox="1"/>
          <p:nvPr/>
        </p:nvSpPr>
        <p:spPr>
          <a:xfrm>
            <a:off x="4699634" y="2874645"/>
            <a:ext cx="1310641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40000"/>
              </a:lnSpc>
              <a:defRPr b="1">
                <a:solidFill>
                  <a:srgbClr val="2D7A4D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COMPLIANT</a:t>
            </a:r>
          </a:p>
        </p:txBody>
      </p:sp>
      <p:sp>
        <p:nvSpPr>
          <p:cNvPr id="103" name="Text 9"/>
          <p:cNvSpPr txBox="1"/>
          <p:nvPr/>
        </p:nvSpPr>
        <p:spPr>
          <a:xfrm>
            <a:off x="1381124" y="3270884"/>
            <a:ext cx="1310642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40000"/>
              </a:lnSpc>
              <a:defRPr>
                <a:solidFill>
                  <a:srgbClr val="11243C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approvals</a:t>
            </a:r>
          </a:p>
        </p:txBody>
      </p:sp>
      <p:sp>
        <p:nvSpPr>
          <p:cNvPr id="104" name="Text 10"/>
          <p:cNvSpPr txBox="1"/>
          <p:nvPr/>
        </p:nvSpPr>
        <p:spPr>
          <a:xfrm>
            <a:off x="5659754" y="3270884"/>
            <a:ext cx="350521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40000"/>
              </a:lnSpc>
              <a:defRPr>
                <a:solidFill>
                  <a:srgbClr val="11243C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47</a:t>
            </a:r>
          </a:p>
        </p:txBody>
      </p:sp>
      <p:sp>
        <p:nvSpPr>
          <p:cNvPr id="105" name="Shape 11"/>
          <p:cNvSpPr/>
          <p:nvPr/>
        </p:nvSpPr>
        <p:spPr>
          <a:xfrm>
            <a:off x="6629400" y="2259329"/>
            <a:ext cx="5029200" cy="1550671"/>
          </a:xfrm>
          <a:prstGeom prst="rect">
            <a:avLst/>
          </a:prstGeom>
          <a:solidFill>
            <a:srgbClr val="FFFCF0"/>
          </a:solidFill>
          <a:ln>
            <a:solidFill>
              <a:srgbClr val="C8C0A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06" name="Text 12"/>
          <p:cNvSpPr txBox="1"/>
          <p:nvPr/>
        </p:nvSpPr>
        <p:spPr>
          <a:xfrm>
            <a:off x="6867525" y="2440304"/>
            <a:ext cx="4689539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40000"/>
              </a:lnSpc>
              <a:defRPr b="1" spc="300">
                <a:solidFill>
                  <a:srgbClr val="7A7363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GOVERNANCE RECORD</a:t>
            </a:r>
          </a:p>
        </p:txBody>
      </p:sp>
      <p:sp>
        <p:nvSpPr>
          <p:cNvPr id="107" name="Text 13"/>
          <p:cNvSpPr txBox="1"/>
          <p:nvPr/>
        </p:nvSpPr>
        <p:spPr>
          <a:xfrm>
            <a:off x="6867524" y="2874645"/>
            <a:ext cx="899162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40000"/>
              </a:lnSpc>
              <a:defRPr>
                <a:solidFill>
                  <a:srgbClr val="11243C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status</a:t>
            </a:r>
          </a:p>
        </p:txBody>
      </p:sp>
      <p:sp>
        <p:nvSpPr>
          <p:cNvPr id="108" name="Text 14"/>
          <p:cNvSpPr txBox="1"/>
          <p:nvPr/>
        </p:nvSpPr>
        <p:spPr>
          <a:xfrm>
            <a:off x="10186034" y="2874645"/>
            <a:ext cx="1310641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40000"/>
              </a:lnSpc>
              <a:defRPr b="1">
                <a:solidFill>
                  <a:srgbClr val="2D7A4D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COMPLIANT</a:t>
            </a:r>
          </a:p>
        </p:txBody>
      </p:sp>
      <p:sp>
        <p:nvSpPr>
          <p:cNvPr id="109" name="Text 15"/>
          <p:cNvSpPr txBox="1"/>
          <p:nvPr/>
        </p:nvSpPr>
        <p:spPr>
          <a:xfrm>
            <a:off x="6867524" y="3270884"/>
            <a:ext cx="1310642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40000"/>
              </a:lnSpc>
              <a:defRPr>
                <a:solidFill>
                  <a:srgbClr val="11243C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approvals</a:t>
            </a:r>
          </a:p>
        </p:txBody>
      </p:sp>
      <p:sp>
        <p:nvSpPr>
          <p:cNvPr id="110" name="Text 16"/>
          <p:cNvSpPr txBox="1"/>
          <p:nvPr/>
        </p:nvSpPr>
        <p:spPr>
          <a:xfrm>
            <a:off x="11146155" y="3270884"/>
            <a:ext cx="350521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40000"/>
              </a:lnSpc>
              <a:defRPr>
                <a:solidFill>
                  <a:srgbClr val="11243C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47</a:t>
            </a:r>
          </a:p>
        </p:txBody>
      </p:sp>
      <p:sp>
        <p:nvSpPr>
          <p:cNvPr id="111" name="Shape 17"/>
          <p:cNvSpPr/>
          <p:nvPr/>
        </p:nvSpPr>
        <p:spPr>
          <a:xfrm>
            <a:off x="12115800" y="2259329"/>
            <a:ext cx="5029200" cy="1550671"/>
          </a:xfrm>
          <a:prstGeom prst="rect">
            <a:avLst/>
          </a:prstGeom>
          <a:solidFill>
            <a:srgbClr val="FFFCF0"/>
          </a:solidFill>
          <a:ln>
            <a:solidFill>
              <a:srgbClr val="C8C0A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12" name="Text 18"/>
          <p:cNvSpPr txBox="1"/>
          <p:nvPr/>
        </p:nvSpPr>
        <p:spPr>
          <a:xfrm>
            <a:off x="12353925" y="2440304"/>
            <a:ext cx="4689539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40000"/>
              </a:lnSpc>
              <a:defRPr b="1" spc="300">
                <a:solidFill>
                  <a:srgbClr val="7A7363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GOVERNANCE RECORD</a:t>
            </a:r>
          </a:p>
        </p:txBody>
      </p:sp>
      <p:sp>
        <p:nvSpPr>
          <p:cNvPr id="113" name="Text 19"/>
          <p:cNvSpPr txBox="1"/>
          <p:nvPr/>
        </p:nvSpPr>
        <p:spPr>
          <a:xfrm>
            <a:off x="12353924" y="2874645"/>
            <a:ext cx="899162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40000"/>
              </a:lnSpc>
              <a:defRPr>
                <a:solidFill>
                  <a:srgbClr val="11243C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status</a:t>
            </a:r>
          </a:p>
        </p:txBody>
      </p:sp>
      <p:sp>
        <p:nvSpPr>
          <p:cNvPr id="114" name="Text 20"/>
          <p:cNvSpPr txBox="1"/>
          <p:nvPr/>
        </p:nvSpPr>
        <p:spPr>
          <a:xfrm>
            <a:off x="15672435" y="2874645"/>
            <a:ext cx="1310641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40000"/>
              </a:lnSpc>
              <a:defRPr b="1">
                <a:solidFill>
                  <a:srgbClr val="2D7A4D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COMPLIANT</a:t>
            </a:r>
          </a:p>
        </p:txBody>
      </p:sp>
      <p:sp>
        <p:nvSpPr>
          <p:cNvPr id="115" name="Text 21"/>
          <p:cNvSpPr txBox="1"/>
          <p:nvPr/>
        </p:nvSpPr>
        <p:spPr>
          <a:xfrm>
            <a:off x="12353924" y="3270884"/>
            <a:ext cx="1310642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40000"/>
              </a:lnSpc>
              <a:defRPr>
                <a:solidFill>
                  <a:srgbClr val="11243C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approvals</a:t>
            </a:r>
          </a:p>
        </p:txBody>
      </p:sp>
      <p:sp>
        <p:nvSpPr>
          <p:cNvPr id="116" name="Text 22"/>
          <p:cNvSpPr txBox="1"/>
          <p:nvPr/>
        </p:nvSpPr>
        <p:spPr>
          <a:xfrm>
            <a:off x="16632555" y="3270884"/>
            <a:ext cx="350521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40000"/>
              </a:lnSpc>
              <a:defRPr>
                <a:solidFill>
                  <a:srgbClr val="11243C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/>
            <a:r>
              <a:t>47</a:t>
            </a:r>
          </a:p>
        </p:txBody>
      </p:sp>
      <p:pic>
        <p:nvPicPr>
          <p:cNvPr id="117" name="Image 0" descr="Image 0"/>
          <p:cNvPicPr>
            <a:picLocks noChangeAspect="1"/>
          </p:cNvPicPr>
          <p:nvPr/>
        </p:nvPicPr>
        <p:blipFill>
          <a:blip r:embed="rId3">
            <a:alphaModFix amt="70000"/>
            <a:extLst/>
          </a:blip>
          <a:stretch>
            <a:fillRect/>
          </a:stretch>
        </p:blipFill>
        <p:spPr>
          <a:xfrm>
            <a:off x="1143000" y="3943350"/>
            <a:ext cx="5029200" cy="171450"/>
          </a:xfrm>
          <a:prstGeom prst="rect">
            <a:avLst/>
          </a:prstGeom>
          <a:ln w="12700">
            <a:miter lim="400000"/>
          </a:ln>
        </p:spPr>
      </p:pic>
      <p:pic>
        <p:nvPicPr>
          <p:cNvPr id="118" name="Image 1" descr="Image 1"/>
          <p:cNvPicPr>
            <a:picLocks noChangeAspect="1"/>
          </p:cNvPicPr>
          <p:nvPr/>
        </p:nvPicPr>
        <p:blipFill>
          <a:blip r:embed="rId3">
            <a:alphaModFix amt="70000"/>
            <a:extLst/>
          </a:blip>
          <a:stretch>
            <a:fillRect/>
          </a:stretch>
        </p:blipFill>
        <p:spPr>
          <a:xfrm>
            <a:off x="6629400" y="3943350"/>
            <a:ext cx="5029200" cy="171450"/>
          </a:xfrm>
          <a:prstGeom prst="rect">
            <a:avLst/>
          </a:prstGeom>
          <a:ln w="12700">
            <a:miter lim="400000"/>
          </a:ln>
        </p:spPr>
      </p:pic>
      <p:sp>
        <p:nvSpPr>
          <p:cNvPr id="119" name="Shape 23"/>
          <p:cNvSpPr/>
          <p:nvPr/>
        </p:nvSpPr>
        <p:spPr>
          <a:xfrm>
            <a:off x="1143000" y="4248149"/>
            <a:ext cx="5029200" cy="3489168"/>
          </a:xfrm>
          <a:prstGeom prst="rect">
            <a:avLst/>
          </a:prstGeom>
          <a:solidFill>
            <a:srgbClr val="FFFCF0"/>
          </a:solidFill>
          <a:ln>
            <a:solidFill>
              <a:srgbClr val="C8C0A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20" name="Shape 24"/>
          <p:cNvSpPr/>
          <p:nvPr/>
        </p:nvSpPr>
        <p:spPr>
          <a:xfrm>
            <a:off x="1152525" y="4257675"/>
            <a:ext cx="5010150" cy="996314"/>
          </a:xfrm>
          <a:prstGeom prst="rect">
            <a:avLst/>
          </a:prstGeom>
          <a:solidFill>
            <a:srgbClr val="1D6657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21" name="Text 25"/>
          <p:cNvSpPr txBox="1"/>
          <p:nvPr/>
        </p:nvSpPr>
        <p:spPr>
          <a:xfrm>
            <a:off x="1381124" y="4410074"/>
            <a:ext cx="1268573" cy="3581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40000"/>
              </a:lnSpc>
              <a:defRPr b="1" spc="300">
                <a:solidFill>
                  <a:srgbClr val="FDF6E7">
                    <a:alpha val="85000"/>
                  </a:srgbClr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PHASE 1</a:t>
            </a:r>
          </a:p>
        </p:txBody>
      </p:sp>
      <p:sp>
        <p:nvSpPr>
          <p:cNvPr id="122" name="Text 26"/>
          <p:cNvSpPr txBox="1"/>
          <p:nvPr/>
        </p:nvSpPr>
        <p:spPr>
          <a:xfrm>
            <a:off x="1381124" y="4787265"/>
            <a:ext cx="3203539" cy="3524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77823">
              <a:lnSpc>
                <a:spcPct val="110000"/>
              </a:lnSpc>
              <a:defRPr b="1" spc="-96" sz="2112">
                <a:solidFill>
                  <a:srgbClr val="FDF6E7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Substantive Engagement</a:t>
            </a:r>
          </a:p>
        </p:txBody>
      </p:sp>
      <p:sp>
        <p:nvSpPr>
          <p:cNvPr id="123" name="Shape 27"/>
          <p:cNvSpPr/>
          <p:nvPr/>
        </p:nvSpPr>
        <p:spPr>
          <a:xfrm>
            <a:off x="1152525" y="5253990"/>
            <a:ext cx="5010150" cy="1400176"/>
          </a:xfrm>
          <a:prstGeom prst="rect">
            <a:avLst/>
          </a:prstGeom>
          <a:solidFill>
            <a:srgbClr val="F1EAD4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24" name="Shape 28"/>
          <p:cNvSpPr/>
          <p:nvPr/>
        </p:nvSpPr>
        <p:spPr>
          <a:xfrm>
            <a:off x="1152525" y="6643052"/>
            <a:ext cx="5010150" cy="12701"/>
          </a:xfrm>
          <a:prstGeom prst="rect">
            <a:avLst/>
          </a:prstGeom>
          <a:solidFill>
            <a:srgbClr val="DCD5C0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25" name="Shape 29"/>
          <p:cNvSpPr/>
          <p:nvPr/>
        </p:nvSpPr>
        <p:spPr>
          <a:xfrm>
            <a:off x="1381125" y="5756909"/>
            <a:ext cx="250191" cy="754381"/>
          </a:xfrm>
          <a:prstGeom prst="roundRect">
            <a:avLst>
              <a:gd name="adj" fmla="val 7614"/>
            </a:avLst>
          </a:prstGeom>
          <a:solidFill>
            <a:srgbClr val="1D6657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26" name="Shape 30"/>
          <p:cNvSpPr/>
          <p:nvPr/>
        </p:nvSpPr>
        <p:spPr>
          <a:xfrm>
            <a:off x="1688464" y="5589270"/>
            <a:ext cx="250191" cy="922021"/>
          </a:xfrm>
          <a:prstGeom prst="roundRect">
            <a:avLst>
              <a:gd name="adj" fmla="val 7614"/>
            </a:avLst>
          </a:prstGeom>
          <a:solidFill>
            <a:srgbClr val="1D6657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27" name="Shape 31"/>
          <p:cNvSpPr/>
          <p:nvPr/>
        </p:nvSpPr>
        <p:spPr>
          <a:xfrm>
            <a:off x="1995804" y="5924550"/>
            <a:ext cx="250191" cy="586741"/>
          </a:xfrm>
          <a:prstGeom prst="roundRect">
            <a:avLst>
              <a:gd name="adj" fmla="val 7614"/>
            </a:avLst>
          </a:prstGeom>
          <a:solidFill>
            <a:srgbClr val="1D6657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28" name="Shape 32"/>
          <p:cNvSpPr/>
          <p:nvPr/>
        </p:nvSpPr>
        <p:spPr>
          <a:xfrm>
            <a:off x="2303145" y="5547359"/>
            <a:ext cx="250191" cy="963931"/>
          </a:xfrm>
          <a:prstGeom prst="roundRect">
            <a:avLst>
              <a:gd name="adj" fmla="val 7614"/>
            </a:avLst>
          </a:prstGeom>
          <a:solidFill>
            <a:srgbClr val="1D6657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29" name="Shape 33"/>
          <p:cNvSpPr/>
          <p:nvPr/>
        </p:nvSpPr>
        <p:spPr>
          <a:xfrm>
            <a:off x="2610485" y="5840729"/>
            <a:ext cx="250191" cy="670561"/>
          </a:xfrm>
          <a:prstGeom prst="roundRect">
            <a:avLst>
              <a:gd name="adj" fmla="val 7614"/>
            </a:avLst>
          </a:prstGeom>
          <a:solidFill>
            <a:srgbClr val="1D6657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30" name="Shape 34"/>
          <p:cNvSpPr/>
          <p:nvPr/>
        </p:nvSpPr>
        <p:spPr>
          <a:xfrm>
            <a:off x="2917825" y="5694045"/>
            <a:ext cx="250191" cy="817246"/>
          </a:xfrm>
          <a:prstGeom prst="roundRect">
            <a:avLst>
              <a:gd name="adj" fmla="val 7614"/>
            </a:avLst>
          </a:prstGeom>
          <a:solidFill>
            <a:srgbClr val="1D6657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31" name="Shape 35"/>
          <p:cNvSpPr/>
          <p:nvPr/>
        </p:nvSpPr>
        <p:spPr>
          <a:xfrm>
            <a:off x="3225164" y="5631179"/>
            <a:ext cx="250191" cy="880111"/>
          </a:xfrm>
          <a:prstGeom prst="roundRect">
            <a:avLst>
              <a:gd name="adj" fmla="val 7614"/>
            </a:avLst>
          </a:prstGeom>
          <a:solidFill>
            <a:srgbClr val="1D6657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32" name="Shape 36"/>
          <p:cNvSpPr/>
          <p:nvPr/>
        </p:nvSpPr>
        <p:spPr>
          <a:xfrm>
            <a:off x="3532504" y="5987415"/>
            <a:ext cx="250191" cy="523876"/>
          </a:xfrm>
          <a:prstGeom prst="roundRect">
            <a:avLst>
              <a:gd name="adj" fmla="val 7614"/>
            </a:avLst>
          </a:prstGeom>
          <a:solidFill>
            <a:srgbClr val="1D6657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33" name="Shape 37"/>
          <p:cNvSpPr/>
          <p:nvPr/>
        </p:nvSpPr>
        <p:spPr>
          <a:xfrm>
            <a:off x="3839845" y="5568315"/>
            <a:ext cx="250191" cy="942976"/>
          </a:xfrm>
          <a:prstGeom prst="roundRect">
            <a:avLst>
              <a:gd name="adj" fmla="val 7614"/>
            </a:avLst>
          </a:prstGeom>
          <a:solidFill>
            <a:srgbClr val="1D6657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34" name="Shape 38"/>
          <p:cNvSpPr/>
          <p:nvPr/>
        </p:nvSpPr>
        <p:spPr>
          <a:xfrm>
            <a:off x="4147184" y="5798820"/>
            <a:ext cx="250191" cy="712471"/>
          </a:xfrm>
          <a:prstGeom prst="roundRect">
            <a:avLst>
              <a:gd name="adj" fmla="val 7614"/>
            </a:avLst>
          </a:prstGeom>
          <a:solidFill>
            <a:srgbClr val="1D6657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35" name="Shape 39"/>
          <p:cNvSpPr/>
          <p:nvPr/>
        </p:nvSpPr>
        <p:spPr>
          <a:xfrm>
            <a:off x="4454525" y="5652134"/>
            <a:ext cx="250191" cy="859156"/>
          </a:xfrm>
          <a:prstGeom prst="roundRect">
            <a:avLst>
              <a:gd name="adj" fmla="val 7614"/>
            </a:avLst>
          </a:prstGeom>
          <a:solidFill>
            <a:srgbClr val="1D6657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36" name="Shape 40"/>
          <p:cNvSpPr/>
          <p:nvPr/>
        </p:nvSpPr>
        <p:spPr>
          <a:xfrm>
            <a:off x="4761865" y="5882640"/>
            <a:ext cx="250191" cy="628651"/>
          </a:xfrm>
          <a:prstGeom prst="roundRect">
            <a:avLst>
              <a:gd name="adj" fmla="val 7614"/>
            </a:avLst>
          </a:prstGeom>
          <a:solidFill>
            <a:srgbClr val="1D6657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37" name="Shape 41"/>
          <p:cNvSpPr/>
          <p:nvPr/>
        </p:nvSpPr>
        <p:spPr>
          <a:xfrm>
            <a:off x="5069204" y="5610225"/>
            <a:ext cx="250191" cy="901065"/>
          </a:xfrm>
          <a:prstGeom prst="roundRect">
            <a:avLst>
              <a:gd name="adj" fmla="val 7614"/>
            </a:avLst>
          </a:prstGeom>
          <a:solidFill>
            <a:srgbClr val="1D6657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38" name="Shape 42"/>
          <p:cNvSpPr/>
          <p:nvPr/>
        </p:nvSpPr>
        <p:spPr>
          <a:xfrm>
            <a:off x="5376545" y="5735954"/>
            <a:ext cx="250191" cy="775336"/>
          </a:xfrm>
          <a:prstGeom prst="roundRect">
            <a:avLst>
              <a:gd name="adj" fmla="val 7614"/>
            </a:avLst>
          </a:prstGeom>
          <a:solidFill>
            <a:srgbClr val="1D6657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39" name="Shape 43"/>
          <p:cNvSpPr/>
          <p:nvPr/>
        </p:nvSpPr>
        <p:spPr>
          <a:xfrm>
            <a:off x="5683884" y="5547359"/>
            <a:ext cx="250191" cy="963931"/>
          </a:xfrm>
          <a:prstGeom prst="roundRect">
            <a:avLst>
              <a:gd name="adj" fmla="val 7614"/>
            </a:avLst>
          </a:prstGeom>
          <a:solidFill>
            <a:srgbClr val="1D6657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40" name="Text 44"/>
          <p:cNvSpPr txBox="1"/>
          <p:nvPr/>
        </p:nvSpPr>
        <p:spPr>
          <a:xfrm>
            <a:off x="1381124" y="6808151"/>
            <a:ext cx="3769619" cy="400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 defTabSz="886968">
              <a:lnSpc>
                <a:spcPct val="131987"/>
              </a:lnSpc>
              <a:defRPr sz="1843">
                <a:solidFill>
                  <a:srgbClr val="11243C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Catches errors. Modifies. Escalates.</a:t>
            </a:r>
          </a:p>
        </p:txBody>
      </p:sp>
      <p:sp>
        <p:nvSpPr>
          <p:cNvPr id="141" name="Text 45"/>
          <p:cNvSpPr txBox="1"/>
          <p:nvPr/>
        </p:nvSpPr>
        <p:spPr>
          <a:xfrm>
            <a:off x="1381125" y="7209631"/>
            <a:ext cx="4689539" cy="3467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5000"/>
              </a:lnSpc>
              <a:defRPr>
                <a:solidFill>
                  <a:srgbClr val="7A7363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Takes time and attention.</a:t>
            </a:r>
          </a:p>
        </p:txBody>
      </p:sp>
      <p:sp>
        <p:nvSpPr>
          <p:cNvPr id="142" name="Shape 46"/>
          <p:cNvSpPr/>
          <p:nvPr/>
        </p:nvSpPr>
        <p:spPr>
          <a:xfrm>
            <a:off x="6629400" y="4248149"/>
            <a:ext cx="5029200" cy="3489168"/>
          </a:xfrm>
          <a:prstGeom prst="rect">
            <a:avLst/>
          </a:prstGeom>
          <a:solidFill>
            <a:srgbClr val="FFFCF0"/>
          </a:solidFill>
          <a:ln>
            <a:solidFill>
              <a:srgbClr val="C8C0A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43" name="Shape 47"/>
          <p:cNvSpPr/>
          <p:nvPr/>
        </p:nvSpPr>
        <p:spPr>
          <a:xfrm>
            <a:off x="6638925" y="4257675"/>
            <a:ext cx="5010150" cy="996314"/>
          </a:xfrm>
          <a:prstGeom prst="rect">
            <a:avLst/>
          </a:prstGeom>
          <a:solidFill>
            <a:srgbClr val="7A7363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44" name="Text 48"/>
          <p:cNvSpPr txBox="1"/>
          <p:nvPr/>
        </p:nvSpPr>
        <p:spPr>
          <a:xfrm>
            <a:off x="6867524" y="4410074"/>
            <a:ext cx="1268573" cy="3581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40000"/>
              </a:lnSpc>
              <a:defRPr b="1" spc="300">
                <a:solidFill>
                  <a:srgbClr val="FDF6E7">
                    <a:alpha val="85000"/>
                  </a:srgbClr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PHASE 2</a:t>
            </a:r>
          </a:p>
        </p:txBody>
      </p:sp>
      <p:sp>
        <p:nvSpPr>
          <p:cNvPr id="145" name="Text 49"/>
          <p:cNvSpPr txBox="1"/>
          <p:nvPr/>
        </p:nvSpPr>
        <p:spPr>
          <a:xfrm>
            <a:off x="6867524" y="4787265"/>
            <a:ext cx="2647106" cy="3524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77823">
              <a:lnSpc>
                <a:spcPct val="110000"/>
              </a:lnSpc>
              <a:defRPr b="1" spc="-96" sz="2112">
                <a:solidFill>
                  <a:srgbClr val="FDF6E7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Procedural Scanning</a:t>
            </a:r>
          </a:p>
        </p:txBody>
      </p:sp>
      <p:sp>
        <p:nvSpPr>
          <p:cNvPr id="146" name="Shape 50"/>
          <p:cNvSpPr/>
          <p:nvPr/>
        </p:nvSpPr>
        <p:spPr>
          <a:xfrm>
            <a:off x="6638925" y="5253990"/>
            <a:ext cx="5010150" cy="1400176"/>
          </a:xfrm>
          <a:prstGeom prst="rect">
            <a:avLst/>
          </a:prstGeom>
          <a:solidFill>
            <a:srgbClr val="F1EAD4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47" name="Shape 51"/>
          <p:cNvSpPr/>
          <p:nvPr/>
        </p:nvSpPr>
        <p:spPr>
          <a:xfrm>
            <a:off x="6638925" y="6643052"/>
            <a:ext cx="5010150" cy="12701"/>
          </a:xfrm>
          <a:prstGeom prst="rect">
            <a:avLst/>
          </a:prstGeom>
          <a:solidFill>
            <a:srgbClr val="DCD5C0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48" name="Shape 52"/>
          <p:cNvSpPr/>
          <p:nvPr/>
        </p:nvSpPr>
        <p:spPr>
          <a:xfrm>
            <a:off x="6867525" y="6239033"/>
            <a:ext cx="250191" cy="272257"/>
          </a:xfrm>
          <a:prstGeom prst="roundRect">
            <a:avLst>
              <a:gd name="adj" fmla="val 7614"/>
            </a:avLst>
          </a:prstGeom>
          <a:solidFill>
            <a:srgbClr val="C08A2E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49" name="Shape 53"/>
          <p:cNvSpPr/>
          <p:nvPr/>
        </p:nvSpPr>
        <p:spPr>
          <a:xfrm>
            <a:off x="7174865" y="6492240"/>
            <a:ext cx="250191" cy="19051"/>
          </a:xfrm>
          <a:prstGeom prst="roundRect">
            <a:avLst>
              <a:gd name="adj" fmla="val 50000"/>
            </a:avLst>
          </a:prstGeom>
          <a:solidFill>
            <a:srgbClr val="C08A2E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50" name="Shape 54"/>
          <p:cNvSpPr/>
          <p:nvPr/>
        </p:nvSpPr>
        <p:spPr>
          <a:xfrm>
            <a:off x="7482205" y="6155054"/>
            <a:ext cx="250191" cy="356236"/>
          </a:xfrm>
          <a:prstGeom prst="roundRect">
            <a:avLst>
              <a:gd name="adj" fmla="val 7614"/>
            </a:avLst>
          </a:prstGeom>
          <a:solidFill>
            <a:srgbClr val="C08A2E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51" name="Shape 55"/>
          <p:cNvSpPr/>
          <p:nvPr/>
        </p:nvSpPr>
        <p:spPr>
          <a:xfrm>
            <a:off x="7789544" y="6492240"/>
            <a:ext cx="250191" cy="19051"/>
          </a:xfrm>
          <a:prstGeom prst="roundRect">
            <a:avLst>
              <a:gd name="adj" fmla="val 50000"/>
            </a:avLst>
          </a:prstGeom>
          <a:solidFill>
            <a:srgbClr val="C08A2E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52" name="Shape 56"/>
          <p:cNvSpPr/>
          <p:nvPr/>
        </p:nvSpPr>
        <p:spPr>
          <a:xfrm>
            <a:off x="8096884" y="6280784"/>
            <a:ext cx="250191" cy="230506"/>
          </a:xfrm>
          <a:prstGeom prst="roundRect">
            <a:avLst>
              <a:gd name="adj" fmla="val 8264"/>
            </a:avLst>
          </a:prstGeom>
          <a:solidFill>
            <a:srgbClr val="C08A2E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53" name="Shape 57"/>
          <p:cNvSpPr/>
          <p:nvPr/>
        </p:nvSpPr>
        <p:spPr>
          <a:xfrm>
            <a:off x="8404225" y="6492240"/>
            <a:ext cx="250191" cy="19051"/>
          </a:xfrm>
          <a:prstGeom prst="roundRect">
            <a:avLst>
              <a:gd name="adj" fmla="val 50000"/>
            </a:avLst>
          </a:prstGeom>
          <a:solidFill>
            <a:srgbClr val="C08A2E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54" name="Shape 58"/>
          <p:cNvSpPr/>
          <p:nvPr/>
        </p:nvSpPr>
        <p:spPr>
          <a:xfrm>
            <a:off x="8711565" y="6322695"/>
            <a:ext cx="250191" cy="188596"/>
          </a:xfrm>
          <a:prstGeom prst="roundRect">
            <a:avLst>
              <a:gd name="adj" fmla="val 10101"/>
            </a:avLst>
          </a:prstGeom>
          <a:solidFill>
            <a:srgbClr val="C08A2E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55" name="Shape 59"/>
          <p:cNvSpPr/>
          <p:nvPr/>
        </p:nvSpPr>
        <p:spPr>
          <a:xfrm>
            <a:off x="9018905" y="6196965"/>
            <a:ext cx="250191" cy="314326"/>
          </a:xfrm>
          <a:prstGeom prst="roundRect">
            <a:avLst>
              <a:gd name="adj" fmla="val 7614"/>
            </a:avLst>
          </a:prstGeom>
          <a:solidFill>
            <a:srgbClr val="C08A2E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56" name="Shape 60"/>
          <p:cNvSpPr/>
          <p:nvPr/>
        </p:nvSpPr>
        <p:spPr>
          <a:xfrm>
            <a:off x="9326244" y="6492240"/>
            <a:ext cx="250191" cy="19051"/>
          </a:xfrm>
          <a:prstGeom prst="roundRect">
            <a:avLst>
              <a:gd name="adj" fmla="val 50000"/>
            </a:avLst>
          </a:prstGeom>
          <a:solidFill>
            <a:srgbClr val="C08A2E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57" name="Shape 61"/>
          <p:cNvSpPr/>
          <p:nvPr/>
        </p:nvSpPr>
        <p:spPr>
          <a:xfrm>
            <a:off x="9633584" y="6343650"/>
            <a:ext cx="250191" cy="167640"/>
          </a:xfrm>
          <a:prstGeom prst="roundRect">
            <a:avLst>
              <a:gd name="adj" fmla="val 11364"/>
            </a:avLst>
          </a:prstGeom>
          <a:solidFill>
            <a:srgbClr val="C08A2E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58" name="Shape 62"/>
          <p:cNvSpPr/>
          <p:nvPr/>
        </p:nvSpPr>
        <p:spPr>
          <a:xfrm>
            <a:off x="9940925" y="6492240"/>
            <a:ext cx="250191" cy="19051"/>
          </a:xfrm>
          <a:prstGeom prst="roundRect">
            <a:avLst>
              <a:gd name="adj" fmla="val 50000"/>
            </a:avLst>
          </a:prstGeom>
          <a:solidFill>
            <a:srgbClr val="C08A2E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59" name="Shape 63"/>
          <p:cNvSpPr/>
          <p:nvPr/>
        </p:nvSpPr>
        <p:spPr>
          <a:xfrm>
            <a:off x="10248265" y="6259829"/>
            <a:ext cx="250191" cy="251461"/>
          </a:xfrm>
          <a:prstGeom prst="roundRect">
            <a:avLst>
              <a:gd name="adj" fmla="val 7614"/>
            </a:avLst>
          </a:prstGeom>
          <a:solidFill>
            <a:srgbClr val="C08A2E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60" name="Shape 64"/>
          <p:cNvSpPr/>
          <p:nvPr/>
        </p:nvSpPr>
        <p:spPr>
          <a:xfrm>
            <a:off x="10555605" y="6492240"/>
            <a:ext cx="250191" cy="19051"/>
          </a:xfrm>
          <a:prstGeom prst="roundRect">
            <a:avLst>
              <a:gd name="adj" fmla="val 50000"/>
            </a:avLst>
          </a:prstGeom>
          <a:solidFill>
            <a:srgbClr val="C08A2E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61" name="Shape 65"/>
          <p:cNvSpPr/>
          <p:nvPr/>
        </p:nvSpPr>
        <p:spPr>
          <a:xfrm>
            <a:off x="10862944" y="6364604"/>
            <a:ext cx="250191" cy="146686"/>
          </a:xfrm>
          <a:prstGeom prst="roundRect">
            <a:avLst>
              <a:gd name="adj" fmla="val 12987"/>
            </a:avLst>
          </a:prstGeom>
          <a:solidFill>
            <a:srgbClr val="C08A2E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62" name="Shape 66"/>
          <p:cNvSpPr/>
          <p:nvPr/>
        </p:nvSpPr>
        <p:spPr>
          <a:xfrm>
            <a:off x="11170285" y="6492240"/>
            <a:ext cx="250191" cy="19051"/>
          </a:xfrm>
          <a:prstGeom prst="roundRect">
            <a:avLst>
              <a:gd name="adj" fmla="val 50000"/>
            </a:avLst>
          </a:prstGeom>
          <a:solidFill>
            <a:srgbClr val="C08A2E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63" name="Text 67"/>
          <p:cNvSpPr txBox="1"/>
          <p:nvPr/>
        </p:nvSpPr>
        <p:spPr>
          <a:xfrm>
            <a:off x="6867525" y="6808151"/>
            <a:ext cx="3583867" cy="400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ct val="131987"/>
              </a:lnSpc>
              <a:defRPr sz="1900">
                <a:solidFill>
                  <a:srgbClr val="11243C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Pattern-matches. Approves most.</a:t>
            </a:r>
          </a:p>
        </p:txBody>
      </p:sp>
      <p:sp>
        <p:nvSpPr>
          <p:cNvPr id="164" name="Text 68"/>
          <p:cNvSpPr txBox="1"/>
          <p:nvPr/>
        </p:nvSpPr>
        <p:spPr>
          <a:xfrm>
            <a:off x="6867525" y="7209631"/>
            <a:ext cx="4689539" cy="3467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5000"/>
              </a:lnSpc>
              <a:defRPr>
                <a:solidFill>
                  <a:srgbClr val="7A7363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Threshold rose. Quality didn't.</a:t>
            </a:r>
          </a:p>
        </p:txBody>
      </p:sp>
      <p:sp>
        <p:nvSpPr>
          <p:cNvPr id="165" name="Shape 69"/>
          <p:cNvSpPr/>
          <p:nvPr/>
        </p:nvSpPr>
        <p:spPr>
          <a:xfrm>
            <a:off x="12115800" y="4248149"/>
            <a:ext cx="5029200" cy="3489168"/>
          </a:xfrm>
          <a:prstGeom prst="rect">
            <a:avLst/>
          </a:prstGeom>
          <a:solidFill>
            <a:srgbClr val="FFFCF0"/>
          </a:solidFill>
          <a:ln>
            <a:solidFill>
              <a:srgbClr val="C8C0A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66" name="Shape 70"/>
          <p:cNvSpPr/>
          <p:nvPr/>
        </p:nvSpPr>
        <p:spPr>
          <a:xfrm>
            <a:off x="12125325" y="4257675"/>
            <a:ext cx="5010150" cy="996314"/>
          </a:xfrm>
          <a:prstGeom prst="rect">
            <a:avLst/>
          </a:prstGeom>
          <a:solidFill>
            <a:srgbClr val="B8451E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67" name="Text 71"/>
          <p:cNvSpPr txBox="1"/>
          <p:nvPr/>
        </p:nvSpPr>
        <p:spPr>
          <a:xfrm>
            <a:off x="12353924" y="4410074"/>
            <a:ext cx="1268573" cy="3581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40000"/>
              </a:lnSpc>
              <a:defRPr b="1" spc="300">
                <a:solidFill>
                  <a:srgbClr val="FDF6E7">
                    <a:alpha val="85000"/>
                  </a:srgbClr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PHASE 3</a:t>
            </a:r>
          </a:p>
        </p:txBody>
      </p:sp>
      <p:sp>
        <p:nvSpPr>
          <p:cNvPr id="168" name="Text 72"/>
          <p:cNvSpPr txBox="1"/>
          <p:nvPr/>
        </p:nvSpPr>
        <p:spPr>
          <a:xfrm>
            <a:off x="12353924" y="4787265"/>
            <a:ext cx="1294608" cy="3524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77823">
              <a:lnSpc>
                <a:spcPct val="110000"/>
              </a:lnSpc>
              <a:defRPr b="1" spc="-96" sz="2112">
                <a:solidFill>
                  <a:srgbClr val="FDF6E7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Formality</a:t>
            </a:r>
          </a:p>
        </p:txBody>
      </p:sp>
      <p:sp>
        <p:nvSpPr>
          <p:cNvPr id="169" name="Shape 73"/>
          <p:cNvSpPr/>
          <p:nvPr/>
        </p:nvSpPr>
        <p:spPr>
          <a:xfrm>
            <a:off x="12125325" y="5253990"/>
            <a:ext cx="5010150" cy="1400176"/>
          </a:xfrm>
          <a:prstGeom prst="rect">
            <a:avLst/>
          </a:prstGeom>
          <a:solidFill>
            <a:srgbClr val="F1EAD4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70" name="Shape 74"/>
          <p:cNvSpPr/>
          <p:nvPr/>
        </p:nvSpPr>
        <p:spPr>
          <a:xfrm>
            <a:off x="12125325" y="6643052"/>
            <a:ext cx="5010150" cy="12701"/>
          </a:xfrm>
          <a:prstGeom prst="rect">
            <a:avLst/>
          </a:prstGeom>
          <a:solidFill>
            <a:srgbClr val="DCD5C0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71" name="Shape 75"/>
          <p:cNvSpPr/>
          <p:nvPr/>
        </p:nvSpPr>
        <p:spPr>
          <a:xfrm>
            <a:off x="12353925" y="6492240"/>
            <a:ext cx="250191" cy="19051"/>
          </a:xfrm>
          <a:prstGeom prst="roundRect">
            <a:avLst>
              <a:gd name="adj" fmla="val 50000"/>
            </a:avLst>
          </a:prstGeom>
          <a:solidFill>
            <a:srgbClr val="B8451E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72" name="Shape 76"/>
          <p:cNvSpPr/>
          <p:nvPr/>
        </p:nvSpPr>
        <p:spPr>
          <a:xfrm>
            <a:off x="12661264" y="6492240"/>
            <a:ext cx="250191" cy="19051"/>
          </a:xfrm>
          <a:prstGeom prst="roundRect">
            <a:avLst>
              <a:gd name="adj" fmla="val 50000"/>
            </a:avLst>
          </a:prstGeom>
          <a:solidFill>
            <a:srgbClr val="B8451E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73" name="Shape 77"/>
          <p:cNvSpPr/>
          <p:nvPr/>
        </p:nvSpPr>
        <p:spPr>
          <a:xfrm>
            <a:off x="12968605" y="6492240"/>
            <a:ext cx="250191" cy="19051"/>
          </a:xfrm>
          <a:prstGeom prst="roundRect">
            <a:avLst>
              <a:gd name="adj" fmla="val 50000"/>
            </a:avLst>
          </a:prstGeom>
          <a:solidFill>
            <a:srgbClr val="B8451E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74" name="Shape 78"/>
          <p:cNvSpPr/>
          <p:nvPr/>
        </p:nvSpPr>
        <p:spPr>
          <a:xfrm>
            <a:off x="13275944" y="6469379"/>
            <a:ext cx="250191" cy="41911"/>
          </a:xfrm>
          <a:prstGeom prst="roundRect">
            <a:avLst>
              <a:gd name="adj" fmla="val 45455"/>
            </a:avLst>
          </a:prstGeom>
          <a:solidFill>
            <a:srgbClr val="B8451E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75" name="Shape 79"/>
          <p:cNvSpPr/>
          <p:nvPr/>
        </p:nvSpPr>
        <p:spPr>
          <a:xfrm>
            <a:off x="13583285" y="6492240"/>
            <a:ext cx="250191" cy="19051"/>
          </a:xfrm>
          <a:prstGeom prst="roundRect">
            <a:avLst>
              <a:gd name="adj" fmla="val 50000"/>
            </a:avLst>
          </a:prstGeom>
          <a:solidFill>
            <a:srgbClr val="B8451E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76" name="Shape 80"/>
          <p:cNvSpPr/>
          <p:nvPr/>
        </p:nvSpPr>
        <p:spPr>
          <a:xfrm>
            <a:off x="13890625" y="6492240"/>
            <a:ext cx="250191" cy="19051"/>
          </a:xfrm>
          <a:prstGeom prst="roundRect">
            <a:avLst>
              <a:gd name="adj" fmla="val 50000"/>
            </a:avLst>
          </a:prstGeom>
          <a:solidFill>
            <a:srgbClr val="B8451E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77" name="Shape 81"/>
          <p:cNvSpPr/>
          <p:nvPr/>
        </p:nvSpPr>
        <p:spPr>
          <a:xfrm>
            <a:off x="14197964" y="6492240"/>
            <a:ext cx="250191" cy="19051"/>
          </a:xfrm>
          <a:prstGeom prst="roundRect">
            <a:avLst>
              <a:gd name="adj" fmla="val 50000"/>
            </a:avLst>
          </a:prstGeom>
          <a:solidFill>
            <a:srgbClr val="B8451E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78" name="Shape 82"/>
          <p:cNvSpPr/>
          <p:nvPr/>
        </p:nvSpPr>
        <p:spPr>
          <a:xfrm>
            <a:off x="14505305" y="6492240"/>
            <a:ext cx="250191" cy="19051"/>
          </a:xfrm>
          <a:prstGeom prst="roundRect">
            <a:avLst>
              <a:gd name="adj" fmla="val 50000"/>
            </a:avLst>
          </a:prstGeom>
          <a:solidFill>
            <a:srgbClr val="B8451E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79" name="Shape 83"/>
          <p:cNvSpPr/>
          <p:nvPr/>
        </p:nvSpPr>
        <p:spPr>
          <a:xfrm>
            <a:off x="14812644" y="6448425"/>
            <a:ext cx="250191" cy="62865"/>
          </a:xfrm>
          <a:prstGeom prst="roundRect">
            <a:avLst>
              <a:gd name="adj" fmla="val 30303"/>
            </a:avLst>
          </a:prstGeom>
          <a:solidFill>
            <a:srgbClr val="B8451E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80" name="Shape 84"/>
          <p:cNvSpPr/>
          <p:nvPr/>
        </p:nvSpPr>
        <p:spPr>
          <a:xfrm>
            <a:off x="15119985" y="6492240"/>
            <a:ext cx="250191" cy="19051"/>
          </a:xfrm>
          <a:prstGeom prst="roundRect">
            <a:avLst>
              <a:gd name="adj" fmla="val 50000"/>
            </a:avLst>
          </a:prstGeom>
          <a:solidFill>
            <a:srgbClr val="B8451E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81" name="Shape 85"/>
          <p:cNvSpPr/>
          <p:nvPr/>
        </p:nvSpPr>
        <p:spPr>
          <a:xfrm>
            <a:off x="15427325" y="6492240"/>
            <a:ext cx="250191" cy="19051"/>
          </a:xfrm>
          <a:prstGeom prst="roundRect">
            <a:avLst>
              <a:gd name="adj" fmla="val 50000"/>
            </a:avLst>
          </a:prstGeom>
          <a:solidFill>
            <a:srgbClr val="B8451E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82" name="Shape 86"/>
          <p:cNvSpPr/>
          <p:nvPr/>
        </p:nvSpPr>
        <p:spPr>
          <a:xfrm>
            <a:off x="15734664" y="6492240"/>
            <a:ext cx="250191" cy="19051"/>
          </a:xfrm>
          <a:prstGeom prst="roundRect">
            <a:avLst>
              <a:gd name="adj" fmla="val 50000"/>
            </a:avLst>
          </a:prstGeom>
          <a:solidFill>
            <a:srgbClr val="B8451E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83" name="Shape 87"/>
          <p:cNvSpPr/>
          <p:nvPr/>
        </p:nvSpPr>
        <p:spPr>
          <a:xfrm>
            <a:off x="16042005" y="6492240"/>
            <a:ext cx="250191" cy="19051"/>
          </a:xfrm>
          <a:prstGeom prst="roundRect">
            <a:avLst>
              <a:gd name="adj" fmla="val 50000"/>
            </a:avLst>
          </a:prstGeom>
          <a:solidFill>
            <a:srgbClr val="B8451E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84" name="Shape 88"/>
          <p:cNvSpPr/>
          <p:nvPr/>
        </p:nvSpPr>
        <p:spPr>
          <a:xfrm>
            <a:off x="16349344" y="6492240"/>
            <a:ext cx="250191" cy="19051"/>
          </a:xfrm>
          <a:prstGeom prst="roundRect">
            <a:avLst>
              <a:gd name="adj" fmla="val 50000"/>
            </a:avLst>
          </a:prstGeom>
          <a:solidFill>
            <a:srgbClr val="B8451E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85" name="Shape 89"/>
          <p:cNvSpPr/>
          <p:nvPr/>
        </p:nvSpPr>
        <p:spPr>
          <a:xfrm>
            <a:off x="16656685" y="6492240"/>
            <a:ext cx="250191" cy="19051"/>
          </a:xfrm>
          <a:prstGeom prst="roundRect">
            <a:avLst>
              <a:gd name="adj" fmla="val 50000"/>
            </a:avLst>
          </a:prstGeom>
          <a:solidFill>
            <a:srgbClr val="B8451E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86" name="Text 90"/>
          <p:cNvSpPr txBox="1"/>
          <p:nvPr/>
        </p:nvSpPr>
        <p:spPr>
          <a:xfrm>
            <a:off x="12353924" y="6808151"/>
            <a:ext cx="3740841" cy="400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 defTabSz="905255">
              <a:lnSpc>
                <a:spcPct val="131987"/>
              </a:lnSpc>
              <a:defRPr sz="1881">
                <a:solidFill>
                  <a:srgbClr val="11243C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Approves all. No correction events.</a:t>
            </a:r>
          </a:p>
        </p:txBody>
      </p:sp>
      <p:sp>
        <p:nvSpPr>
          <p:cNvPr id="187" name="Text 91"/>
          <p:cNvSpPr txBox="1"/>
          <p:nvPr/>
        </p:nvSpPr>
        <p:spPr>
          <a:xfrm>
            <a:off x="12353925" y="7209631"/>
            <a:ext cx="4689539" cy="3467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5000"/>
              </a:lnSpc>
              <a:defRPr>
                <a:solidFill>
                  <a:srgbClr val="7A7363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Controller, now confirmer.</a:t>
            </a:r>
          </a:p>
        </p:txBody>
      </p:sp>
      <p:sp>
        <p:nvSpPr>
          <p:cNvPr id="188" name="Shape 92"/>
          <p:cNvSpPr/>
          <p:nvPr/>
        </p:nvSpPr>
        <p:spPr>
          <a:xfrm>
            <a:off x="1143000" y="8002428"/>
            <a:ext cx="16002000" cy="12701"/>
          </a:xfrm>
          <a:prstGeom prst="rect">
            <a:avLst/>
          </a:prstGeom>
          <a:solidFill>
            <a:srgbClr val="C8C0A8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89" name="Text 93"/>
          <p:cNvSpPr txBox="1"/>
          <p:nvPr/>
        </p:nvSpPr>
        <p:spPr>
          <a:xfrm>
            <a:off x="902970" y="8242141"/>
            <a:ext cx="16482061" cy="434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>
              <a:lnSpc>
                <a:spcPct val="130000"/>
              </a:lnSpc>
              <a:defRPr b="1" sz="2400">
                <a:solidFill>
                  <a:srgbClr val="B8451E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Same status. Same approval count. Same record.</a:t>
            </a:r>
          </a:p>
        </p:txBody>
      </p:sp>
      <p:sp>
        <p:nvSpPr>
          <p:cNvPr id="190" name="Text 94"/>
          <p:cNvSpPr txBox="1"/>
          <p:nvPr/>
        </p:nvSpPr>
        <p:spPr>
          <a:xfrm>
            <a:off x="902970" y="8943181"/>
            <a:ext cx="16482061" cy="3724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>
              <a:lnSpc>
                <a:spcPct val="135000"/>
              </a:lnSpc>
              <a:defRPr i="1" sz="1900">
                <a:solidFill>
                  <a:srgbClr val="1D6657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The audit log does not capture the signal the behavioral channel is losing.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AF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Shape 0"/>
          <p:cNvSpPr/>
          <p:nvPr/>
        </p:nvSpPr>
        <p:spPr>
          <a:xfrm>
            <a:off x="0" y="0"/>
            <a:ext cx="18288000" cy="819150"/>
          </a:xfrm>
          <a:prstGeom prst="rect">
            <a:avLst/>
          </a:prstGeom>
          <a:solidFill>
            <a:srgbClr val="0D2340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95" name="Text 1"/>
          <p:cNvSpPr txBox="1"/>
          <p:nvPr/>
        </p:nvSpPr>
        <p:spPr>
          <a:xfrm>
            <a:off x="14514036" y="240982"/>
            <a:ext cx="417195" cy="3848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40000"/>
              </a:lnSpc>
              <a:defRPr b="1" spc="300" sz="1900">
                <a:solidFill>
                  <a:srgbClr val="ECC833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02</a:t>
            </a:r>
          </a:p>
        </p:txBody>
      </p:sp>
      <p:sp>
        <p:nvSpPr>
          <p:cNvPr id="196" name="Text 2"/>
          <p:cNvSpPr txBox="1"/>
          <p:nvPr/>
        </p:nvSpPr>
        <p:spPr>
          <a:xfrm>
            <a:off x="14988381" y="231457"/>
            <a:ext cx="184627" cy="3848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40000"/>
              </a:lnSpc>
              <a:defRPr spc="300" sz="1900">
                <a:solidFill>
                  <a:srgbClr val="FFFDF2">
                    <a:alpha val="40000"/>
                  </a:srgbClr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/</a:t>
            </a:r>
          </a:p>
        </p:txBody>
      </p:sp>
      <p:sp>
        <p:nvSpPr>
          <p:cNvPr id="197" name="Text 3"/>
          <p:cNvSpPr txBox="1"/>
          <p:nvPr/>
        </p:nvSpPr>
        <p:spPr>
          <a:xfrm>
            <a:off x="15230158" y="233361"/>
            <a:ext cx="1991044" cy="400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 defTabSz="886968">
              <a:lnSpc>
                <a:spcPct val="140000"/>
              </a:lnSpc>
              <a:defRPr b="1" spc="291" sz="1843">
                <a:solidFill>
                  <a:srgbClr val="FFFDF2">
                    <a:alpha val="92000"/>
                  </a:srgbClr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THE PATTERN</a:t>
            </a:r>
          </a:p>
        </p:txBody>
      </p:sp>
      <p:sp>
        <p:nvSpPr>
          <p:cNvPr id="198" name="Text 4"/>
          <p:cNvSpPr txBox="1"/>
          <p:nvPr/>
        </p:nvSpPr>
        <p:spPr>
          <a:xfrm>
            <a:off x="1143000" y="1200149"/>
            <a:ext cx="16482061" cy="8305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22959">
              <a:lnSpc>
                <a:spcPct val="104000"/>
              </a:lnSpc>
              <a:defRPr b="1" spc="-90" sz="5400">
                <a:solidFill>
                  <a:srgbClr val="11243C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Model-centric vs. oversight-centric transparency.</a:t>
            </a:r>
          </a:p>
        </p:txBody>
      </p:sp>
      <p:sp>
        <p:nvSpPr>
          <p:cNvPr id="199" name="Shape 5"/>
          <p:cNvSpPr/>
          <p:nvPr/>
        </p:nvSpPr>
        <p:spPr>
          <a:xfrm>
            <a:off x="1143000" y="3613784"/>
            <a:ext cx="3200400" cy="19051"/>
          </a:xfrm>
          <a:prstGeom prst="rect">
            <a:avLst/>
          </a:prstGeom>
          <a:solidFill>
            <a:srgbClr val="0D2340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00" name="Shape 6"/>
          <p:cNvSpPr/>
          <p:nvPr/>
        </p:nvSpPr>
        <p:spPr>
          <a:xfrm>
            <a:off x="4343399" y="3613784"/>
            <a:ext cx="5830890" cy="19051"/>
          </a:xfrm>
          <a:prstGeom prst="rect">
            <a:avLst/>
          </a:prstGeom>
          <a:solidFill>
            <a:srgbClr val="0D2340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01" name="Text 7"/>
          <p:cNvSpPr txBox="1"/>
          <p:nvPr/>
        </p:nvSpPr>
        <p:spPr>
          <a:xfrm>
            <a:off x="4610100" y="2602229"/>
            <a:ext cx="5456412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40000"/>
              </a:lnSpc>
              <a:defRPr b="1" spc="300">
                <a:solidFill>
                  <a:srgbClr val="7A7363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TODAY</a:t>
            </a:r>
          </a:p>
        </p:txBody>
      </p:sp>
      <p:sp>
        <p:nvSpPr>
          <p:cNvPr id="202" name="Text 8"/>
          <p:cNvSpPr txBox="1"/>
          <p:nvPr/>
        </p:nvSpPr>
        <p:spPr>
          <a:xfrm>
            <a:off x="4610100" y="2991803"/>
            <a:ext cx="1972786" cy="5048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ct val="140000"/>
              </a:lnSpc>
              <a:defRPr b="1" spc="-100" sz="2500">
                <a:solidFill>
                  <a:srgbClr val="11243C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Model-centric</a:t>
            </a:r>
          </a:p>
        </p:txBody>
      </p:sp>
      <p:sp>
        <p:nvSpPr>
          <p:cNvPr id="203" name="Shape 9"/>
          <p:cNvSpPr/>
          <p:nvPr/>
        </p:nvSpPr>
        <p:spPr>
          <a:xfrm>
            <a:off x="10174286" y="3613784"/>
            <a:ext cx="6970712" cy="19051"/>
          </a:xfrm>
          <a:prstGeom prst="rect">
            <a:avLst/>
          </a:prstGeom>
          <a:solidFill>
            <a:srgbClr val="0D2340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04" name="Text 10"/>
          <p:cNvSpPr txBox="1"/>
          <p:nvPr/>
        </p:nvSpPr>
        <p:spPr>
          <a:xfrm>
            <a:off x="10440986" y="2602229"/>
            <a:ext cx="6630432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40000"/>
              </a:lnSpc>
              <a:defRPr b="1" spc="300">
                <a:solidFill>
                  <a:srgbClr val="1D6657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PROPOSED</a:t>
            </a:r>
          </a:p>
        </p:txBody>
      </p:sp>
      <p:sp>
        <p:nvSpPr>
          <p:cNvPr id="205" name="Text 11"/>
          <p:cNvSpPr txBox="1"/>
          <p:nvPr/>
        </p:nvSpPr>
        <p:spPr>
          <a:xfrm>
            <a:off x="10440986" y="2991803"/>
            <a:ext cx="2452689" cy="5048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>
              <a:lnSpc>
                <a:spcPct val="140000"/>
              </a:lnSpc>
              <a:defRPr b="1" spc="-100" sz="2500">
                <a:solidFill>
                  <a:srgbClr val="1D6657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Oversight-centric</a:t>
            </a:r>
          </a:p>
        </p:txBody>
      </p:sp>
      <p:sp>
        <p:nvSpPr>
          <p:cNvPr id="206" name="Shape 12"/>
          <p:cNvSpPr/>
          <p:nvPr/>
        </p:nvSpPr>
        <p:spPr>
          <a:xfrm>
            <a:off x="1143000" y="4695190"/>
            <a:ext cx="3200400" cy="12701"/>
          </a:xfrm>
          <a:prstGeom prst="rect">
            <a:avLst/>
          </a:prstGeom>
          <a:solidFill>
            <a:srgbClr val="C8C0A8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07" name="Text 13"/>
          <p:cNvSpPr txBox="1"/>
          <p:nvPr/>
        </p:nvSpPr>
        <p:spPr>
          <a:xfrm>
            <a:off x="1409700" y="3842384"/>
            <a:ext cx="2763012" cy="6829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40000"/>
              </a:lnSpc>
              <a:defRPr b="1" spc="200">
                <a:solidFill>
                  <a:srgbClr val="7A7363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OBJECT INSTRUMENTED</a:t>
            </a:r>
          </a:p>
        </p:txBody>
      </p:sp>
      <p:sp>
        <p:nvSpPr>
          <p:cNvPr id="208" name="Shape 14"/>
          <p:cNvSpPr/>
          <p:nvPr/>
        </p:nvSpPr>
        <p:spPr>
          <a:xfrm>
            <a:off x="4343399" y="4695190"/>
            <a:ext cx="5830890" cy="12701"/>
          </a:xfrm>
          <a:prstGeom prst="rect">
            <a:avLst/>
          </a:prstGeom>
          <a:solidFill>
            <a:srgbClr val="C8C0A8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09" name="Text 15"/>
          <p:cNvSpPr txBox="1"/>
          <p:nvPr/>
        </p:nvSpPr>
        <p:spPr>
          <a:xfrm>
            <a:off x="4610099" y="3842384"/>
            <a:ext cx="5472416" cy="6829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5000"/>
              </a:lnSpc>
              <a:defRPr sz="2100">
                <a:solidFill>
                  <a:srgbClr val="3D465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Model reasoning, outputs, behavior</a:t>
            </a:r>
          </a:p>
        </p:txBody>
      </p:sp>
      <p:sp>
        <p:nvSpPr>
          <p:cNvPr id="210" name="Shape 16"/>
          <p:cNvSpPr/>
          <p:nvPr/>
        </p:nvSpPr>
        <p:spPr>
          <a:xfrm>
            <a:off x="10174286" y="3632834"/>
            <a:ext cx="6970712" cy="1073469"/>
          </a:xfrm>
          <a:prstGeom prst="rect">
            <a:avLst/>
          </a:prstGeom>
          <a:solidFill>
            <a:srgbClr val="1D6657">
              <a:alpha val="7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11" name="Shape 17"/>
          <p:cNvSpPr/>
          <p:nvPr/>
        </p:nvSpPr>
        <p:spPr>
          <a:xfrm>
            <a:off x="10174286" y="4695190"/>
            <a:ext cx="6970712" cy="12701"/>
          </a:xfrm>
          <a:prstGeom prst="rect">
            <a:avLst/>
          </a:prstGeom>
          <a:solidFill>
            <a:srgbClr val="C8C0A8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12" name="Shape 18"/>
          <p:cNvSpPr/>
          <p:nvPr/>
        </p:nvSpPr>
        <p:spPr>
          <a:xfrm>
            <a:off x="10174286" y="3632834"/>
            <a:ext cx="28576" cy="1073469"/>
          </a:xfrm>
          <a:prstGeom prst="rect">
            <a:avLst/>
          </a:prstGeom>
          <a:solidFill>
            <a:srgbClr val="1D6657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13" name="Text 19"/>
          <p:cNvSpPr txBox="1"/>
          <p:nvPr/>
        </p:nvSpPr>
        <p:spPr>
          <a:xfrm>
            <a:off x="10469561" y="3842384"/>
            <a:ext cx="6617860" cy="6829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5000"/>
              </a:lnSpc>
              <a:defRPr sz="2100">
                <a:solidFill>
                  <a:srgbClr val="11243C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Functional state of the oversight mechanism</a:t>
            </a:r>
          </a:p>
        </p:txBody>
      </p:sp>
      <p:sp>
        <p:nvSpPr>
          <p:cNvPr id="214" name="Shape 20"/>
          <p:cNvSpPr/>
          <p:nvPr/>
        </p:nvSpPr>
        <p:spPr>
          <a:xfrm>
            <a:off x="1143000" y="5843904"/>
            <a:ext cx="3200400" cy="12701"/>
          </a:xfrm>
          <a:prstGeom prst="rect">
            <a:avLst/>
          </a:prstGeom>
          <a:solidFill>
            <a:srgbClr val="C8C0A8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15" name="Text 21"/>
          <p:cNvSpPr txBox="1"/>
          <p:nvPr/>
        </p:nvSpPr>
        <p:spPr>
          <a:xfrm>
            <a:off x="1409700" y="4915853"/>
            <a:ext cx="2763012" cy="7581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40000"/>
              </a:lnSpc>
              <a:defRPr b="1" spc="200">
                <a:solidFill>
                  <a:srgbClr val="7A7363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EVIDENCE PRODUCED</a:t>
            </a:r>
          </a:p>
        </p:txBody>
      </p:sp>
      <p:sp>
        <p:nvSpPr>
          <p:cNvPr id="216" name="Shape 22"/>
          <p:cNvSpPr/>
          <p:nvPr/>
        </p:nvSpPr>
        <p:spPr>
          <a:xfrm>
            <a:off x="4343399" y="5843904"/>
            <a:ext cx="5830890" cy="12701"/>
          </a:xfrm>
          <a:prstGeom prst="rect">
            <a:avLst/>
          </a:prstGeom>
          <a:solidFill>
            <a:srgbClr val="C8C0A8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17" name="Text 23"/>
          <p:cNvSpPr txBox="1"/>
          <p:nvPr/>
        </p:nvSpPr>
        <p:spPr>
          <a:xfrm>
            <a:off x="4610099" y="4915853"/>
            <a:ext cx="5472416" cy="7581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5000"/>
              </a:lnSpc>
              <a:defRPr sz="2100">
                <a:solidFill>
                  <a:srgbClr val="3D465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Interpretability maps, audit logs, governance artifacts</a:t>
            </a:r>
          </a:p>
        </p:txBody>
      </p:sp>
      <p:sp>
        <p:nvSpPr>
          <p:cNvPr id="218" name="Shape 24"/>
          <p:cNvSpPr/>
          <p:nvPr/>
        </p:nvSpPr>
        <p:spPr>
          <a:xfrm>
            <a:off x="10174286" y="4706303"/>
            <a:ext cx="6970712" cy="1148715"/>
          </a:xfrm>
          <a:prstGeom prst="rect">
            <a:avLst/>
          </a:prstGeom>
          <a:solidFill>
            <a:srgbClr val="1D6657">
              <a:alpha val="7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19" name="Shape 25"/>
          <p:cNvSpPr/>
          <p:nvPr/>
        </p:nvSpPr>
        <p:spPr>
          <a:xfrm>
            <a:off x="10174286" y="5843904"/>
            <a:ext cx="6970712" cy="12701"/>
          </a:xfrm>
          <a:prstGeom prst="rect">
            <a:avLst/>
          </a:prstGeom>
          <a:solidFill>
            <a:srgbClr val="C8C0A8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20" name="Shape 26"/>
          <p:cNvSpPr/>
          <p:nvPr/>
        </p:nvSpPr>
        <p:spPr>
          <a:xfrm>
            <a:off x="10174286" y="4706303"/>
            <a:ext cx="28576" cy="1148715"/>
          </a:xfrm>
          <a:prstGeom prst="rect">
            <a:avLst/>
          </a:prstGeom>
          <a:solidFill>
            <a:srgbClr val="1D6657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21" name="Text 27"/>
          <p:cNvSpPr txBox="1"/>
          <p:nvPr/>
        </p:nvSpPr>
        <p:spPr>
          <a:xfrm>
            <a:off x="10469561" y="4915853"/>
            <a:ext cx="6617860" cy="7581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5000"/>
              </a:lnSpc>
              <a:defRPr sz="2100">
                <a:solidFill>
                  <a:srgbClr val="11243C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Engagement metrics, correction trajectories, calibration indicators</a:t>
            </a:r>
          </a:p>
        </p:txBody>
      </p:sp>
      <p:sp>
        <p:nvSpPr>
          <p:cNvPr id="222" name="Shape 28"/>
          <p:cNvSpPr/>
          <p:nvPr/>
        </p:nvSpPr>
        <p:spPr>
          <a:xfrm>
            <a:off x="1143000" y="6992620"/>
            <a:ext cx="3200400" cy="12701"/>
          </a:xfrm>
          <a:prstGeom prst="rect">
            <a:avLst/>
          </a:prstGeom>
          <a:solidFill>
            <a:srgbClr val="C8C0A8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23" name="Text 29"/>
          <p:cNvSpPr txBox="1"/>
          <p:nvPr/>
        </p:nvSpPr>
        <p:spPr>
          <a:xfrm>
            <a:off x="1409700" y="6064567"/>
            <a:ext cx="2763012" cy="7581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40000"/>
              </a:lnSpc>
              <a:defRPr b="1" spc="200">
                <a:solidFill>
                  <a:srgbClr val="7A7363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FAILURE MODE ADDRESSED</a:t>
            </a:r>
          </a:p>
        </p:txBody>
      </p:sp>
      <p:sp>
        <p:nvSpPr>
          <p:cNvPr id="224" name="Shape 30"/>
          <p:cNvSpPr/>
          <p:nvPr/>
        </p:nvSpPr>
        <p:spPr>
          <a:xfrm>
            <a:off x="4343399" y="6992620"/>
            <a:ext cx="5830890" cy="12701"/>
          </a:xfrm>
          <a:prstGeom prst="rect">
            <a:avLst/>
          </a:prstGeom>
          <a:solidFill>
            <a:srgbClr val="C8C0A8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25" name="Text 31"/>
          <p:cNvSpPr txBox="1"/>
          <p:nvPr/>
        </p:nvSpPr>
        <p:spPr>
          <a:xfrm>
            <a:off x="4610099" y="6064567"/>
            <a:ext cx="5472416" cy="7581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5000"/>
              </a:lnSpc>
              <a:defRPr sz="2100">
                <a:solidFill>
                  <a:srgbClr val="3D465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Hallucination, bias, distribution shift</a:t>
            </a:r>
          </a:p>
        </p:txBody>
      </p:sp>
      <p:sp>
        <p:nvSpPr>
          <p:cNvPr id="226" name="Shape 32"/>
          <p:cNvSpPr/>
          <p:nvPr/>
        </p:nvSpPr>
        <p:spPr>
          <a:xfrm>
            <a:off x="10174286" y="5855017"/>
            <a:ext cx="6970712" cy="1148716"/>
          </a:xfrm>
          <a:prstGeom prst="rect">
            <a:avLst/>
          </a:prstGeom>
          <a:solidFill>
            <a:srgbClr val="1D6657">
              <a:alpha val="7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27" name="Shape 33"/>
          <p:cNvSpPr/>
          <p:nvPr/>
        </p:nvSpPr>
        <p:spPr>
          <a:xfrm>
            <a:off x="10174286" y="6992620"/>
            <a:ext cx="6970712" cy="12701"/>
          </a:xfrm>
          <a:prstGeom prst="rect">
            <a:avLst/>
          </a:prstGeom>
          <a:solidFill>
            <a:srgbClr val="C8C0A8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28" name="Shape 34"/>
          <p:cNvSpPr/>
          <p:nvPr/>
        </p:nvSpPr>
        <p:spPr>
          <a:xfrm>
            <a:off x="10174286" y="5855017"/>
            <a:ext cx="28576" cy="1148716"/>
          </a:xfrm>
          <a:prstGeom prst="rect">
            <a:avLst/>
          </a:prstGeom>
          <a:solidFill>
            <a:srgbClr val="1D6657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29" name="Text 35"/>
          <p:cNvSpPr txBox="1"/>
          <p:nvPr/>
        </p:nvSpPr>
        <p:spPr>
          <a:xfrm>
            <a:off x="10469561" y="6064567"/>
            <a:ext cx="6617860" cy="7581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5000"/>
              </a:lnSpc>
              <a:defRPr sz="2100">
                <a:solidFill>
                  <a:srgbClr val="11243C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Authority drift, procedural confirmation, oversight formality</a:t>
            </a:r>
          </a:p>
        </p:txBody>
      </p:sp>
      <p:sp>
        <p:nvSpPr>
          <p:cNvPr id="230" name="Text 36"/>
          <p:cNvSpPr txBox="1"/>
          <p:nvPr/>
        </p:nvSpPr>
        <p:spPr>
          <a:xfrm>
            <a:off x="1409700" y="7213282"/>
            <a:ext cx="2763012" cy="6829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40000"/>
              </a:lnSpc>
              <a:defRPr b="1" spc="200">
                <a:solidFill>
                  <a:srgbClr val="7A7363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HUMAN ROLE ASSUMED</a:t>
            </a:r>
          </a:p>
        </p:txBody>
      </p:sp>
      <p:sp>
        <p:nvSpPr>
          <p:cNvPr id="231" name="Text 37"/>
          <p:cNvSpPr txBox="1"/>
          <p:nvPr/>
        </p:nvSpPr>
        <p:spPr>
          <a:xfrm>
            <a:off x="4610099" y="7213282"/>
            <a:ext cx="5472416" cy="6829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5000"/>
              </a:lnSpc>
              <a:defRPr sz="2100">
                <a:solidFill>
                  <a:srgbClr val="3D465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Stable recipient of explanations</a:t>
            </a:r>
          </a:p>
        </p:txBody>
      </p:sp>
      <p:sp>
        <p:nvSpPr>
          <p:cNvPr id="232" name="Shape 38"/>
          <p:cNvSpPr/>
          <p:nvPr/>
        </p:nvSpPr>
        <p:spPr>
          <a:xfrm>
            <a:off x="10174286" y="7003732"/>
            <a:ext cx="6970712" cy="1063943"/>
          </a:xfrm>
          <a:prstGeom prst="rect">
            <a:avLst/>
          </a:prstGeom>
          <a:solidFill>
            <a:srgbClr val="1D6657">
              <a:alpha val="7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33" name="Shape 39"/>
          <p:cNvSpPr/>
          <p:nvPr/>
        </p:nvSpPr>
        <p:spPr>
          <a:xfrm>
            <a:off x="10174286" y="7003732"/>
            <a:ext cx="28576" cy="1063943"/>
          </a:xfrm>
          <a:prstGeom prst="rect">
            <a:avLst/>
          </a:prstGeom>
          <a:solidFill>
            <a:srgbClr val="1D6657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34" name="Text 40"/>
          <p:cNvSpPr txBox="1"/>
          <p:nvPr/>
        </p:nvSpPr>
        <p:spPr>
          <a:xfrm>
            <a:off x="10469561" y="7213282"/>
            <a:ext cx="6617860" cy="6829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5000"/>
              </a:lnSpc>
              <a:defRPr sz="2100">
                <a:solidFill>
                  <a:srgbClr val="11243C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Degradable component requiring care and feeding</a:t>
            </a:r>
          </a:p>
        </p:txBody>
      </p:sp>
      <p:sp>
        <p:nvSpPr>
          <p:cNvPr id="235" name="Shape 41"/>
          <p:cNvSpPr/>
          <p:nvPr/>
        </p:nvSpPr>
        <p:spPr>
          <a:xfrm>
            <a:off x="1143000" y="8294687"/>
            <a:ext cx="16002000" cy="12701"/>
          </a:xfrm>
          <a:prstGeom prst="rect">
            <a:avLst/>
          </a:prstGeom>
          <a:solidFill>
            <a:srgbClr val="C8C0A8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36" name="Text 42"/>
          <p:cNvSpPr txBox="1"/>
          <p:nvPr/>
        </p:nvSpPr>
        <p:spPr>
          <a:xfrm>
            <a:off x="902970" y="8515349"/>
            <a:ext cx="16482061" cy="3848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>
              <a:lnSpc>
                <a:spcPct val="140000"/>
              </a:lnSpc>
              <a:defRPr i="1" sz="1900">
                <a:solidFill>
                  <a:srgbClr val="7A7363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Detection, interpretability, and governance each compound the gap rather than closing it.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AF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Shape 0"/>
          <p:cNvSpPr/>
          <p:nvPr/>
        </p:nvSpPr>
        <p:spPr>
          <a:xfrm>
            <a:off x="0" y="0"/>
            <a:ext cx="18288000" cy="819150"/>
          </a:xfrm>
          <a:prstGeom prst="rect">
            <a:avLst/>
          </a:prstGeom>
          <a:solidFill>
            <a:srgbClr val="0D2340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41" name="Text 1"/>
          <p:cNvSpPr txBox="1"/>
          <p:nvPr/>
        </p:nvSpPr>
        <p:spPr>
          <a:xfrm>
            <a:off x="12441395" y="240982"/>
            <a:ext cx="417195" cy="3848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40000"/>
              </a:lnSpc>
              <a:defRPr b="1" spc="300" sz="1900">
                <a:solidFill>
                  <a:srgbClr val="ECC833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03</a:t>
            </a:r>
          </a:p>
        </p:txBody>
      </p:sp>
      <p:sp>
        <p:nvSpPr>
          <p:cNvPr id="242" name="Text 2"/>
          <p:cNvSpPr txBox="1"/>
          <p:nvPr/>
        </p:nvSpPr>
        <p:spPr>
          <a:xfrm>
            <a:off x="12915741" y="231457"/>
            <a:ext cx="184627" cy="3848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40000"/>
              </a:lnSpc>
              <a:defRPr spc="300" sz="1900">
                <a:solidFill>
                  <a:srgbClr val="FFFDF2">
                    <a:alpha val="40000"/>
                  </a:srgbClr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/</a:t>
            </a:r>
          </a:p>
        </p:txBody>
      </p:sp>
      <p:sp>
        <p:nvSpPr>
          <p:cNvPr id="243" name="Text 3"/>
          <p:cNvSpPr txBox="1"/>
          <p:nvPr/>
        </p:nvSpPr>
        <p:spPr>
          <a:xfrm>
            <a:off x="13157517" y="233361"/>
            <a:ext cx="4107108" cy="400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 defTabSz="886968">
              <a:lnSpc>
                <a:spcPct val="140000"/>
              </a:lnSpc>
              <a:defRPr b="1" spc="291" sz="1843">
                <a:solidFill>
                  <a:srgbClr val="FFFDF2">
                    <a:alpha val="92000"/>
                  </a:srgbClr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TOWARD INSTRUMENTATION</a:t>
            </a:r>
          </a:p>
        </p:txBody>
      </p:sp>
      <p:sp>
        <p:nvSpPr>
          <p:cNvPr id="244" name="Text 4"/>
          <p:cNvSpPr txBox="1"/>
          <p:nvPr/>
        </p:nvSpPr>
        <p:spPr>
          <a:xfrm>
            <a:off x="1143000" y="1200149"/>
            <a:ext cx="16482061" cy="8305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22959">
              <a:lnSpc>
                <a:spcPct val="104000"/>
              </a:lnSpc>
              <a:defRPr b="1" spc="-90" sz="5400">
                <a:solidFill>
                  <a:srgbClr val="11243C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Three candidate proxies for engagement state.</a:t>
            </a:r>
          </a:p>
        </p:txBody>
      </p:sp>
      <p:sp>
        <p:nvSpPr>
          <p:cNvPr id="245" name="Shape 5"/>
          <p:cNvSpPr/>
          <p:nvPr/>
        </p:nvSpPr>
        <p:spPr>
          <a:xfrm>
            <a:off x="1143000" y="2373629"/>
            <a:ext cx="5029200" cy="2977516"/>
          </a:xfrm>
          <a:prstGeom prst="rect">
            <a:avLst/>
          </a:prstGeom>
          <a:solidFill>
            <a:srgbClr val="FFFCF0"/>
          </a:solidFill>
          <a:ln>
            <a:solidFill>
              <a:srgbClr val="C8C0A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46" name="Shape 6"/>
          <p:cNvSpPr/>
          <p:nvPr/>
        </p:nvSpPr>
        <p:spPr>
          <a:xfrm>
            <a:off x="1457325" y="2687954"/>
            <a:ext cx="4400550" cy="1047751"/>
          </a:xfrm>
          <a:prstGeom prst="roundRect">
            <a:avLst>
              <a:gd name="adj" fmla="val 1818"/>
            </a:avLst>
          </a:prstGeom>
          <a:solidFill>
            <a:srgbClr val="1D6657">
              <a:alpha val="6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pic>
        <p:nvPicPr>
          <p:cNvPr id="247" name="Image 0" descr="Image 0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2943225" y="2830829"/>
            <a:ext cx="1428750" cy="762001"/>
          </a:xfrm>
          <a:prstGeom prst="rect">
            <a:avLst/>
          </a:prstGeom>
          <a:ln w="12700">
            <a:miter lim="400000"/>
          </a:ln>
        </p:spPr>
      </p:pic>
      <p:sp>
        <p:nvSpPr>
          <p:cNvPr id="248" name="Text 7"/>
          <p:cNvSpPr txBox="1"/>
          <p:nvPr/>
        </p:nvSpPr>
        <p:spPr>
          <a:xfrm>
            <a:off x="1457325" y="3907154"/>
            <a:ext cx="2994078" cy="3943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50391">
              <a:lnSpc>
                <a:spcPct val="110000"/>
              </a:lnSpc>
              <a:defRPr b="1" sz="2325">
                <a:solidFill>
                  <a:srgbClr val="1D6657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Correction trajectory</a:t>
            </a:r>
          </a:p>
        </p:txBody>
      </p:sp>
      <p:sp>
        <p:nvSpPr>
          <p:cNvPr id="249" name="Text 8"/>
          <p:cNvSpPr txBox="1"/>
          <p:nvPr/>
        </p:nvSpPr>
        <p:spPr>
          <a:xfrm>
            <a:off x="1457324" y="4434840"/>
            <a:ext cx="4532569" cy="6835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68680">
              <a:lnSpc>
                <a:spcPct val="140000"/>
              </a:lnSpc>
              <a:defRPr sz="1710">
                <a:solidFill>
                  <a:srgbClr val="11243C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Reviewer engagement against output volume over deployment duration.</a:t>
            </a:r>
          </a:p>
        </p:txBody>
      </p:sp>
      <p:sp>
        <p:nvSpPr>
          <p:cNvPr id="250" name="Shape 9"/>
          <p:cNvSpPr/>
          <p:nvPr/>
        </p:nvSpPr>
        <p:spPr>
          <a:xfrm>
            <a:off x="6629400" y="2373629"/>
            <a:ext cx="5029200" cy="2977516"/>
          </a:xfrm>
          <a:prstGeom prst="rect">
            <a:avLst/>
          </a:prstGeom>
          <a:solidFill>
            <a:srgbClr val="FFFCF0"/>
          </a:solidFill>
          <a:ln>
            <a:solidFill>
              <a:srgbClr val="C8C0A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51" name="Shape 10"/>
          <p:cNvSpPr/>
          <p:nvPr/>
        </p:nvSpPr>
        <p:spPr>
          <a:xfrm>
            <a:off x="6943725" y="2687954"/>
            <a:ext cx="4400550" cy="1047751"/>
          </a:xfrm>
          <a:prstGeom prst="roundRect">
            <a:avLst>
              <a:gd name="adj" fmla="val 1818"/>
            </a:avLst>
          </a:prstGeom>
          <a:solidFill>
            <a:srgbClr val="1D6657">
              <a:alpha val="6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pic>
        <p:nvPicPr>
          <p:cNvPr id="252" name="Image 1" descr="Image 1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8429625" y="2830829"/>
            <a:ext cx="1428750" cy="762001"/>
          </a:xfrm>
          <a:prstGeom prst="rect">
            <a:avLst/>
          </a:prstGeom>
          <a:ln w="12700">
            <a:miter lim="400000"/>
          </a:ln>
        </p:spPr>
      </p:pic>
      <p:sp>
        <p:nvSpPr>
          <p:cNvPr id="253" name="Text 11"/>
          <p:cNvSpPr txBox="1"/>
          <p:nvPr/>
        </p:nvSpPr>
        <p:spPr>
          <a:xfrm>
            <a:off x="6943725" y="3907154"/>
            <a:ext cx="2161857" cy="3943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59536">
              <a:lnSpc>
                <a:spcPct val="110000"/>
              </a:lnSpc>
              <a:defRPr b="1" sz="2350">
                <a:solidFill>
                  <a:srgbClr val="1D6657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Validation load</a:t>
            </a:r>
          </a:p>
        </p:txBody>
      </p:sp>
      <p:sp>
        <p:nvSpPr>
          <p:cNvPr id="254" name="Text 12"/>
          <p:cNvSpPr txBox="1"/>
          <p:nvPr/>
        </p:nvSpPr>
        <p:spPr>
          <a:xfrm>
            <a:off x="6943724" y="4434840"/>
            <a:ext cx="4532569" cy="6835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68680">
              <a:lnSpc>
                <a:spcPct val="140000"/>
              </a:lnSpc>
              <a:defRPr sz="1710">
                <a:solidFill>
                  <a:srgbClr val="11243C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Outputs requiring review per unit of reviewer capacity.</a:t>
            </a:r>
          </a:p>
        </p:txBody>
      </p:sp>
      <p:sp>
        <p:nvSpPr>
          <p:cNvPr id="255" name="Shape 13"/>
          <p:cNvSpPr/>
          <p:nvPr/>
        </p:nvSpPr>
        <p:spPr>
          <a:xfrm>
            <a:off x="12115800" y="2373629"/>
            <a:ext cx="5029200" cy="2977516"/>
          </a:xfrm>
          <a:prstGeom prst="rect">
            <a:avLst/>
          </a:prstGeom>
          <a:solidFill>
            <a:srgbClr val="FFFCF0"/>
          </a:solidFill>
          <a:ln>
            <a:solidFill>
              <a:srgbClr val="C8C0A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56" name="Shape 14"/>
          <p:cNvSpPr/>
          <p:nvPr/>
        </p:nvSpPr>
        <p:spPr>
          <a:xfrm>
            <a:off x="12430125" y="2687954"/>
            <a:ext cx="4400550" cy="1047751"/>
          </a:xfrm>
          <a:prstGeom prst="roundRect">
            <a:avLst>
              <a:gd name="adj" fmla="val 1818"/>
            </a:avLst>
          </a:prstGeom>
          <a:solidFill>
            <a:srgbClr val="1D6657">
              <a:alpha val="6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pic>
        <p:nvPicPr>
          <p:cNvPr id="257" name="Image 2" descr="Image 2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3916025" y="2830829"/>
            <a:ext cx="1428750" cy="762001"/>
          </a:xfrm>
          <a:prstGeom prst="rect">
            <a:avLst/>
          </a:prstGeom>
          <a:ln w="12700">
            <a:miter lim="400000"/>
          </a:ln>
        </p:spPr>
      </p:pic>
      <p:sp>
        <p:nvSpPr>
          <p:cNvPr id="258" name="Text 15"/>
          <p:cNvSpPr txBox="1"/>
          <p:nvPr/>
        </p:nvSpPr>
        <p:spPr>
          <a:xfrm>
            <a:off x="12430125" y="3907154"/>
            <a:ext cx="3811967" cy="3943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50391">
              <a:lnSpc>
                <a:spcPct val="110000"/>
              </a:lnSpc>
              <a:defRPr b="1" sz="2325">
                <a:solidFill>
                  <a:srgbClr val="1D6657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Dependency accumulation</a:t>
            </a:r>
          </a:p>
        </p:txBody>
      </p:sp>
      <p:sp>
        <p:nvSpPr>
          <p:cNvPr id="259" name="Text 16"/>
          <p:cNvSpPr txBox="1"/>
          <p:nvPr/>
        </p:nvSpPr>
        <p:spPr>
          <a:xfrm>
            <a:off x="12430124" y="4434840"/>
            <a:ext cx="4532569" cy="6835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68680">
              <a:lnSpc>
                <a:spcPct val="140000"/>
              </a:lnSpc>
              <a:defRPr sz="1710">
                <a:solidFill>
                  <a:srgbClr val="11243C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Downstream workflow nodes depending on each approved output.</a:t>
            </a:r>
          </a:p>
        </p:txBody>
      </p:sp>
      <p:sp>
        <p:nvSpPr>
          <p:cNvPr id="260" name="Shape 17"/>
          <p:cNvSpPr/>
          <p:nvPr/>
        </p:nvSpPr>
        <p:spPr>
          <a:xfrm>
            <a:off x="1143000" y="5694045"/>
            <a:ext cx="16002000" cy="990601"/>
          </a:xfrm>
          <a:prstGeom prst="rect">
            <a:avLst/>
          </a:prstGeom>
          <a:solidFill>
            <a:srgbClr val="B8451E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61" name="Shape 18"/>
          <p:cNvSpPr/>
          <p:nvPr/>
        </p:nvSpPr>
        <p:spPr>
          <a:xfrm>
            <a:off x="3358991" y="5960745"/>
            <a:ext cx="12701" cy="457201"/>
          </a:xfrm>
          <a:prstGeom prst="rect">
            <a:avLst/>
          </a:prstGeom>
          <a:solidFill>
            <a:srgbClr val="FDF6E7">
              <a:alpha val="40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62" name="Text 19"/>
          <p:cNvSpPr txBox="1"/>
          <p:nvPr/>
        </p:nvSpPr>
        <p:spPr>
          <a:xfrm>
            <a:off x="1524000" y="5960745"/>
            <a:ext cx="1607979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768095">
              <a:defRPr b="1" spc="252" sz="1512">
                <a:solidFill>
                  <a:srgbClr val="ECC833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DESIGN PRINCIPLE</a:t>
            </a:r>
          </a:p>
        </p:txBody>
      </p:sp>
      <p:sp>
        <p:nvSpPr>
          <p:cNvPr id="263" name="Text 20"/>
          <p:cNvSpPr txBox="1"/>
          <p:nvPr/>
        </p:nvSpPr>
        <p:spPr>
          <a:xfrm>
            <a:off x="3674903" y="5986938"/>
            <a:ext cx="13481771" cy="4429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25000"/>
              </a:lnSpc>
              <a:defRPr b="1" sz="2500">
                <a:solidFill>
                  <a:srgbClr val="FDF6E7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Satisfying the metric and exercising genuine oversight should be difficult to decouple.</a:t>
            </a:r>
          </a:p>
        </p:txBody>
      </p:sp>
      <p:sp>
        <p:nvSpPr>
          <p:cNvPr id="264" name="Text 21"/>
          <p:cNvSpPr txBox="1"/>
          <p:nvPr/>
        </p:nvSpPr>
        <p:spPr>
          <a:xfrm>
            <a:off x="902970" y="6856094"/>
            <a:ext cx="16482061" cy="3467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>
              <a:lnSpc>
                <a:spcPct val="135000"/>
              </a:lnSpc>
              <a:defRPr i="1">
                <a:solidFill>
                  <a:srgbClr val="7A7363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Designed as workflow-level structural signals, not individual reviewer monitoring.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AF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Shape 0"/>
          <p:cNvSpPr/>
          <p:nvPr/>
        </p:nvSpPr>
        <p:spPr>
          <a:xfrm>
            <a:off x="0" y="0"/>
            <a:ext cx="18288000" cy="819150"/>
          </a:xfrm>
          <a:prstGeom prst="rect">
            <a:avLst/>
          </a:prstGeom>
          <a:solidFill>
            <a:srgbClr val="0D2340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69" name="Text 1"/>
          <p:cNvSpPr txBox="1"/>
          <p:nvPr/>
        </p:nvSpPr>
        <p:spPr>
          <a:xfrm>
            <a:off x="12441395" y="240982"/>
            <a:ext cx="417195" cy="3848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40000"/>
              </a:lnSpc>
              <a:defRPr b="1" spc="300" sz="1900">
                <a:solidFill>
                  <a:srgbClr val="ECC833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03</a:t>
            </a:r>
          </a:p>
        </p:txBody>
      </p:sp>
      <p:sp>
        <p:nvSpPr>
          <p:cNvPr id="270" name="Text 2"/>
          <p:cNvSpPr txBox="1"/>
          <p:nvPr/>
        </p:nvSpPr>
        <p:spPr>
          <a:xfrm>
            <a:off x="12915741" y="231457"/>
            <a:ext cx="184627" cy="3848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40000"/>
              </a:lnSpc>
              <a:defRPr spc="300" sz="1900">
                <a:solidFill>
                  <a:srgbClr val="FFFDF2">
                    <a:alpha val="40000"/>
                  </a:srgbClr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/</a:t>
            </a:r>
          </a:p>
        </p:txBody>
      </p:sp>
      <p:sp>
        <p:nvSpPr>
          <p:cNvPr id="271" name="Text 3"/>
          <p:cNvSpPr txBox="1"/>
          <p:nvPr/>
        </p:nvSpPr>
        <p:spPr>
          <a:xfrm>
            <a:off x="13157517" y="233361"/>
            <a:ext cx="4107108" cy="400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 defTabSz="886968">
              <a:lnSpc>
                <a:spcPct val="140000"/>
              </a:lnSpc>
              <a:defRPr b="1" spc="291" sz="1843">
                <a:solidFill>
                  <a:srgbClr val="FFFDF2">
                    <a:alpha val="92000"/>
                  </a:srgbClr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TOWARD INSTRUMENTATION</a:t>
            </a:r>
          </a:p>
        </p:txBody>
      </p:sp>
      <p:sp>
        <p:nvSpPr>
          <p:cNvPr id="272" name="Text 4"/>
          <p:cNvSpPr txBox="1"/>
          <p:nvPr/>
        </p:nvSpPr>
        <p:spPr>
          <a:xfrm>
            <a:off x="1143000" y="1200149"/>
            <a:ext cx="16482061" cy="8305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22959">
              <a:lnSpc>
                <a:spcPct val="104000"/>
              </a:lnSpc>
              <a:defRPr b="1" spc="-90" sz="5400">
                <a:solidFill>
                  <a:srgbClr val="11243C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Five mechanisms practitioners can pilot today.</a:t>
            </a:r>
          </a:p>
        </p:txBody>
      </p:sp>
      <p:sp>
        <p:nvSpPr>
          <p:cNvPr id="273" name="Shape 5"/>
          <p:cNvSpPr/>
          <p:nvPr/>
        </p:nvSpPr>
        <p:spPr>
          <a:xfrm>
            <a:off x="1143000" y="2611596"/>
            <a:ext cx="16002000" cy="12701"/>
          </a:xfrm>
          <a:prstGeom prst="rect">
            <a:avLst/>
          </a:prstGeom>
          <a:solidFill>
            <a:srgbClr val="C8C0A8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74" name="Text 6"/>
          <p:cNvSpPr txBox="1"/>
          <p:nvPr/>
        </p:nvSpPr>
        <p:spPr>
          <a:xfrm>
            <a:off x="1066800" y="2908618"/>
            <a:ext cx="1123950" cy="571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r" defTabSz="804672">
              <a:defRPr b="1" spc="-88" sz="3696">
                <a:solidFill>
                  <a:srgbClr val="1D6657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01</a:t>
            </a:r>
          </a:p>
        </p:txBody>
      </p:sp>
      <p:pic>
        <p:nvPicPr>
          <p:cNvPr id="275" name="Image 0" descr="Image 0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2533650" y="2946718"/>
            <a:ext cx="457200" cy="457201"/>
          </a:xfrm>
          <a:prstGeom prst="rect">
            <a:avLst/>
          </a:prstGeom>
          <a:ln w="12700">
            <a:miter lim="400000"/>
          </a:ln>
        </p:spPr>
      </p:pic>
      <p:sp>
        <p:nvSpPr>
          <p:cNvPr id="276" name="Text 7"/>
          <p:cNvSpPr txBox="1"/>
          <p:nvPr/>
        </p:nvSpPr>
        <p:spPr>
          <a:xfrm>
            <a:off x="3467100" y="2832258"/>
            <a:ext cx="4793533" cy="3996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96111">
              <a:lnSpc>
                <a:spcPct val="115000"/>
              </a:lnSpc>
              <a:defRPr b="1" spc="-98" sz="2352">
                <a:solidFill>
                  <a:srgbClr val="11243C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Seeded calibration checks</a:t>
            </a:r>
          </a:p>
        </p:txBody>
      </p:sp>
      <p:sp>
        <p:nvSpPr>
          <p:cNvPr id="277" name="Text 8"/>
          <p:cNvSpPr txBox="1"/>
          <p:nvPr/>
        </p:nvSpPr>
        <p:spPr>
          <a:xfrm>
            <a:off x="8502015" y="2849879"/>
            <a:ext cx="8902276" cy="7067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5000"/>
              </a:lnSpc>
              <a:defRPr sz="1900">
                <a:solidFill>
                  <a:srgbClr val="3D465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Pre-validated outputs injected into the queue. Disagreement rate on seeded items tracks engagement on the rest.</a:t>
            </a:r>
          </a:p>
        </p:txBody>
      </p:sp>
      <p:sp>
        <p:nvSpPr>
          <p:cNvPr id="278" name="Shape 9"/>
          <p:cNvSpPr/>
          <p:nvPr/>
        </p:nvSpPr>
        <p:spPr>
          <a:xfrm>
            <a:off x="1143000" y="3764597"/>
            <a:ext cx="16002000" cy="12701"/>
          </a:xfrm>
          <a:prstGeom prst="rect">
            <a:avLst/>
          </a:prstGeom>
          <a:solidFill>
            <a:srgbClr val="C8C0A8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79" name="Text 10"/>
          <p:cNvSpPr txBox="1"/>
          <p:nvPr/>
        </p:nvSpPr>
        <p:spPr>
          <a:xfrm>
            <a:off x="1066800" y="4061619"/>
            <a:ext cx="1123950" cy="571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r" defTabSz="804672">
              <a:defRPr b="1" spc="-88" sz="3696">
                <a:solidFill>
                  <a:srgbClr val="1D6657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02</a:t>
            </a:r>
          </a:p>
        </p:txBody>
      </p:sp>
      <p:pic>
        <p:nvPicPr>
          <p:cNvPr id="280" name="Image 1" descr="Image 1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2533650" y="4099719"/>
            <a:ext cx="457200" cy="457201"/>
          </a:xfrm>
          <a:prstGeom prst="rect">
            <a:avLst/>
          </a:prstGeom>
          <a:ln w="12700">
            <a:miter lim="400000"/>
          </a:ln>
        </p:spPr>
      </p:pic>
      <p:sp>
        <p:nvSpPr>
          <p:cNvPr id="281" name="Text 11"/>
          <p:cNvSpPr txBox="1"/>
          <p:nvPr/>
        </p:nvSpPr>
        <p:spPr>
          <a:xfrm>
            <a:off x="3467100" y="3985259"/>
            <a:ext cx="4793533" cy="3996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96111">
              <a:lnSpc>
                <a:spcPct val="115000"/>
              </a:lnSpc>
              <a:defRPr b="1" spc="-98" sz="2352">
                <a:solidFill>
                  <a:srgbClr val="11243C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Onboarding-period baselines</a:t>
            </a:r>
          </a:p>
        </p:txBody>
      </p:sp>
      <p:sp>
        <p:nvSpPr>
          <p:cNvPr id="282" name="Text 12"/>
          <p:cNvSpPr txBox="1"/>
          <p:nvPr/>
        </p:nvSpPr>
        <p:spPr>
          <a:xfrm>
            <a:off x="8502015" y="4002880"/>
            <a:ext cx="8902276" cy="7067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5000"/>
              </a:lnSpc>
              <a:defRPr sz="1900">
                <a:solidFill>
                  <a:srgbClr val="3D465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Log new reviewers' correction patterns before calibration. Gaps signal that operational norms have drifted.</a:t>
            </a:r>
          </a:p>
        </p:txBody>
      </p:sp>
      <p:sp>
        <p:nvSpPr>
          <p:cNvPr id="283" name="Shape 13"/>
          <p:cNvSpPr/>
          <p:nvPr/>
        </p:nvSpPr>
        <p:spPr>
          <a:xfrm>
            <a:off x="1143000" y="4917598"/>
            <a:ext cx="16002000" cy="12701"/>
          </a:xfrm>
          <a:prstGeom prst="rect">
            <a:avLst/>
          </a:prstGeom>
          <a:solidFill>
            <a:srgbClr val="C8C0A8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84" name="Text 14"/>
          <p:cNvSpPr txBox="1"/>
          <p:nvPr/>
        </p:nvSpPr>
        <p:spPr>
          <a:xfrm>
            <a:off x="1066800" y="5222080"/>
            <a:ext cx="1123950" cy="571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r" defTabSz="804672">
              <a:defRPr b="1" spc="-88" sz="3696">
                <a:solidFill>
                  <a:srgbClr val="1D6657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03</a:t>
            </a:r>
          </a:p>
        </p:txBody>
      </p:sp>
      <p:pic>
        <p:nvPicPr>
          <p:cNvPr id="285" name="Image 2" descr="Image 2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2533650" y="5260180"/>
            <a:ext cx="457200" cy="457201"/>
          </a:xfrm>
          <a:prstGeom prst="rect">
            <a:avLst/>
          </a:prstGeom>
          <a:ln w="12700">
            <a:miter lim="400000"/>
          </a:ln>
        </p:spPr>
      </p:pic>
      <p:sp>
        <p:nvSpPr>
          <p:cNvPr id="286" name="Text 15"/>
          <p:cNvSpPr txBox="1"/>
          <p:nvPr/>
        </p:nvSpPr>
        <p:spPr>
          <a:xfrm>
            <a:off x="3467100" y="5138261"/>
            <a:ext cx="4793533" cy="739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32104">
              <a:lnSpc>
                <a:spcPct val="115000"/>
              </a:lnSpc>
              <a:defRPr b="1" spc="-91" sz="2184">
                <a:solidFill>
                  <a:srgbClr val="11243C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Dependency surfacing at decision time</a:t>
            </a:r>
          </a:p>
        </p:txBody>
      </p:sp>
      <p:sp>
        <p:nvSpPr>
          <p:cNvPr id="287" name="Text 16"/>
          <p:cNvSpPr txBox="1"/>
          <p:nvPr/>
        </p:nvSpPr>
        <p:spPr>
          <a:xfrm>
            <a:off x="8502015" y="5155882"/>
            <a:ext cx="8902276" cy="7067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5000"/>
              </a:lnSpc>
              <a:defRPr sz="1900">
                <a:solidFill>
                  <a:srgbClr val="3D465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Show the reviewer how many downstream things depend on this approval, at the moment of approval.</a:t>
            </a:r>
          </a:p>
        </p:txBody>
      </p:sp>
      <p:sp>
        <p:nvSpPr>
          <p:cNvPr id="288" name="Shape 17"/>
          <p:cNvSpPr/>
          <p:nvPr/>
        </p:nvSpPr>
        <p:spPr>
          <a:xfrm>
            <a:off x="1143000" y="6085363"/>
            <a:ext cx="16002000" cy="12701"/>
          </a:xfrm>
          <a:prstGeom prst="rect">
            <a:avLst/>
          </a:prstGeom>
          <a:solidFill>
            <a:srgbClr val="C8C0A8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89" name="Text 18"/>
          <p:cNvSpPr txBox="1"/>
          <p:nvPr/>
        </p:nvSpPr>
        <p:spPr>
          <a:xfrm>
            <a:off x="1066800" y="6389846"/>
            <a:ext cx="1123950" cy="571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r" defTabSz="804672">
              <a:defRPr b="1" spc="-88" sz="3696">
                <a:solidFill>
                  <a:srgbClr val="1D6657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04</a:t>
            </a:r>
          </a:p>
        </p:txBody>
      </p:sp>
      <p:pic>
        <p:nvPicPr>
          <p:cNvPr id="290" name="Image 3" descr="Image 3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2533650" y="6427946"/>
            <a:ext cx="457200" cy="457201"/>
          </a:xfrm>
          <a:prstGeom prst="rect">
            <a:avLst/>
          </a:prstGeom>
          <a:ln w="12700">
            <a:miter lim="400000"/>
          </a:ln>
        </p:spPr>
      </p:pic>
      <p:sp>
        <p:nvSpPr>
          <p:cNvPr id="291" name="Text 19"/>
          <p:cNvSpPr txBox="1"/>
          <p:nvPr/>
        </p:nvSpPr>
        <p:spPr>
          <a:xfrm>
            <a:off x="3467100" y="6306025"/>
            <a:ext cx="4793533" cy="739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13816">
              <a:lnSpc>
                <a:spcPct val="115000"/>
              </a:lnSpc>
              <a:defRPr b="1" spc="-89" sz="2136">
                <a:solidFill>
                  <a:srgbClr val="11243C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Decision-point logging for long-running workflows</a:t>
            </a:r>
          </a:p>
        </p:txBody>
      </p:sp>
      <p:sp>
        <p:nvSpPr>
          <p:cNvPr id="292" name="Text 20"/>
          <p:cNvSpPr txBox="1"/>
          <p:nvPr/>
        </p:nvSpPr>
        <p:spPr>
          <a:xfrm>
            <a:off x="8502015" y="6323648"/>
            <a:ext cx="8902276" cy="7067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5000"/>
              </a:lnSpc>
              <a:defRPr sz="1900">
                <a:solidFill>
                  <a:srgbClr val="3D465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Structured events at each irreversible decision in an agentic trajectory, not just the final output.</a:t>
            </a:r>
          </a:p>
        </p:txBody>
      </p:sp>
      <p:sp>
        <p:nvSpPr>
          <p:cNvPr id="293" name="Shape 21"/>
          <p:cNvSpPr/>
          <p:nvPr/>
        </p:nvSpPr>
        <p:spPr>
          <a:xfrm>
            <a:off x="1143000" y="8382794"/>
            <a:ext cx="16002000" cy="12701"/>
          </a:xfrm>
          <a:prstGeom prst="rect">
            <a:avLst/>
          </a:prstGeom>
          <a:solidFill>
            <a:srgbClr val="C8C0A8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94" name="Shape 22"/>
          <p:cNvSpPr/>
          <p:nvPr/>
        </p:nvSpPr>
        <p:spPr>
          <a:xfrm>
            <a:off x="1143000" y="7253128"/>
            <a:ext cx="16002000" cy="12701"/>
          </a:xfrm>
          <a:prstGeom prst="rect">
            <a:avLst/>
          </a:prstGeom>
          <a:solidFill>
            <a:srgbClr val="C8C0A8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95" name="Text 23"/>
          <p:cNvSpPr txBox="1"/>
          <p:nvPr/>
        </p:nvSpPr>
        <p:spPr>
          <a:xfrm>
            <a:off x="1066800" y="7557610"/>
            <a:ext cx="1123950" cy="571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r" defTabSz="804672">
              <a:defRPr b="1" spc="-88" sz="3696">
                <a:solidFill>
                  <a:srgbClr val="1D6657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05</a:t>
            </a:r>
          </a:p>
        </p:txBody>
      </p:sp>
      <p:pic>
        <p:nvPicPr>
          <p:cNvPr id="296" name="Image 4" descr="Image 4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2533650" y="7595710"/>
            <a:ext cx="457200" cy="457201"/>
          </a:xfrm>
          <a:prstGeom prst="rect">
            <a:avLst/>
          </a:prstGeom>
          <a:ln w="12700">
            <a:miter lim="400000"/>
          </a:ln>
        </p:spPr>
      </p:pic>
      <p:sp>
        <p:nvSpPr>
          <p:cNvPr id="297" name="Text 24"/>
          <p:cNvSpPr txBox="1"/>
          <p:nvPr/>
        </p:nvSpPr>
        <p:spPr>
          <a:xfrm>
            <a:off x="3467100" y="7473791"/>
            <a:ext cx="4793533" cy="739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77823">
              <a:lnSpc>
                <a:spcPct val="115000"/>
              </a:lnSpc>
              <a:defRPr b="1" spc="-96" sz="2304">
                <a:solidFill>
                  <a:srgbClr val="11243C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Workload ceilings with backpressure</a:t>
            </a:r>
          </a:p>
        </p:txBody>
      </p:sp>
      <p:sp>
        <p:nvSpPr>
          <p:cNvPr id="298" name="Text 25"/>
          <p:cNvSpPr txBox="1"/>
          <p:nvPr/>
        </p:nvSpPr>
        <p:spPr>
          <a:xfrm>
            <a:off x="8502015" y="7491413"/>
            <a:ext cx="8902276" cy="7067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5000"/>
              </a:lnSpc>
              <a:defRPr sz="1900">
                <a:solidFill>
                  <a:srgbClr val="3D465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Routing refuses additional outputs to a saturated reviewer. Converts an indicator into an enforcement mechanism.</a:t>
            </a:r>
          </a:p>
        </p:txBody>
      </p:sp>
      <p:sp>
        <p:nvSpPr>
          <p:cNvPr id="299" name="Text 26"/>
          <p:cNvSpPr txBox="1"/>
          <p:nvPr/>
        </p:nvSpPr>
        <p:spPr>
          <a:xfrm>
            <a:off x="902970" y="8976359"/>
            <a:ext cx="16482061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>
              <a:lnSpc>
                <a:spcPct val="140000"/>
              </a:lnSpc>
              <a:defRPr i="1">
                <a:solidFill>
                  <a:srgbClr val="7A7363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All can be built with current workflow infrastructure and existing logging.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AF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Shape 0"/>
          <p:cNvSpPr/>
          <p:nvPr/>
        </p:nvSpPr>
        <p:spPr>
          <a:xfrm>
            <a:off x="0" y="0"/>
            <a:ext cx="18288000" cy="819150"/>
          </a:xfrm>
          <a:prstGeom prst="rect">
            <a:avLst/>
          </a:prstGeom>
          <a:solidFill>
            <a:srgbClr val="0D2340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04" name="Text 1"/>
          <p:cNvSpPr txBox="1"/>
          <p:nvPr/>
        </p:nvSpPr>
        <p:spPr>
          <a:xfrm>
            <a:off x="12441395" y="240982"/>
            <a:ext cx="417195" cy="3848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40000"/>
              </a:lnSpc>
              <a:defRPr b="1" spc="300" sz="1900">
                <a:solidFill>
                  <a:srgbClr val="ECC833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03</a:t>
            </a:r>
          </a:p>
        </p:txBody>
      </p:sp>
      <p:sp>
        <p:nvSpPr>
          <p:cNvPr id="305" name="Text 2"/>
          <p:cNvSpPr txBox="1"/>
          <p:nvPr/>
        </p:nvSpPr>
        <p:spPr>
          <a:xfrm>
            <a:off x="12915741" y="231457"/>
            <a:ext cx="184627" cy="3848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40000"/>
              </a:lnSpc>
              <a:defRPr spc="300" sz="1900">
                <a:solidFill>
                  <a:srgbClr val="FFFDF2">
                    <a:alpha val="40000"/>
                  </a:srgbClr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/</a:t>
            </a:r>
          </a:p>
        </p:txBody>
      </p:sp>
      <p:sp>
        <p:nvSpPr>
          <p:cNvPr id="306" name="Text 3"/>
          <p:cNvSpPr txBox="1"/>
          <p:nvPr/>
        </p:nvSpPr>
        <p:spPr>
          <a:xfrm>
            <a:off x="13157517" y="233361"/>
            <a:ext cx="4107108" cy="400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>
            <a:lvl1pPr defTabSz="886968">
              <a:lnSpc>
                <a:spcPct val="140000"/>
              </a:lnSpc>
              <a:defRPr b="1" spc="291" sz="1843">
                <a:solidFill>
                  <a:srgbClr val="FFFDF2">
                    <a:alpha val="92000"/>
                  </a:srgbClr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TOWARD INSTRUMENTATION</a:t>
            </a:r>
          </a:p>
        </p:txBody>
      </p:sp>
      <p:sp>
        <p:nvSpPr>
          <p:cNvPr id="307" name="Text 4"/>
          <p:cNvSpPr txBox="1"/>
          <p:nvPr/>
        </p:nvSpPr>
        <p:spPr>
          <a:xfrm>
            <a:off x="1143000" y="1200149"/>
            <a:ext cx="16482061" cy="8305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22959">
              <a:lnSpc>
                <a:spcPct val="104000"/>
              </a:lnSpc>
              <a:defRPr b="1" spc="-90" sz="5400">
                <a:solidFill>
                  <a:srgbClr val="11243C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Three partnership types.</a:t>
            </a:r>
          </a:p>
        </p:txBody>
      </p:sp>
      <p:sp>
        <p:nvSpPr>
          <p:cNvPr id="308" name="Text 5"/>
          <p:cNvSpPr txBox="1"/>
          <p:nvPr/>
        </p:nvSpPr>
        <p:spPr>
          <a:xfrm>
            <a:off x="1143000" y="2106929"/>
            <a:ext cx="14716125" cy="3981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5000"/>
              </a:lnSpc>
              <a:defRPr i="1" sz="2100">
                <a:solidFill>
                  <a:srgbClr val="7A7363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Shaped by experience teaching and working in enterprise deployments.</a:t>
            </a:r>
          </a:p>
        </p:txBody>
      </p:sp>
      <p:sp>
        <p:nvSpPr>
          <p:cNvPr id="309" name="Shape 6"/>
          <p:cNvSpPr/>
          <p:nvPr/>
        </p:nvSpPr>
        <p:spPr>
          <a:xfrm>
            <a:off x="1209675" y="2962275"/>
            <a:ext cx="133350" cy="133350"/>
          </a:xfrm>
          <a:prstGeom prst="rect">
            <a:avLst/>
          </a:prstGeom>
          <a:solidFill>
            <a:srgbClr val="1D6657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10" name="Text 7"/>
          <p:cNvSpPr txBox="1"/>
          <p:nvPr/>
        </p:nvSpPr>
        <p:spPr>
          <a:xfrm>
            <a:off x="1638299" y="2809874"/>
            <a:ext cx="15971903" cy="8761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>
              <a:lnSpc>
                <a:spcPct val="135000"/>
              </a:lnSpc>
              <a:defRPr b="1" sz="2400">
                <a:solidFill>
                  <a:srgbClr val="1D6657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Deployment-context partners </a:t>
            </a:r>
            <a:r>
              <a:rPr b="0">
                <a:solidFill>
                  <a:srgbClr val="11243C"/>
                </a:solidFill>
              </a:rPr>
              <a:t>instrument oversight quality in operational settings, under structural-and-aggregate constraints.</a:t>
            </a:r>
          </a:p>
        </p:txBody>
      </p:sp>
      <p:sp>
        <p:nvSpPr>
          <p:cNvPr id="311" name="Shape 8"/>
          <p:cNvSpPr/>
          <p:nvPr/>
        </p:nvSpPr>
        <p:spPr>
          <a:xfrm>
            <a:off x="1209675" y="4137659"/>
            <a:ext cx="133350" cy="133351"/>
          </a:xfrm>
          <a:prstGeom prst="rect">
            <a:avLst/>
          </a:prstGeom>
          <a:solidFill>
            <a:srgbClr val="1D6657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12" name="Text 9"/>
          <p:cNvSpPr txBox="1"/>
          <p:nvPr/>
        </p:nvSpPr>
        <p:spPr>
          <a:xfrm>
            <a:off x="1638299" y="3985259"/>
            <a:ext cx="15971903" cy="8761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>
              <a:lnSpc>
                <a:spcPct val="135000"/>
              </a:lnSpc>
              <a:defRPr b="1" sz="2400">
                <a:solidFill>
                  <a:srgbClr val="1D6657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Regulatory and standards partners </a:t>
            </a:r>
            <a:r>
              <a:rPr b="0">
                <a:solidFill>
                  <a:srgbClr val="11243C"/>
                </a:solidFill>
              </a:rPr>
              <a:t>work on making oversight requirements functionally rather than procedurally auditable.</a:t>
            </a:r>
          </a:p>
        </p:txBody>
      </p:sp>
      <p:sp>
        <p:nvSpPr>
          <p:cNvPr id="313" name="Shape 10"/>
          <p:cNvSpPr/>
          <p:nvPr/>
        </p:nvSpPr>
        <p:spPr>
          <a:xfrm>
            <a:off x="1209675" y="5313045"/>
            <a:ext cx="133350" cy="133351"/>
          </a:xfrm>
          <a:prstGeom prst="rect">
            <a:avLst/>
          </a:prstGeom>
          <a:solidFill>
            <a:srgbClr val="1D6657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14" name="Text 11"/>
          <p:cNvSpPr txBox="1"/>
          <p:nvPr/>
        </p:nvSpPr>
        <p:spPr>
          <a:xfrm>
            <a:off x="1638299" y="5160645"/>
            <a:ext cx="15971903" cy="4591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/>
          <a:p>
            <a:pPr>
              <a:lnSpc>
                <a:spcPct val="135000"/>
              </a:lnSpc>
              <a:defRPr b="1" sz="2400">
                <a:solidFill>
                  <a:srgbClr val="1D6657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Methodological partners </a:t>
            </a:r>
            <a:r>
              <a:rPr b="0">
                <a:solidFill>
                  <a:srgbClr val="11243C"/>
                </a:solidFill>
              </a:rPr>
              <a:t>bring expertise on the cognitive dynamics of evaluative judgment under fluent-text review.</a:t>
            </a:r>
          </a:p>
        </p:txBody>
      </p:sp>
      <p:sp>
        <p:nvSpPr>
          <p:cNvPr id="315" name="Shape 12"/>
          <p:cNvSpPr/>
          <p:nvPr/>
        </p:nvSpPr>
        <p:spPr>
          <a:xfrm>
            <a:off x="1143000" y="5922962"/>
            <a:ext cx="16002000" cy="12701"/>
          </a:xfrm>
          <a:prstGeom prst="rect">
            <a:avLst/>
          </a:prstGeom>
          <a:solidFill>
            <a:srgbClr val="C8C0A8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16" name="Text 13"/>
          <p:cNvSpPr txBox="1"/>
          <p:nvPr/>
        </p:nvSpPr>
        <p:spPr>
          <a:xfrm>
            <a:off x="1143000" y="6143625"/>
            <a:ext cx="16482061" cy="929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877823">
              <a:lnSpc>
                <a:spcPct val="130000"/>
              </a:lnSpc>
              <a:defRPr b="1" spc="-96" sz="2592">
                <a:solidFill>
                  <a:srgbClr val="B8451E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Process compliance was the right thing to measure when the risk was non-compliance. It is not the right thing to measure when the risk is procedural compliance coexisting with functional absence.</a:t>
            </a:r>
          </a:p>
        </p:txBody>
      </p:sp>
      <p:sp>
        <p:nvSpPr>
          <p:cNvPr id="317" name="Shape 14"/>
          <p:cNvSpPr/>
          <p:nvPr/>
        </p:nvSpPr>
        <p:spPr>
          <a:xfrm>
            <a:off x="1143000" y="7300277"/>
            <a:ext cx="16002000" cy="12701"/>
          </a:xfrm>
          <a:prstGeom prst="rect">
            <a:avLst/>
          </a:prstGeom>
          <a:solidFill>
            <a:srgbClr val="C8C0A8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18" name="Text 15"/>
          <p:cNvSpPr txBox="1"/>
          <p:nvPr/>
        </p:nvSpPr>
        <p:spPr>
          <a:xfrm>
            <a:off x="902970" y="7520940"/>
            <a:ext cx="16482061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algn="ctr">
              <a:lnSpc>
                <a:spcPct val="140000"/>
              </a:lnSpc>
              <a:defRPr b="1" spc="500">
                <a:solidFill>
                  <a:srgbClr val="1D6657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SCAN TO FOLLOW UP</a:t>
            </a:r>
          </a:p>
        </p:txBody>
      </p:sp>
      <p:sp>
        <p:nvSpPr>
          <p:cNvPr id="319" name="Shape 16"/>
          <p:cNvSpPr/>
          <p:nvPr/>
        </p:nvSpPr>
        <p:spPr>
          <a:xfrm>
            <a:off x="1211898" y="7993380"/>
            <a:ext cx="1390651" cy="1390651"/>
          </a:xfrm>
          <a:prstGeom prst="rect">
            <a:avLst/>
          </a:prstGeom>
          <a:solidFill>
            <a:srgbClr val="FFFFFF"/>
          </a:solidFill>
          <a:ln>
            <a:solidFill>
              <a:srgbClr val="C8C0A8"/>
            </a:solidFill>
          </a:ln>
        </p:spPr>
        <p:txBody>
          <a:bodyPr lIns="45719" rIns="45719"/>
          <a:lstStyle/>
          <a:p>
            <a:pPr/>
          </a:p>
        </p:txBody>
      </p:sp>
      <p:pic>
        <p:nvPicPr>
          <p:cNvPr id="320" name="Image 0" descr="Image 0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278573" y="8060055"/>
            <a:ext cx="1257301" cy="1257301"/>
          </a:xfrm>
          <a:prstGeom prst="rect">
            <a:avLst/>
          </a:prstGeom>
          <a:ln w="12700">
            <a:miter lim="400000"/>
          </a:ln>
        </p:spPr>
      </p:pic>
      <p:sp>
        <p:nvSpPr>
          <p:cNvPr id="321" name="Text 17"/>
          <p:cNvSpPr txBox="1"/>
          <p:nvPr/>
        </p:nvSpPr>
        <p:spPr>
          <a:xfrm>
            <a:off x="2812097" y="8397240"/>
            <a:ext cx="3232970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768095">
              <a:defRPr b="1" sz="1512">
                <a:solidFill>
                  <a:srgbClr val="11243C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Full paper</a:t>
            </a:r>
          </a:p>
        </p:txBody>
      </p:sp>
      <p:sp>
        <p:nvSpPr>
          <p:cNvPr id="322" name="Text 18"/>
          <p:cNvSpPr txBox="1"/>
          <p:nvPr/>
        </p:nvSpPr>
        <p:spPr>
          <a:xfrm>
            <a:off x="2812097" y="8682990"/>
            <a:ext cx="3232970" cy="3352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0000"/>
              </a:lnSpc>
              <a:defRPr>
                <a:solidFill>
                  <a:srgbClr val="7A7363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OpenReview · Github</a:t>
            </a:r>
          </a:p>
        </p:txBody>
      </p:sp>
      <p:sp>
        <p:nvSpPr>
          <p:cNvPr id="323" name="Shape 19"/>
          <p:cNvSpPr/>
          <p:nvPr/>
        </p:nvSpPr>
        <p:spPr>
          <a:xfrm>
            <a:off x="7104856" y="7993380"/>
            <a:ext cx="1390651" cy="1390651"/>
          </a:xfrm>
          <a:prstGeom prst="rect">
            <a:avLst/>
          </a:prstGeom>
          <a:solidFill>
            <a:srgbClr val="FFFFFF"/>
          </a:solidFill>
          <a:ln>
            <a:solidFill>
              <a:srgbClr val="C8C0A8"/>
            </a:solidFill>
          </a:ln>
        </p:spPr>
        <p:txBody>
          <a:bodyPr lIns="45719" rIns="45719"/>
          <a:lstStyle/>
          <a:p>
            <a:pPr/>
          </a:p>
        </p:txBody>
      </p:sp>
      <p:pic>
        <p:nvPicPr>
          <p:cNvPr id="324" name="Image 1" descr="Image 1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7171531" y="8060055"/>
            <a:ext cx="1257301" cy="1257301"/>
          </a:xfrm>
          <a:prstGeom prst="rect">
            <a:avLst/>
          </a:prstGeom>
          <a:ln w="12700">
            <a:miter lim="400000"/>
          </a:ln>
        </p:spPr>
      </p:pic>
      <p:sp>
        <p:nvSpPr>
          <p:cNvPr id="325" name="Text 20"/>
          <p:cNvSpPr txBox="1"/>
          <p:nvPr/>
        </p:nvSpPr>
        <p:spPr>
          <a:xfrm>
            <a:off x="8705056" y="8397240"/>
            <a:ext cx="2554288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768095">
              <a:defRPr b="1" sz="1512">
                <a:solidFill>
                  <a:srgbClr val="11243C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Follow up</a:t>
            </a:r>
          </a:p>
        </p:txBody>
      </p:sp>
      <p:sp>
        <p:nvSpPr>
          <p:cNvPr id="326" name="Text 21"/>
          <p:cNvSpPr txBox="1"/>
          <p:nvPr/>
        </p:nvSpPr>
        <p:spPr>
          <a:xfrm>
            <a:off x="8705056" y="8682990"/>
            <a:ext cx="2554288" cy="3352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0000"/>
              </a:lnSpc>
              <a:defRPr>
                <a:solidFill>
                  <a:srgbClr val="7A7363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LinkedIn · btmoriarty</a:t>
            </a:r>
          </a:p>
        </p:txBody>
      </p:sp>
      <p:sp>
        <p:nvSpPr>
          <p:cNvPr id="327" name="Shape 22"/>
          <p:cNvSpPr/>
          <p:nvPr/>
        </p:nvSpPr>
        <p:spPr>
          <a:xfrm>
            <a:off x="12718414" y="7993380"/>
            <a:ext cx="1390651" cy="1390651"/>
          </a:xfrm>
          <a:prstGeom prst="rect">
            <a:avLst/>
          </a:prstGeom>
          <a:solidFill>
            <a:srgbClr val="FFFFFF"/>
          </a:solidFill>
          <a:ln>
            <a:solidFill>
              <a:srgbClr val="C8C0A8"/>
            </a:solidFill>
          </a:ln>
        </p:spPr>
        <p:txBody>
          <a:bodyPr lIns="45719" rIns="45719"/>
          <a:lstStyle/>
          <a:p>
            <a:pPr/>
          </a:p>
        </p:txBody>
      </p:sp>
      <p:pic>
        <p:nvPicPr>
          <p:cNvPr id="328" name="Image 2" descr="Image 2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12785089" y="8060055"/>
            <a:ext cx="1257301" cy="1257301"/>
          </a:xfrm>
          <a:prstGeom prst="rect">
            <a:avLst/>
          </a:prstGeom>
          <a:ln w="12700">
            <a:miter lim="400000"/>
          </a:ln>
        </p:spPr>
      </p:pic>
      <p:sp>
        <p:nvSpPr>
          <p:cNvPr id="329" name="Text 23"/>
          <p:cNvSpPr txBox="1"/>
          <p:nvPr/>
        </p:nvSpPr>
        <p:spPr>
          <a:xfrm>
            <a:off x="14318614" y="8397240"/>
            <a:ext cx="2452371" cy="266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 defTabSz="768095">
              <a:defRPr b="1" sz="1512">
                <a:solidFill>
                  <a:srgbClr val="11243C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This deck</a:t>
            </a:r>
          </a:p>
        </p:txBody>
      </p:sp>
      <p:sp>
        <p:nvSpPr>
          <p:cNvPr id="330" name="Text 24"/>
          <p:cNvSpPr txBox="1"/>
          <p:nvPr/>
        </p:nvSpPr>
        <p:spPr>
          <a:xfrm>
            <a:off x="14318614" y="8682990"/>
            <a:ext cx="2452371" cy="3352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30000"/>
              </a:lnSpc>
              <a:defRPr>
                <a:solidFill>
                  <a:srgbClr val="7A7363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PPTX</a:t>
            </a:r>
          </a:p>
        </p:txBody>
      </p:sp>
      <p:sp>
        <p:nvSpPr>
          <p:cNvPr id="331" name="Text 25"/>
          <p:cNvSpPr txBox="1"/>
          <p:nvPr/>
        </p:nvSpPr>
        <p:spPr>
          <a:xfrm>
            <a:off x="1142999" y="9700259"/>
            <a:ext cx="8092235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40000"/>
              </a:lnSpc>
              <a:defRPr>
                <a:solidFill>
                  <a:srgbClr val="7A7363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Brian Moriarty · brian.moriarty@stevens.edu · Stevens Institute of Technology</a:t>
            </a:r>
          </a:p>
        </p:txBody>
      </p:sp>
      <p:sp>
        <p:nvSpPr>
          <p:cNvPr id="332" name="Text 26"/>
          <p:cNvSpPr txBox="1"/>
          <p:nvPr/>
        </p:nvSpPr>
        <p:spPr>
          <a:xfrm>
            <a:off x="13179901" y="9700259"/>
            <a:ext cx="4084052" cy="358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25400" tIns="25400" rIns="25400" bIns="25400">
            <a:normAutofit fontScale="100000" lnSpcReduction="0"/>
          </a:bodyPr>
          <a:lstStyle>
            <a:lvl1pPr>
              <a:lnSpc>
                <a:spcPct val="140000"/>
              </a:lnSpc>
              <a:defRPr>
                <a:solidFill>
                  <a:srgbClr val="7A7363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AITC 2026 · Nuremberg · June 5 and 6</a:t>
            </a:r>
          </a:p>
        </p:txBody>
      </p:sp>
      <p:pic>
        <p:nvPicPr>
          <p:cNvPr id="333" name="pasted-movie.png" descr="pasted-movie.png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12743763" y="8021954"/>
            <a:ext cx="1370064" cy="137006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